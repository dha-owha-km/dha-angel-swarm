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idea. A wounded soldier’s own physiology tells you how long he has, and nothing in the Class VIII chain listens to it. We sense it, predict the deadline, task the aircraft against that deadline, and prove it against how it is done today. Ninety seconds, then I will show you it running on this laptop with the network unplugged.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reasons people die of wounds we know how to treat. Distance: there is no Role 3 forward and evacuation is three days. Supply: blood is the binding item and it fails in about two days once casualties climb. The signal: heart rate does not tell you he is bleeding out — a third of these patients never go tachycardic. And the method: triage sorts him into a category, and a category is not a clock.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Twenty-three against thirty-four. Same battle, same aircraft, same launch points, same casualties, same seed — the only difference is what decides where the aircraft goes. Eleven fewer soldiers dead of wounds we could have treated. Zero of two hundred replications came out worse. And the honest part: buying more aircraft does not fix this. Moving a launch point forward does. Now let me show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0" cy="6858000"/>
          </a:xfrm>
          <a:prstGeom prst="line">
            <a:avLst/>
          </a:prstGeom>
          <a:noFill/>
          <a:ln w="6350">
            <a:solidFill>
              <a:srgbClr val="94A3B8">
                <a:alpha val="6000"/>
              </a:srgbClr>
            </a:solidFill>
            <a:prstDash val="solid"/>
          </a:ln>
        </p:spPr>
      </p:sp>
      <p:sp>
        <p:nvSpPr>
          <p:cNvPr id="3" name="Shape 1"/>
          <p:cNvSpPr/>
          <p:nvPr/>
        </p:nvSpPr>
        <p:spPr>
          <a:xfrm>
            <a:off x="487668" y="0"/>
            <a:ext cx="0" cy="6858000"/>
          </a:xfrm>
          <a:prstGeom prst="line">
            <a:avLst/>
          </a:prstGeom>
          <a:noFill/>
          <a:ln w="6350">
            <a:solidFill>
              <a:srgbClr val="94A3B8">
                <a:alpha val="6000"/>
              </a:srgbClr>
            </a:solidFill>
            <a:prstDash val="solid"/>
          </a:ln>
        </p:spPr>
      </p:sp>
      <p:sp>
        <p:nvSpPr>
          <p:cNvPr id="4" name="Shape 2"/>
          <p:cNvSpPr/>
          <p:nvPr/>
        </p:nvSpPr>
        <p:spPr>
          <a:xfrm>
            <a:off x="975336" y="0"/>
            <a:ext cx="0" cy="6858000"/>
          </a:xfrm>
          <a:prstGeom prst="line">
            <a:avLst/>
          </a:prstGeom>
          <a:noFill/>
          <a:ln w="6350">
            <a:solidFill>
              <a:srgbClr val="94A3B8">
                <a:alpha val="6000"/>
              </a:srgbClr>
            </a:solidFill>
            <a:prstDash val="solid"/>
          </a:ln>
        </p:spPr>
      </p:sp>
      <p:sp>
        <p:nvSpPr>
          <p:cNvPr id="5" name="Shape 3"/>
          <p:cNvSpPr/>
          <p:nvPr/>
        </p:nvSpPr>
        <p:spPr>
          <a:xfrm>
            <a:off x="1463003" y="0"/>
            <a:ext cx="0" cy="6858000"/>
          </a:xfrm>
          <a:prstGeom prst="line">
            <a:avLst/>
          </a:prstGeom>
          <a:noFill/>
          <a:ln w="6350">
            <a:solidFill>
              <a:srgbClr val="94A3B8">
                <a:alpha val="6000"/>
              </a:srgbClr>
            </a:solidFill>
            <a:prstDash val="solid"/>
          </a:ln>
        </p:spPr>
      </p:sp>
      <p:sp>
        <p:nvSpPr>
          <p:cNvPr id="6" name="Shape 4"/>
          <p:cNvSpPr/>
          <p:nvPr/>
        </p:nvSpPr>
        <p:spPr>
          <a:xfrm>
            <a:off x="1950671" y="0"/>
            <a:ext cx="0" cy="6858000"/>
          </a:xfrm>
          <a:prstGeom prst="line">
            <a:avLst/>
          </a:prstGeom>
          <a:noFill/>
          <a:ln w="6350">
            <a:solidFill>
              <a:srgbClr val="94A3B8">
                <a:alpha val="6000"/>
              </a:srgbClr>
            </a:solidFill>
            <a:prstDash val="solid"/>
          </a:ln>
        </p:spPr>
      </p:sp>
      <p:sp>
        <p:nvSpPr>
          <p:cNvPr id="7" name="Shape 5"/>
          <p:cNvSpPr/>
          <p:nvPr/>
        </p:nvSpPr>
        <p:spPr>
          <a:xfrm>
            <a:off x="2438339" y="0"/>
            <a:ext cx="0" cy="6858000"/>
          </a:xfrm>
          <a:prstGeom prst="line">
            <a:avLst/>
          </a:prstGeom>
          <a:noFill/>
          <a:ln w="6350">
            <a:solidFill>
              <a:srgbClr val="94A3B8">
                <a:alpha val="6000"/>
              </a:srgbClr>
            </a:solidFill>
            <a:prstDash val="solid"/>
          </a:ln>
        </p:spPr>
      </p:sp>
      <p:sp>
        <p:nvSpPr>
          <p:cNvPr id="8" name="Shape 6"/>
          <p:cNvSpPr/>
          <p:nvPr/>
        </p:nvSpPr>
        <p:spPr>
          <a:xfrm>
            <a:off x="2926007" y="0"/>
            <a:ext cx="0" cy="6858000"/>
          </a:xfrm>
          <a:prstGeom prst="line">
            <a:avLst/>
          </a:prstGeom>
          <a:noFill/>
          <a:ln w="6350">
            <a:solidFill>
              <a:srgbClr val="94A3B8">
                <a:alpha val="6000"/>
              </a:srgbClr>
            </a:solidFill>
            <a:prstDash val="solid"/>
          </a:ln>
        </p:spPr>
      </p:sp>
      <p:sp>
        <p:nvSpPr>
          <p:cNvPr id="9" name="Shape 7"/>
          <p:cNvSpPr/>
          <p:nvPr/>
        </p:nvSpPr>
        <p:spPr>
          <a:xfrm>
            <a:off x="3413675" y="0"/>
            <a:ext cx="0" cy="6858000"/>
          </a:xfrm>
          <a:prstGeom prst="line">
            <a:avLst/>
          </a:prstGeom>
          <a:noFill/>
          <a:ln w="6350">
            <a:solidFill>
              <a:srgbClr val="94A3B8">
                <a:alpha val="6000"/>
              </a:srgbClr>
            </a:solidFill>
            <a:prstDash val="solid"/>
          </a:ln>
        </p:spPr>
      </p:sp>
      <p:sp>
        <p:nvSpPr>
          <p:cNvPr id="10" name="Shape 8"/>
          <p:cNvSpPr/>
          <p:nvPr/>
        </p:nvSpPr>
        <p:spPr>
          <a:xfrm>
            <a:off x="3901342" y="0"/>
            <a:ext cx="0" cy="6858000"/>
          </a:xfrm>
          <a:prstGeom prst="line">
            <a:avLst/>
          </a:prstGeom>
          <a:noFill/>
          <a:ln w="6350">
            <a:solidFill>
              <a:srgbClr val="94A3B8">
                <a:alpha val="6000"/>
              </a:srgbClr>
            </a:solidFill>
            <a:prstDash val="solid"/>
          </a:ln>
        </p:spPr>
      </p:sp>
      <p:sp>
        <p:nvSpPr>
          <p:cNvPr id="11" name="Shape 9"/>
          <p:cNvSpPr/>
          <p:nvPr/>
        </p:nvSpPr>
        <p:spPr>
          <a:xfrm>
            <a:off x="4389010" y="0"/>
            <a:ext cx="0" cy="6858000"/>
          </a:xfrm>
          <a:prstGeom prst="line">
            <a:avLst/>
          </a:prstGeom>
          <a:noFill/>
          <a:ln w="6350">
            <a:solidFill>
              <a:srgbClr val="94A3B8">
                <a:alpha val="6000"/>
              </a:srgbClr>
            </a:solidFill>
            <a:prstDash val="solid"/>
          </a:ln>
        </p:spPr>
      </p:sp>
      <p:sp>
        <p:nvSpPr>
          <p:cNvPr id="12" name="Shape 10"/>
          <p:cNvSpPr/>
          <p:nvPr/>
        </p:nvSpPr>
        <p:spPr>
          <a:xfrm>
            <a:off x="4876678" y="0"/>
            <a:ext cx="0" cy="6858000"/>
          </a:xfrm>
          <a:prstGeom prst="line">
            <a:avLst/>
          </a:prstGeom>
          <a:noFill/>
          <a:ln w="6350">
            <a:solidFill>
              <a:srgbClr val="94A3B8">
                <a:alpha val="6000"/>
              </a:srgbClr>
            </a:solidFill>
            <a:prstDash val="solid"/>
          </a:ln>
        </p:spPr>
      </p:sp>
      <p:sp>
        <p:nvSpPr>
          <p:cNvPr id="13" name="Shape 11"/>
          <p:cNvSpPr/>
          <p:nvPr/>
        </p:nvSpPr>
        <p:spPr>
          <a:xfrm>
            <a:off x="5364346" y="0"/>
            <a:ext cx="0" cy="6858000"/>
          </a:xfrm>
          <a:prstGeom prst="line">
            <a:avLst/>
          </a:prstGeom>
          <a:noFill/>
          <a:ln w="6350">
            <a:solidFill>
              <a:srgbClr val="94A3B8">
                <a:alpha val="6000"/>
              </a:srgbClr>
            </a:solidFill>
            <a:prstDash val="solid"/>
          </a:ln>
        </p:spPr>
      </p:sp>
      <p:sp>
        <p:nvSpPr>
          <p:cNvPr id="14" name="Shape 12"/>
          <p:cNvSpPr/>
          <p:nvPr/>
        </p:nvSpPr>
        <p:spPr>
          <a:xfrm>
            <a:off x="5852014" y="0"/>
            <a:ext cx="0" cy="6858000"/>
          </a:xfrm>
          <a:prstGeom prst="line">
            <a:avLst/>
          </a:prstGeom>
          <a:noFill/>
          <a:ln w="6350">
            <a:solidFill>
              <a:srgbClr val="94A3B8">
                <a:alpha val="6000"/>
              </a:srgbClr>
            </a:solidFill>
            <a:prstDash val="solid"/>
          </a:ln>
        </p:spPr>
      </p:sp>
      <p:sp>
        <p:nvSpPr>
          <p:cNvPr id="15" name="Shape 13"/>
          <p:cNvSpPr/>
          <p:nvPr/>
        </p:nvSpPr>
        <p:spPr>
          <a:xfrm>
            <a:off x="6339682" y="0"/>
            <a:ext cx="0" cy="6858000"/>
          </a:xfrm>
          <a:prstGeom prst="line">
            <a:avLst/>
          </a:prstGeom>
          <a:noFill/>
          <a:ln w="6350">
            <a:solidFill>
              <a:srgbClr val="94A3B8">
                <a:alpha val="6000"/>
              </a:srgbClr>
            </a:solidFill>
            <a:prstDash val="solid"/>
          </a:ln>
        </p:spPr>
      </p:sp>
      <p:sp>
        <p:nvSpPr>
          <p:cNvPr id="16" name="Shape 14"/>
          <p:cNvSpPr/>
          <p:nvPr/>
        </p:nvSpPr>
        <p:spPr>
          <a:xfrm>
            <a:off x="6827349" y="0"/>
            <a:ext cx="0" cy="6858000"/>
          </a:xfrm>
          <a:prstGeom prst="line">
            <a:avLst/>
          </a:prstGeom>
          <a:noFill/>
          <a:ln w="6350">
            <a:solidFill>
              <a:srgbClr val="94A3B8">
                <a:alpha val="6000"/>
              </a:srgbClr>
            </a:solidFill>
            <a:prstDash val="solid"/>
          </a:ln>
        </p:spPr>
      </p:sp>
      <p:sp>
        <p:nvSpPr>
          <p:cNvPr id="17" name="Shape 15"/>
          <p:cNvSpPr/>
          <p:nvPr/>
        </p:nvSpPr>
        <p:spPr>
          <a:xfrm>
            <a:off x="7315017" y="0"/>
            <a:ext cx="0" cy="6858000"/>
          </a:xfrm>
          <a:prstGeom prst="line">
            <a:avLst/>
          </a:prstGeom>
          <a:noFill/>
          <a:ln w="6350">
            <a:solidFill>
              <a:srgbClr val="94A3B8">
                <a:alpha val="6000"/>
              </a:srgbClr>
            </a:solidFill>
            <a:prstDash val="solid"/>
          </a:ln>
        </p:spPr>
      </p:sp>
      <p:sp>
        <p:nvSpPr>
          <p:cNvPr id="18" name="Shape 16"/>
          <p:cNvSpPr/>
          <p:nvPr/>
        </p:nvSpPr>
        <p:spPr>
          <a:xfrm>
            <a:off x="7802685" y="0"/>
            <a:ext cx="0" cy="6858000"/>
          </a:xfrm>
          <a:prstGeom prst="line">
            <a:avLst/>
          </a:prstGeom>
          <a:noFill/>
          <a:ln w="6350">
            <a:solidFill>
              <a:srgbClr val="94A3B8">
                <a:alpha val="6000"/>
              </a:srgbClr>
            </a:solidFill>
            <a:prstDash val="solid"/>
          </a:ln>
        </p:spPr>
      </p:sp>
      <p:sp>
        <p:nvSpPr>
          <p:cNvPr id="19" name="Shape 17"/>
          <p:cNvSpPr/>
          <p:nvPr/>
        </p:nvSpPr>
        <p:spPr>
          <a:xfrm>
            <a:off x="8290353" y="0"/>
            <a:ext cx="0" cy="6858000"/>
          </a:xfrm>
          <a:prstGeom prst="line">
            <a:avLst/>
          </a:prstGeom>
          <a:noFill/>
          <a:ln w="6350">
            <a:solidFill>
              <a:srgbClr val="94A3B8">
                <a:alpha val="6000"/>
              </a:srgbClr>
            </a:solidFill>
            <a:prstDash val="solid"/>
          </a:ln>
        </p:spPr>
      </p:sp>
      <p:sp>
        <p:nvSpPr>
          <p:cNvPr id="20" name="Shape 18"/>
          <p:cNvSpPr/>
          <p:nvPr/>
        </p:nvSpPr>
        <p:spPr>
          <a:xfrm>
            <a:off x="8778021" y="0"/>
            <a:ext cx="0" cy="6858000"/>
          </a:xfrm>
          <a:prstGeom prst="line">
            <a:avLst/>
          </a:prstGeom>
          <a:noFill/>
          <a:ln w="6350">
            <a:solidFill>
              <a:srgbClr val="94A3B8">
                <a:alpha val="6000"/>
              </a:srgbClr>
            </a:solidFill>
            <a:prstDash val="solid"/>
          </a:ln>
        </p:spPr>
      </p:sp>
      <p:sp>
        <p:nvSpPr>
          <p:cNvPr id="21" name="Shape 19"/>
          <p:cNvSpPr/>
          <p:nvPr/>
        </p:nvSpPr>
        <p:spPr>
          <a:xfrm>
            <a:off x="9265688" y="0"/>
            <a:ext cx="0" cy="6858000"/>
          </a:xfrm>
          <a:prstGeom prst="line">
            <a:avLst/>
          </a:prstGeom>
          <a:noFill/>
          <a:ln w="6350">
            <a:solidFill>
              <a:srgbClr val="94A3B8">
                <a:alpha val="6000"/>
              </a:srgbClr>
            </a:solidFill>
            <a:prstDash val="solid"/>
          </a:ln>
        </p:spPr>
      </p:sp>
      <p:sp>
        <p:nvSpPr>
          <p:cNvPr id="22" name="Shape 20"/>
          <p:cNvSpPr/>
          <p:nvPr/>
        </p:nvSpPr>
        <p:spPr>
          <a:xfrm>
            <a:off x="9753356" y="0"/>
            <a:ext cx="0" cy="6858000"/>
          </a:xfrm>
          <a:prstGeom prst="line">
            <a:avLst/>
          </a:prstGeom>
          <a:noFill/>
          <a:ln w="6350">
            <a:solidFill>
              <a:srgbClr val="94A3B8">
                <a:alpha val="6000"/>
              </a:srgbClr>
            </a:solidFill>
            <a:prstDash val="solid"/>
          </a:ln>
        </p:spPr>
      </p:sp>
      <p:sp>
        <p:nvSpPr>
          <p:cNvPr id="23" name="Shape 21"/>
          <p:cNvSpPr/>
          <p:nvPr/>
        </p:nvSpPr>
        <p:spPr>
          <a:xfrm>
            <a:off x="10241024" y="0"/>
            <a:ext cx="0" cy="6858000"/>
          </a:xfrm>
          <a:prstGeom prst="line">
            <a:avLst/>
          </a:prstGeom>
          <a:noFill/>
          <a:ln w="6350">
            <a:solidFill>
              <a:srgbClr val="94A3B8">
                <a:alpha val="6000"/>
              </a:srgbClr>
            </a:solidFill>
            <a:prstDash val="solid"/>
          </a:ln>
        </p:spPr>
      </p:sp>
      <p:sp>
        <p:nvSpPr>
          <p:cNvPr id="24" name="Shape 22"/>
          <p:cNvSpPr/>
          <p:nvPr/>
        </p:nvSpPr>
        <p:spPr>
          <a:xfrm>
            <a:off x="10728692" y="0"/>
            <a:ext cx="0" cy="6858000"/>
          </a:xfrm>
          <a:prstGeom prst="line">
            <a:avLst/>
          </a:prstGeom>
          <a:noFill/>
          <a:ln w="6350">
            <a:solidFill>
              <a:srgbClr val="94A3B8">
                <a:alpha val="6000"/>
              </a:srgbClr>
            </a:solidFill>
            <a:prstDash val="solid"/>
          </a:ln>
        </p:spPr>
      </p:sp>
      <p:sp>
        <p:nvSpPr>
          <p:cNvPr id="25" name="Shape 23"/>
          <p:cNvSpPr/>
          <p:nvPr/>
        </p:nvSpPr>
        <p:spPr>
          <a:xfrm>
            <a:off x="11216360" y="0"/>
            <a:ext cx="0" cy="6858000"/>
          </a:xfrm>
          <a:prstGeom prst="line">
            <a:avLst/>
          </a:prstGeom>
          <a:noFill/>
          <a:ln w="6350">
            <a:solidFill>
              <a:srgbClr val="94A3B8">
                <a:alpha val="6000"/>
              </a:srgbClr>
            </a:solidFill>
            <a:prstDash val="solid"/>
          </a:ln>
        </p:spPr>
      </p:sp>
      <p:sp>
        <p:nvSpPr>
          <p:cNvPr id="26" name="Shape 24"/>
          <p:cNvSpPr/>
          <p:nvPr/>
        </p:nvSpPr>
        <p:spPr>
          <a:xfrm>
            <a:off x="11704027" y="0"/>
            <a:ext cx="0" cy="6858000"/>
          </a:xfrm>
          <a:prstGeom prst="line">
            <a:avLst/>
          </a:prstGeom>
          <a:noFill/>
          <a:ln w="6350">
            <a:solidFill>
              <a:srgbClr val="94A3B8">
                <a:alpha val="6000"/>
              </a:srgbClr>
            </a:solidFill>
            <a:prstDash val="solid"/>
          </a:ln>
        </p:spPr>
      </p:sp>
      <p:sp>
        <p:nvSpPr>
          <p:cNvPr id="27" name="Shape 25"/>
          <p:cNvSpPr/>
          <p:nvPr/>
        </p:nvSpPr>
        <p:spPr>
          <a:xfrm>
            <a:off x="12191695" y="0"/>
            <a:ext cx="0" cy="6858000"/>
          </a:xfrm>
          <a:prstGeom prst="line">
            <a:avLst/>
          </a:prstGeom>
          <a:noFill/>
          <a:ln w="6350">
            <a:solidFill>
              <a:srgbClr val="94A3B8">
                <a:alpha val="6000"/>
              </a:srgbClr>
            </a:solidFill>
            <a:prstDash val="solid"/>
          </a:ln>
        </p:spPr>
      </p:sp>
      <p:sp>
        <p:nvSpPr>
          <p:cNvPr id="28" name="Shape 26"/>
          <p:cNvSpPr/>
          <p:nvPr/>
        </p:nvSpPr>
        <p:spPr>
          <a:xfrm>
            <a:off x="0" y="0"/>
            <a:ext cx="12191695" cy="0"/>
          </a:xfrm>
          <a:prstGeom prst="line">
            <a:avLst/>
          </a:prstGeom>
          <a:noFill/>
          <a:ln w="6350">
            <a:solidFill>
              <a:srgbClr val="94A3B8">
                <a:alpha val="6000"/>
              </a:srgbClr>
            </a:solidFill>
            <a:prstDash val="solid"/>
          </a:ln>
        </p:spPr>
      </p:sp>
      <p:sp>
        <p:nvSpPr>
          <p:cNvPr id="29" name="Shape 27"/>
          <p:cNvSpPr/>
          <p:nvPr/>
        </p:nvSpPr>
        <p:spPr>
          <a:xfrm>
            <a:off x="0" y="487668"/>
            <a:ext cx="12191695" cy="0"/>
          </a:xfrm>
          <a:prstGeom prst="line">
            <a:avLst/>
          </a:prstGeom>
          <a:noFill/>
          <a:ln w="6350">
            <a:solidFill>
              <a:srgbClr val="94A3B8">
                <a:alpha val="6000"/>
              </a:srgbClr>
            </a:solidFill>
            <a:prstDash val="solid"/>
          </a:ln>
        </p:spPr>
      </p:sp>
      <p:sp>
        <p:nvSpPr>
          <p:cNvPr id="30" name="Shape 28"/>
          <p:cNvSpPr/>
          <p:nvPr/>
        </p:nvSpPr>
        <p:spPr>
          <a:xfrm>
            <a:off x="0" y="975336"/>
            <a:ext cx="12191695" cy="0"/>
          </a:xfrm>
          <a:prstGeom prst="line">
            <a:avLst/>
          </a:prstGeom>
          <a:noFill/>
          <a:ln w="6350">
            <a:solidFill>
              <a:srgbClr val="94A3B8">
                <a:alpha val="6000"/>
              </a:srgbClr>
            </a:solidFill>
            <a:prstDash val="solid"/>
          </a:ln>
        </p:spPr>
      </p:sp>
      <p:sp>
        <p:nvSpPr>
          <p:cNvPr id="31" name="Shape 29"/>
          <p:cNvSpPr/>
          <p:nvPr/>
        </p:nvSpPr>
        <p:spPr>
          <a:xfrm>
            <a:off x="0" y="1463003"/>
            <a:ext cx="12191695" cy="0"/>
          </a:xfrm>
          <a:prstGeom prst="line">
            <a:avLst/>
          </a:prstGeom>
          <a:noFill/>
          <a:ln w="6350">
            <a:solidFill>
              <a:srgbClr val="94A3B8">
                <a:alpha val="6000"/>
              </a:srgbClr>
            </a:solidFill>
            <a:prstDash val="solid"/>
          </a:ln>
        </p:spPr>
      </p:sp>
      <p:sp>
        <p:nvSpPr>
          <p:cNvPr id="32" name="Shape 30"/>
          <p:cNvSpPr/>
          <p:nvPr/>
        </p:nvSpPr>
        <p:spPr>
          <a:xfrm>
            <a:off x="0" y="1950671"/>
            <a:ext cx="12191695" cy="0"/>
          </a:xfrm>
          <a:prstGeom prst="line">
            <a:avLst/>
          </a:prstGeom>
          <a:noFill/>
          <a:ln w="6350">
            <a:solidFill>
              <a:srgbClr val="94A3B8">
                <a:alpha val="6000"/>
              </a:srgbClr>
            </a:solidFill>
            <a:prstDash val="solid"/>
          </a:ln>
        </p:spPr>
      </p:sp>
      <p:sp>
        <p:nvSpPr>
          <p:cNvPr id="33" name="Shape 31"/>
          <p:cNvSpPr/>
          <p:nvPr/>
        </p:nvSpPr>
        <p:spPr>
          <a:xfrm>
            <a:off x="0" y="2438339"/>
            <a:ext cx="12191695" cy="0"/>
          </a:xfrm>
          <a:prstGeom prst="line">
            <a:avLst/>
          </a:prstGeom>
          <a:noFill/>
          <a:ln w="6350">
            <a:solidFill>
              <a:srgbClr val="94A3B8">
                <a:alpha val="6000"/>
              </a:srgbClr>
            </a:solidFill>
            <a:prstDash val="solid"/>
          </a:ln>
        </p:spPr>
      </p:sp>
      <p:sp>
        <p:nvSpPr>
          <p:cNvPr id="34" name="Shape 32"/>
          <p:cNvSpPr/>
          <p:nvPr/>
        </p:nvSpPr>
        <p:spPr>
          <a:xfrm>
            <a:off x="0" y="2926007"/>
            <a:ext cx="12191695" cy="0"/>
          </a:xfrm>
          <a:prstGeom prst="line">
            <a:avLst/>
          </a:prstGeom>
          <a:noFill/>
          <a:ln w="6350">
            <a:solidFill>
              <a:srgbClr val="94A3B8">
                <a:alpha val="6000"/>
              </a:srgbClr>
            </a:solidFill>
            <a:prstDash val="solid"/>
          </a:ln>
        </p:spPr>
      </p:sp>
      <p:sp>
        <p:nvSpPr>
          <p:cNvPr id="35" name="Shape 33"/>
          <p:cNvSpPr/>
          <p:nvPr/>
        </p:nvSpPr>
        <p:spPr>
          <a:xfrm>
            <a:off x="0" y="3413675"/>
            <a:ext cx="12191695" cy="0"/>
          </a:xfrm>
          <a:prstGeom prst="line">
            <a:avLst/>
          </a:prstGeom>
          <a:noFill/>
          <a:ln w="6350">
            <a:solidFill>
              <a:srgbClr val="94A3B8">
                <a:alpha val="6000"/>
              </a:srgbClr>
            </a:solidFill>
            <a:prstDash val="solid"/>
          </a:ln>
        </p:spPr>
      </p:sp>
      <p:sp>
        <p:nvSpPr>
          <p:cNvPr id="36" name="Shape 34"/>
          <p:cNvSpPr/>
          <p:nvPr/>
        </p:nvSpPr>
        <p:spPr>
          <a:xfrm>
            <a:off x="0" y="3901342"/>
            <a:ext cx="12191695" cy="0"/>
          </a:xfrm>
          <a:prstGeom prst="line">
            <a:avLst/>
          </a:prstGeom>
          <a:noFill/>
          <a:ln w="6350">
            <a:solidFill>
              <a:srgbClr val="94A3B8">
                <a:alpha val="6000"/>
              </a:srgbClr>
            </a:solidFill>
            <a:prstDash val="solid"/>
          </a:ln>
        </p:spPr>
      </p:sp>
      <p:sp>
        <p:nvSpPr>
          <p:cNvPr id="37" name="Shape 35"/>
          <p:cNvSpPr/>
          <p:nvPr/>
        </p:nvSpPr>
        <p:spPr>
          <a:xfrm>
            <a:off x="0" y="4389010"/>
            <a:ext cx="12191695" cy="0"/>
          </a:xfrm>
          <a:prstGeom prst="line">
            <a:avLst/>
          </a:prstGeom>
          <a:noFill/>
          <a:ln w="6350">
            <a:solidFill>
              <a:srgbClr val="94A3B8">
                <a:alpha val="6000"/>
              </a:srgbClr>
            </a:solidFill>
            <a:prstDash val="solid"/>
          </a:ln>
        </p:spPr>
      </p:sp>
      <p:sp>
        <p:nvSpPr>
          <p:cNvPr id="38" name="Shape 36"/>
          <p:cNvSpPr/>
          <p:nvPr/>
        </p:nvSpPr>
        <p:spPr>
          <a:xfrm>
            <a:off x="0" y="4876678"/>
            <a:ext cx="12191695" cy="0"/>
          </a:xfrm>
          <a:prstGeom prst="line">
            <a:avLst/>
          </a:prstGeom>
          <a:noFill/>
          <a:ln w="6350">
            <a:solidFill>
              <a:srgbClr val="94A3B8">
                <a:alpha val="6000"/>
              </a:srgbClr>
            </a:solidFill>
            <a:prstDash val="solid"/>
          </a:ln>
        </p:spPr>
      </p:sp>
      <p:sp>
        <p:nvSpPr>
          <p:cNvPr id="39" name="Shape 37"/>
          <p:cNvSpPr/>
          <p:nvPr/>
        </p:nvSpPr>
        <p:spPr>
          <a:xfrm>
            <a:off x="0" y="5364346"/>
            <a:ext cx="12191695" cy="0"/>
          </a:xfrm>
          <a:prstGeom prst="line">
            <a:avLst/>
          </a:prstGeom>
          <a:noFill/>
          <a:ln w="6350">
            <a:solidFill>
              <a:srgbClr val="94A3B8">
                <a:alpha val="6000"/>
              </a:srgbClr>
            </a:solidFill>
            <a:prstDash val="solid"/>
          </a:ln>
        </p:spPr>
      </p:sp>
      <p:sp>
        <p:nvSpPr>
          <p:cNvPr id="40" name="Shape 38"/>
          <p:cNvSpPr/>
          <p:nvPr/>
        </p:nvSpPr>
        <p:spPr>
          <a:xfrm>
            <a:off x="0" y="5852014"/>
            <a:ext cx="12191695" cy="0"/>
          </a:xfrm>
          <a:prstGeom prst="line">
            <a:avLst/>
          </a:prstGeom>
          <a:noFill/>
          <a:ln w="6350">
            <a:solidFill>
              <a:srgbClr val="94A3B8">
                <a:alpha val="6000"/>
              </a:srgbClr>
            </a:solidFill>
            <a:prstDash val="solid"/>
          </a:ln>
        </p:spPr>
      </p:sp>
      <p:sp>
        <p:nvSpPr>
          <p:cNvPr id="41" name="Shape 39"/>
          <p:cNvSpPr/>
          <p:nvPr/>
        </p:nvSpPr>
        <p:spPr>
          <a:xfrm>
            <a:off x="0" y="6339682"/>
            <a:ext cx="12191695" cy="0"/>
          </a:xfrm>
          <a:prstGeom prst="line">
            <a:avLst/>
          </a:prstGeom>
          <a:noFill/>
          <a:ln w="6350">
            <a:solidFill>
              <a:srgbClr val="94A3B8">
                <a:alpha val="6000"/>
              </a:srgbClr>
            </a:solidFill>
            <a:prstDash val="solid"/>
          </a:ln>
        </p:spPr>
      </p:sp>
      <p:sp>
        <p:nvSpPr>
          <p:cNvPr id="42" name="Shape 40"/>
          <p:cNvSpPr/>
          <p:nvPr/>
        </p:nvSpPr>
        <p:spPr>
          <a:xfrm>
            <a:off x="0" y="6827349"/>
            <a:ext cx="12191695" cy="0"/>
          </a:xfrm>
          <a:prstGeom prst="line">
            <a:avLst/>
          </a:prstGeom>
          <a:noFill/>
          <a:ln w="6350">
            <a:solidFill>
              <a:srgbClr val="94A3B8">
                <a:alpha val="6000"/>
              </a:srgbClr>
            </a:solidFill>
            <a:prstDash val="solid"/>
          </a:ln>
        </p:spPr>
      </p:sp>
      <p:sp>
        <p:nvSpPr>
          <p:cNvPr id="43" name="Text 41"/>
          <p:cNvSpPr/>
          <p:nvPr/>
        </p:nvSpPr>
        <p:spPr>
          <a:xfrm>
            <a:off x="609585" y="301752"/>
            <a:ext cx="6339682" cy="219456"/>
          </a:xfrm>
          <a:prstGeom prst="rect">
            <a:avLst/>
          </a:prstGeom>
          <a:noFill/>
          <a:ln/>
        </p:spPr>
        <p:txBody>
          <a:bodyPr wrap="square" lIns="0" tIns="0" rIns="0" bIns="0" rtlCol="0" anchor="ctr"/>
          <a:lstStyle/>
          <a:p>
            <a:pPr indent="0" marL="0">
              <a:buNone/>
            </a:pPr>
            <a:r>
              <a:rPr lang="en-US" sz="1100" spc="400" kern="0" dirty="0">
                <a:solidFill>
                  <a:srgbClr val="F59E0B"/>
                </a:solidFill>
                <a:latin typeface="IBM Plex Mono" pitchFamily="34" charset="0"/>
                <a:ea typeface="IBM Plex Mono" pitchFamily="34" charset="-122"/>
                <a:cs typeface="IBM Plex Mono" pitchFamily="34" charset="-120"/>
              </a:rPr>
              <a:t>Defense Health Agency  ·  PACOM  ·  Class VIII</a:t>
            </a:r>
            <a:endParaRPr lang="en-US" sz="1100" dirty="0"/>
          </a:p>
        </p:txBody>
      </p:sp>
      <p:sp>
        <p:nvSpPr>
          <p:cNvPr id="44" name="Text 42"/>
          <p:cNvSpPr/>
          <p:nvPr/>
        </p:nvSpPr>
        <p:spPr>
          <a:xfrm>
            <a:off x="6217765" y="301752"/>
            <a:ext cx="5364346" cy="219456"/>
          </a:xfrm>
          <a:prstGeom prst="rect">
            <a:avLst/>
          </a:prstGeom>
          <a:noFill/>
          <a:ln/>
        </p:spPr>
        <p:txBody>
          <a:bodyPr wrap="square" lIns="0" tIns="0" rIns="0" bIns="0" rtlCol="0" anchor="ctr"/>
          <a:lstStyle/>
          <a:p>
            <a:pPr algn="r" indent="0" marL="0">
              <a:buNone/>
            </a:pPr>
            <a:r>
              <a:rPr lang="en-US" sz="900" spc="150" kern="0" dirty="0">
                <a:solidFill>
                  <a:srgbClr val="94A3B8"/>
                </a:solidFill>
                <a:latin typeface="IBM Plex Mono" pitchFamily="34" charset="0"/>
                <a:ea typeface="IBM Plex Mono" pitchFamily="34" charset="-122"/>
                <a:cs typeface="IBM Plex Mono" pitchFamily="34" charset="-120"/>
              </a:rPr>
              <a:t>UNCLASSIFIED  //  SYNTHETIC DATA  //  FOR DEMONSTRATION</a:t>
            </a:r>
            <a:endParaRPr lang="en-US" sz="900" dirty="0"/>
          </a:p>
        </p:txBody>
      </p:sp>
      <p:sp>
        <p:nvSpPr>
          <p:cNvPr id="45" name="Text 43"/>
          <p:cNvSpPr/>
          <p:nvPr/>
        </p:nvSpPr>
        <p:spPr>
          <a:xfrm>
            <a:off x="609585" y="788670"/>
            <a:ext cx="10972526" cy="651510"/>
          </a:xfrm>
          <a:prstGeom prst="rect">
            <a:avLst/>
          </a:prstGeom>
          <a:noFill/>
          <a:ln/>
        </p:spPr>
        <p:txBody>
          <a:bodyPr wrap="square" lIns="0" tIns="0" rIns="0" bIns="0" rtlCol="0" anchor="ctr"/>
          <a:lstStyle/>
          <a:p>
            <a:pPr indent="0" marL="0">
              <a:buNone/>
            </a:pPr>
            <a:r>
              <a:rPr lang="en-US" sz="4600" b="1" spc="200" kern="0" dirty="0">
                <a:solidFill>
                  <a:srgbClr val="E5E7EB"/>
                </a:solidFill>
                <a:latin typeface="Space Grotesk" pitchFamily="34" charset="0"/>
                <a:ea typeface="Space Grotesk" pitchFamily="34" charset="-122"/>
                <a:cs typeface="Space Grotesk" pitchFamily="34" charset="-120"/>
              </a:rPr>
              <a:t>ANGEL SWARM</a:t>
            </a:r>
            <a:endParaRPr lang="en-US" sz="4600" dirty="0"/>
          </a:p>
        </p:txBody>
      </p:sp>
      <p:sp>
        <p:nvSpPr>
          <p:cNvPr id="46" name="Text 44"/>
          <p:cNvSpPr/>
          <p:nvPr/>
        </p:nvSpPr>
        <p:spPr>
          <a:xfrm>
            <a:off x="609585" y="1474470"/>
            <a:ext cx="10241024" cy="514350"/>
          </a:xfrm>
          <a:prstGeom prst="rect">
            <a:avLst/>
          </a:prstGeom>
          <a:noFill/>
          <a:ln/>
        </p:spPr>
        <p:txBody>
          <a:bodyPr wrap="square" lIns="0" tIns="0" rIns="0" bIns="0" rtlCol="0" anchor="t"/>
          <a:lstStyle/>
          <a:p>
            <a:pPr indent="0" marL="0">
              <a:lnSpc>
                <a:spcPts val="2600"/>
              </a:lnSpc>
              <a:buNone/>
            </a:pPr>
            <a:r>
              <a:rPr lang="en-US" sz="2000" b="1" dirty="0">
                <a:solidFill>
                  <a:srgbClr val="E5E7EB"/>
                </a:solidFill>
                <a:latin typeface="Space Grotesk" pitchFamily="34" charset="0"/>
                <a:ea typeface="Space Grotesk" pitchFamily="34" charset="-122"/>
                <a:cs typeface="Space Grotesk" pitchFamily="34" charset="-120"/>
              </a:rPr>
              <a:t>A bleeding soldier’s own body says how long he has.  </a:t>
            </a:r>
            <a:pPr indent="0" marL="0">
              <a:lnSpc>
                <a:spcPts val="2600"/>
              </a:lnSpc>
              <a:buNone/>
            </a:pPr>
            <a:r>
              <a:rPr lang="en-US" sz="2000" b="1" dirty="0">
                <a:solidFill>
                  <a:srgbClr val="F59E0B"/>
                </a:solidFill>
                <a:latin typeface="Space Grotesk" pitchFamily="34" charset="0"/>
                <a:ea typeface="Space Grotesk" pitchFamily="34" charset="-122"/>
                <a:cs typeface="Space Grotesk" pitchFamily="34" charset="-120"/>
              </a:rPr>
              <a:t>Nothing in the resupply chain listens to it.</a:t>
            </a:r>
            <a:endParaRPr lang="en-US" sz="2000" dirty="0"/>
          </a:p>
        </p:txBody>
      </p:sp>
      <p:sp>
        <p:nvSpPr>
          <p:cNvPr id="47" name="Text 45"/>
          <p:cNvSpPr/>
          <p:nvPr/>
        </p:nvSpPr>
        <p:spPr>
          <a:xfrm>
            <a:off x="609585" y="2057400"/>
            <a:ext cx="7315017" cy="233172"/>
          </a:xfrm>
          <a:prstGeom prst="rect">
            <a:avLst/>
          </a:prstGeom>
          <a:noFill/>
          <a:ln/>
        </p:spPr>
        <p:txBody>
          <a:bodyPr wrap="square" lIns="0" tIns="0" rIns="0" bIns="0" rtlCol="0" anchor="ctr"/>
          <a:lstStyle/>
          <a:p>
            <a:pPr indent="0" marL="0">
              <a:buNone/>
            </a:pPr>
            <a:r>
              <a:rPr lang="en-US" sz="1050" spc="350" kern="0" dirty="0">
                <a:solidFill>
                  <a:srgbClr val="94A3B8"/>
                </a:solidFill>
                <a:latin typeface="IBM Plex Mono" pitchFamily="34" charset="0"/>
                <a:ea typeface="IBM Plex Mono" pitchFamily="34" charset="-122"/>
                <a:cs typeface="IBM Plex Mono" pitchFamily="34" charset="-120"/>
              </a:rPr>
              <a:t>Sense  →  Predict  →  Task  →  Prove</a:t>
            </a:r>
            <a:endParaRPr lang="en-US" sz="1050" dirty="0"/>
          </a:p>
        </p:txBody>
      </p:sp>
      <p:sp>
        <p:nvSpPr>
          <p:cNvPr id="48" name="Shape 46"/>
          <p:cNvSpPr/>
          <p:nvPr/>
        </p:nvSpPr>
        <p:spPr>
          <a:xfrm>
            <a:off x="609585" y="2434590"/>
            <a:ext cx="2651694" cy="3463290"/>
          </a:xfrm>
          <a:prstGeom prst="rect">
            <a:avLst/>
          </a:prstGeom>
          <a:solidFill>
            <a:srgbClr val="111827"/>
          </a:solidFill>
          <a:ln w="12700">
            <a:solidFill>
              <a:srgbClr val="1F2937"/>
            </a:solidFill>
            <a:prstDash val="solid"/>
          </a:ln>
        </p:spPr>
      </p:sp>
      <p:sp>
        <p:nvSpPr>
          <p:cNvPr id="49" name="Shape 47"/>
          <p:cNvSpPr/>
          <p:nvPr/>
        </p:nvSpPr>
        <p:spPr>
          <a:xfrm>
            <a:off x="713214" y="2568321"/>
            <a:ext cx="77724" cy="77724"/>
          </a:xfrm>
          <a:prstGeom prst="ellipse">
            <a:avLst/>
          </a:prstGeom>
          <a:solidFill>
            <a:srgbClr val="22D3EE"/>
          </a:solidFill>
          <a:ln/>
        </p:spPr>
      </p:sp>
      <p:sp>
        <p:nvSpPr>
          <p:cNvPr id="50" name="Text 48"/>
          <p:cNvSpPr/>
          <p:nvPr/>
        </p:nvSpPr>
        <p:spPr>
          <a:xfrm>
            <a:off x="850374" y="2510028"/>
            <a:ext cx="2307275" cy="178308"/>
          </a:xfrm>
          <a:prstGeom prst="rect">
            <a:avLst/>
          </a:prstGeom>
          <a:noFill/>
          <a:ln/>
        </p:spPr>
        <p:txBody>
          <a:bodyPr wrap="square" lIns="0" tIns="0" rIns="0" bIns="0" rtlCol="0" anchor="ctr"/>
          <a:lstStyle/>
          <a:p>
            <a:pPr indent="0" marL="0">
              <a:buNone/>
            </a:pPr>
            <a:r>
              <a:rPr lang="en-US" sz="900" spc="250" kern="0" dirty="0">
                <a:solidFill>
                  <a:srgbClr val="22D3EE"/>
                </a:solidFill>
                <a:latin typeface="IBM Plex Mono" pitchFamily="34" charset="0"/>
                <a:ea typeface="IBM Plex Mono" pitchFamily="34" charset="-122"/>
                <a:cs typeface="IBM Plex Mono" pitchFamily="34" charset="-120"/>
              </a:rPr>
              <a:t>01  ·  SENSE</a:t>
            </a:r>
            <a:endParaRPr lang="en-US" sz="900" dirty="0"/>
          </a:p>
        </p:txBody>
      </p:sp>
      <p:sp>
        <p:nvSpPr>
          <p:cNvPr id="51" name="Shape 49"/>
          <p:cNvSpPr/>
          <p:nvPr/>
        </p:nvSpPr>
        <p:spPr>
          <a:xfrm>
            <a:off x="713214" y="2729484"/>
            <a:ext cx="2444435" cy="0"/>
          </a:xfrm>
          <a:prstGeom prst="line">
            <a:avLst/>
          </a:prstGeom>
          <a:noFill/>
          <a:ln w="12700">
            <a:solidFill>
              <a:srgbClr val="1F2937"/>
            </a:solidFill>
            <a:prstDash val="solid"/>
          </a:ln>
        </p:spPr>
      </p:sp>
      <p:sp>
        <p:nvSpPr>
          <p:cNvPr id="52" name="Text 50"/>
          <p:cNvSpPr/>
          <p:nvPr/>
        </p:nvSpPr>
        <p:spPr>
          <a:xfrm>
            <a:off x="713214" y="2804922"/>
            <a:ext cx="2444435" cy="461635"/>
          </a:xfrm>
          <a:prstGeom prst="rect">
            <a:avLst/>
          </a:prstGeom>
          <a:noFill/>
          <a:ln/>
        </p:spPr>
        <p:txBody>
          <a:bodyPr wrap="square" lIns="0" tIns="0" rIns="0" bIns="0" rtlCol="0" anchor="t"/>
          <a:lstStyle/>
          <a:p>
            <a:pPr indent="0" marL="0">
              <a:lnSpc>
                <a:spcPts val="1350"/>
              </a:lnSpc>
              <a:buNone/>
            </a:pPr>
            <a:r>
              <a:rPr lang="en-US" sz="1200" b="1" dirty="0">
                <a:solidFill>
                  <a:srgbClr val="E5E7EB"/>
                </a:solidFill>
                <a:latin typeface="Space Grotesk" pitchFamily="34" charset="0"/>
                <a:ea typeface="Space Grotesk" pitchFamily="34" charset="-122"/>
                <a:cs typeface="Space Grotesk" pitchFamily="34" charset="-120"/>
              </a:rPr>
              <a:t>The monitor already on him</a:t>
            </a:r>
            <a:endParaRPr lang="en-US" sz="1200" dirty="0"/>
          </a:p>
        </p:txBody>
      </p:sp>
      <p:sp>
        <p:nvSpPr>
          <p:cNvPr id="53" name="Text 51"/>
          <p:cNvSpPr/>
          <p:nvPr/>
        </p:nvSpPr>
        <p:spPr>
          <a:xfrm>
            <a:off x="713214" y="3256521"/>
            <a:ext cx="2444435" cy="551955"/>
          </a:xfrm>
          <a:prstGeom prst="rect">
            <a:avLst/>
          </a:prstGeom>
          <a:noFill/>
          <a:ln/>
        </p:spPr>
        <p:txBody>
          <a:bodyPr wrap="square" lIns="0" tIns="0" rIns="0" bIns="0" rtlCol="0" anchor="t"/>
          <a:lstStyle/>
          <a:p>
            <a:pPr indent="0" marL="0">
              <a:lnSpc>
                <a:spcPts val="1100"/>
              </a:lnSpc>
              <a:buNone/>
            </a:pPr>
            <a:r>
              <a:rPr lang="en-US" sz="900" dirty="0">
                <a:solidFill>
                  <a:srgbClr val="94A3B8"/>
                </a:solidFill>
                <a:latin typeface="IBM Plex Sans" pitchFamily="34" charset="0"/>
                <a:ea typeface="IBM Plex Sans" pitchFamily="34" charset="-122"/>
                <a:cs typeface="IBM Plex Sans" pitchFamily="34" charset="-120"/>
              </a:rPr>
              <a:t>Compensatory reserve, straight off a wearable</a:t>
            </a:r>
            <a:endParaRPr lang="en-US" sz="900" dirty="0"/>
          </a:p>
        </p:txBody>
      </p:sp>
      <p:sp>
        <p:nvSpPr>
          <p:cNvPr id="54" name="Text 52"/>
          <p:cNvSpPr/>
          <p:nvPr/>
        </p:nvSpPr>
        <p:spPr>
          <a:xfrm>
            <a:off x="713214" y="3808476"/>
            <a:ext cx="2444435" cy="461635"/>
          </a:xfrm>
          <a:prstGeom prst="rect">
            <a:avLst/>
          </a:prstGeom>
          <a:noFill/>
          <a:ln/>
        </p:spPr>
        <p:txBody>
          <a:bodyPr wrap="square" lIns="0" tIns="0" rIns="0" bIns="0" rtlCol="0" anchor="t"/>
          <a:lstStyle/>
          <a:p>
            <a:pPr indent="0" marL="0">
              <a:lnSpc>
                <a:spcPts val="1350"/>
              </a:lnSpc>
              <a:buNone/>
            </a:pPr>
            <a:r>
              <a:rPr lang="en-US" sz="1200" b="1" dirty="0">
                <a:solidFill>
                  <a:srgbClr val="E5E7EB"/>
                </a:solidFill>
                <a:latin typeface="Space Grotesk" pitchFamily="34" charset="0"/>
                <a:ea typeface="Space Grotesk" pitchFamily="34" charset="-122"/>
                <a:cs typeface="Space Grotesk" pitchFamily="34" charset="-120"/>
              </a:rPr>
              <a:t>The feed the force carries</a:t>
            </a:r>
            <a:endParaRPr lang="en-US" sz="1200" dirty="0"/>
          </a:p>
        </p:txBody>
      </p:sp>
      <p:sp>
        <p:nvSpPr>
          <p:cNvPr id="55" name="Text 53"/>
          <p:cNvSpPr/>
          <p:nvPr/>
        </p:nvSpPr>
        <p:spPr>
          <a:xfrm>
            <a:off x="713214" y="4260075"/>
            <a:ext cx="2444435" cy="551955"/>
          </a:xfrm>
          <a:prstGeom prst="rect">
            <a:avLst/>
          </a:prstGeom>
          <a:noFill/>
          <a:ln/>
        </p:spPr>
        <p:txBody>
          <a:bodyPr wrap="square" lIns="0" tIns="0" rIns="0" bIns="0" rtlCol="0" anchor="t"/>
          <a:lstStyle/>
          <a:p>
            <a:pPr indent="0" marL="0">
              <a:lnSpc>
                <a:spcPts val="1100"/>
              </a:lnSpc>
              <a:buNone/>
            </a:pPr>
            <a:r>
              <a:rPr lang="en-US" sz="900" dirty="0">
                <a:solidFill>
                  <a:srgbClr val="94A3B8"/>
                </a:solidFill>
                <a:latin typeface="IBM Plex Sans" pitchFamily="34" charset="0"/>
                <a:ea typeface="IBM Plex Sans" pitchFamily="34" charset="-122"/>
                <a:cs typeface="IBM Plex Sans" pitchFamily="34" charset="-120"/>
              </a:rPr>
              <a:t>Cursor on Target, across TAK and ATAK</a:t>
            </a:r>
            <a:endParaRPr lang="en-US" sz="900" dirty="0"/>
          </a:p>
        </p:txBody>
      </p:sp>
      <p:sp>
        <p:nvSpPr>
          <p:cNvPr id="56" name="Text 54"/>
          <p:cNvSpPr/>
          <p:nvPr/>
        </p:nvSpPr>
        <p:spPr>
          <a:xfrm>
            <a:off x="713214" y="4812030"/>
            <a:ext cx="2444435" cy="461635"/>
          </a:xfrm>
          <a:prstGeom prst="rect">
            <a:avLst/>
          </a:prstGeom>
          <a:noFill/>
          <a:ln/>
        </p:spPr>
        <p:txBody>
          <a:bodyPr wrap="square" lIns="0" tIns="0" rIns="0" bIns="0" rtlCol="0" anchor="t"/>
          <a:lstStyle/>
          <a:p>
            <a:pPr indent="0" marL="0">
              <a:lnSpc>
                <a:spcPts val="1350"/>
              </a:lnSpc>
              <a:buNone/>
            </a:pPr>
            <a:r>
              <a:rPr lang="en-US" sz="1200" b="1" dirty="0">
                <a:solidFill>
                  <a:srgbClr val="E5E7EB"/>
                </a:solidFill>
                <a:latin typeface="Space Grotesk" pitchFamily="34" charset="0"/>
                <a:ea typeface="Space Grotesk" pitchFamily="34" charset="-122"/>
                <a:cs typeface="Space Grotesk" pitchFamily="34" charset="-120"/>
              </a:rPr>
              <a:t>No reachback required</a:t>
            </a:r>
            <a:endParaRPr lang="en-US" sz="1200" dirty="0"/>
          </a:p>
        </p:txBody>
      </p:sp>
      <p:sp>
        <p:nvSpPr>
          <p:cNvPr id="57" name="Text 55"/>
          <p:cNvSpPr/>
          <p:nvPr/>
        </p:nvSpPr>
        <p:spPr>
          <a:xfrm>
            <a:off x="713214" y="5263629"/>
            <a:ext cx="2444435" cy="551955"/>
          </a:xfrm>
          <a:prstGeom prst="rect">
            <a:avLst/>
          </a:prstGeom>
          <a:noFill/>
          <a:ln/>
        </p:spPr>
        <p:txBody>
          <a:bodyPr wrap="square" lIns="0" tIns="0" rIns="0" bIns="0" rtlCol="0" anchor="t"/>
          <a:lstStyle/>
          <a:p>
            <a:pPr indent="0" marL="0">
              <a:lnSpc>
                <a:spcPts val="1100"/>
              </a:lnSpc>
              <a:buNone/>
            </a:pPr>
            <a:r>
              <a:rPr lang="en-US" sz="900" dirty="0">
                <a:solidFill>
                  <a:srgbClr val="94A3B8"/>
                </a:solidFill>
                <a:latin typeface="IBM Plex Sans" pitchFamily="34" charset="0"/>
                <a:ea typeface="IBM Plex Sans" pitchFamily="34" charset="-122"/>
                <a:cs typeface="IBM Plex Sans" pitchFamily="34" charset="-120"/>
              </a:rPr>
              <a:t>It decides on the tactical tier</a:t>
            </a:r>
            <a:endParaRPr lang="en-US" sz="900" dirty="0"/>
          </a:p>
        </p:txBody>
      </p:sp>
      <p:sp>
        <p:nvSpPr>
          <p:cNvPr id="58" name="Shape 56"/>
          <p:cNvSpPr/>
          <p:nvPr/>
        </p:nvSpPr>
        <p:spPr>
          <a:xfrm>
            <a:off x="3383195" y="2434590"/>
            <a:ext cx="2651694" cy="3463290"/>
          </a:xfrm>
          <a:prstGeom prst="rect">
            <a:avLst/>
          </a:prstGeom>
          <a:solidFill>
            <a:srgbClr val="111827"/>
          </a:solidFill>
          <a:ln w="15875">
            <a:solidFill>
              <a:srgbClr val="F59E0B"/>
            </a:solidFill>
            <a:prstDash val="solid"/>
          </a:ln>
        </p:spPr>
      </p:sp>
      <p:sp>
        <p:nvSpPr>
          <p:cNvPr id="59" name="Shape 57"/>
          <p:cNvSpPr/>
          <p:nvPr/>
        </p:nvSpPr>
        <p:spPr>
          <a:xfrm>
            <a:off x="5669129" y="2434590"/>
            <a:ext cx="365760" cy="205740"/>
          </a:xfrm>
          <a:prstGeom prst="rect">
            <a:avLst/>
          </a:prstGeom>
          <a:solidFill>
            <a:srgbClr val="F59E0B"/>
          </a:solidFill>
          <a:ln/>
        </p:spPr>
      </p:sp>
      <p:sp>
        <p:nvSpPr>
          <p:cNvPr id="60" name="Text 58"/>
          <p:cNvSpPr/>
          <p:nvPr/>
        </p:nvSpPr>
        <p:spPr>
          <a:xfrm>
            <a:off x="5669129" y="2434590"/>
            <a:ext cx="365760" cy="205740"/>
          </a:xfrm>
          <a:prstGeom prst="rect">
            <a:avLst/>
          </a:prstGeom>
          <a:noFill/>
          <a:ln/>
        </p:spPr>
        <p:txBody>
          <a:bodyPr wrap="square" lIns="0" tIns="0" rIns="0" bIns="0" rtlCol="0" anchor="ctr"/>
          <a:lstStyle/>
          <a:p>
            <a:pPr algn="ctr" indent="0" marL="0">
              <a:buNone/>
            </a:pPr>
            <a:r>
              <a:rPr lang="en-US" sz="850" b="1" spc="150" kern="0" dirty="0">
                <a:solidFill>
                  <a:srgbClr val="0B1220"/>
                </a:solidFill>
                <a:latin typeface="IBM Plex Mono" pitchFamily="34" charset="0"/>
                <a:ea typeface="IBM Plex Mono" pitchFamily="34" charset="-122"/>
                <a:cs typeface="IBM Plex Mono" pitchFamily="34" charset="-120"/>
              </a:rPr>
              <a:t>AI</a:t>
            </a:r>
            <a:endParaRPr lang="en-US" sz="850" dirty="0"/>
          </a:p>
        </p:txBody>
      </p:sp>
      <p:sp>
        <p:nvSpPr>
          <p:cNvPr id="61" name="Shape 59"/>
          <p:cNvSpPr/>
          <p:nvPr/>
        </p:nvSpPr>
        <p:spPr>
          <a:xfrm>
            <a:off x="3486825" y="2568321"/>
            <a:ext cx="77724" cy="77724"/>
          </a:xfrm>
          <a:prstGeom prst="ellipse">
            <a:avLst/>
          </a:prstGeom>
          <a:solidFill>
            <a:srgbClr val="4CC4C4"/>
          </a:solidFill>
          <a:ln/>
        </p:spPr>
      </p:sp>
      <p:sp>
        <p:nvSpPr>
          <p:cNvPr id="62" name="Text 60"/>
          <p:cNvSpPr/>
          <p:nvPr/>
        </p:nvSpPr>
        <p:spPr>
          <a:xfrm>
            <a:off x="3623985" y="2510028"/>
            <a:ext cx="2307275" cy="178308"/>
          </a:xfrm>
          <a:prstGeom prst="rect">
            <a:avLst/>
          </a:prstGeom>
          <a:noFill/>
          <a:ln/>
        </p:spPr>
        <p:txBody>
          <a:bodyPr wrap="square" lIns="0" tIns="0" rIns="0" bIns="0" rtlCol="0" anchor="ctr"/>
          <a:lstStyle/>
          <a:p>
            <a:pPr indent="0" marL="0">
              <a:buNone/>
            </a:pPr>
            <a:r>
              <a:rPr lang="en-US" sz="900" spc="250" kern="0" dirty="0">
                <a:solidFill>
                  <a:srgbClr val="4CC4C4"/>
                </a:solidFill>
                <a:latin typeface="IBM Plex Mono" pitchFamily="34" charset="0"/>
                <a:ea typeface="IBM Plex Mono" pitchFamily="34" charset="-122"/>
                <a:cs typeface="IBM Plex Mono" pitchFamily="34" charset="-120"/>
              </a:rPr>
              <a:t>02  ·  PREDICT</a:t>
            </a:r>
            <a:endParaRPr lang="en-US" sz="900" dirty="0"/>
          </a:p>
        </p:txBody>
      </p:sp>
      <p:sp>
        <p:nvSpPr>
          <p:cNvPr id="63" name="Shape 61"/>
          <p:cNvSpPr/>
          <p:nvPr/>
        </p:nvSpPr>
        <p:spPr>
          <a:xfrm>
            <a:off x="3486825" y="2729484"/>
            <a:ext cx="2444435" cy="0"/>
          </a:xfrm>
          <a:prstGeom prst="line">
            <a:avLst/>
          </a:prstGeom>
          <a:noFill/>
          <a:ln w="12700">
            <a:solidFill>
              <a:srgbClr val="1F2937"/>
            </a:solidFill>
            <a:prstDash val="solid"/>
          </a:ln>
        </p:spPr>
      </p:sp>
      <p:sp>
        <p:nvSpPr>
          <p:cNvPr id="64" name="Text 62"/>
          <p:cNvSpPr/>
          <p:nvPr/>
        </p:nvSpPr>
        <p:spPr>
          <a:xfrm>
            <a:off x="3486825" y="2804922"/>
            <a:ext cx="2444435" cy="461635"/>
          </a:xfrm>
          <a:prstGeom prst="rect">
            <a:avLst/>
          </a:prstGeom>
          <a:noFill/>
          <a:ln/>
        </p:spPr>
        <p:txBody>
          <a:bodyPr wrap="square" lIns="0" tIns="0" rIns="0" bIns="0" rtlCol="0" anchor="t"/>
          <a:lstStyle/>
          <a:p>
            <a:pPr indent="0" marL="0">
              <a:lnSpc>
                <a:spcPts val="1350"/>
              </a:lnSpc>
              <a:buNone/>
            </a:pPr>
            <a:r>
              <a:rPr lang="en-US" sz="1200" b="1" dirty="0">
                <a:solidFill>
                  <a:srgbClr val="E5E7EB"/>
                </a:solidFill>
                <a:latin typeface="Space Grotesk" pitchFamily="34" charset="0"/>
                <a:ea typeface="Space Grotesk" pitchFamily="34" charset="-122"/>
                <a:cs typeface="Space Grotesk" pitchFamily="34" charset="-120"/>
              </a:rPr>
              <a:t>Minutes, not a category</a:t>
            </a:r>
            <a:endParaRPr lang="en-US" sz="1200" dirty="0"/>
          </a:p>
        </p:txBody>
      </p:sp>
      <p:sp>
        <p:nvSpPr>
          <p:cNvPr id="65" name="Text 63"/>
          <p:cNvSpPr/>
          <p:nvPr/>
        </p:nvSpPr>
        <p:spPr>
          <a:xfrm>
            <a:off x="3486825" y="3256521"/>
            <a:ext cx="2444435" cy="551955"/>
          </a:xfrm>
          <a:prstGeom prst="rect">
            <a:avLst/>
          </a:prstGeom>
          <a:noFill/>
          <a:ln/>
        </p:spPr>
        <p:txBody>
          <a:bodyPr wrap="square" lIns="0" tIns="0" rIns="0" bIns="0" rtlCol="0" anchor="t"/>
          <a:lstStyle/>
          <a:p>
            <a:pPr indent="0" marL="0">
              <a:lnSpc>
                <a:spcPts val="1100"/>
              </a:lnSpc>
              <a:buNone/>
            </a:pPr>
            <a:r>
              <a:rPr lang="en-US" sz="900" dirty="0">
                <a:solidFill>
                  <a:srgbClr val="94A3B8"/>
                </a:solidFill>
                <a:latin typeface="IBM Plex Sans" pitchFamily="34" charset="0"/>
                <a:ea typeface="IBM Plex Sans" pitchFamily="34" charset="-122"/>
                <a:cs typeface="IBM Plex Sans" pitchFamily="34" charset="-120"/>
              </a:rPr>
              <a:t>When his body can no longer compensate</a:t>
            </a:r>
            <a:endParaRPr lang="en-US" sz="900" dirty="0"/>
          </a:p>
        </p:txBody>
      </p:sp>
      <p:sp>
        <p:nvSpPr>
          <p:cNvPr id="66" name="Text 64"/>
          <p:cNvSpPr/>
          <p:nvPr/>
        </p:nvSpPr>
        <p:spPr>
          <a:xfrm>
            <a:off x="3486825" y="3808476"/>
            <a:ext cx="2444435" cy="461635"/>
          </a:xfrm>
          <a:prstGeom prst="rect">
            <a:avLst/>
          </a:prstGeom>
          <a:noFill/>
          <a:ln/>
        </p:spPr>
        <p:txBody>
          <a:bodyPr wrap="square" lIns="0" tIns="0" rIns="0" bIns="0" rtlCol="0" anchor="t"/>
          <a:lstStyle/>
          <a:p>
            <a:pPr indent="0" marL="0">
              <a:lnSpc>
                <a:spcPts val="1350"/>
              </a:lnSpc>
              <a:buNone/>
            </a:pPr>
            <a:r>
              <a:rPr lang="en-US" sz="1200" b="1" dirty="0">
                <a:solidFill>
                  <a:srgbClr val="E5E7EB"/>
                </a:solidFill>
                <a:latin typeface="Space Grotesk" pitchFamily="34" charset="0"/>
                <a:ea typeface="Space Grotesk" pitchFamily="34" charset="-122"/>
                <a:cs typeface="Space Grotesk" pitchFamily="34" charset="-120"/>
              </a:rPr>
              <a:t>A trained network, shipped</a:t>
            </a:r>
            <a:endParaRPr lang="en-US" sz="1200" dirty="0"/>
          </a:p>
        </p:txBody>
      </p:sp>
      <p:sp>
        <p:nvSpPr>
          <p:cNvPr id="67" name="Text 65"/>
          <p:cNvSpPr/>
          <p:nvPr/>
        </p:nvSpPr>
        <p:spPr>
          <a:xfrm>
            <a:off x="3486825" y="4260075"/>
            <a:ext cx="2444435" cy="551955"/>
          </a:xfrm>
          <a:prstGeom prst="rect">
            <a:avLst/>
          </a:prstGeom>
          <a:noFill/>
          <a:ln/>
        </p:spPr>
        <p:txBody>
          <a:bodyPr wrap="square" lIns="0" tIns="0" rIns="0" bIns="0" rtlCol="0" anchor="t"/>
          <a:lstStyle/>
          <a:p>
            <a:pPr indent="0" marL="0">
              <a:lnSpc>
                <a:spcPts val="1100"/>
              </a:lnSpc>
              <a:buNone/>
            </a:pPr>
            <a:r>
              <a:rPr lang="en-US" sz="900" dirty="0">
                <a:solidFill>
                  <a:srgbClr val="94A3B8"/>
                </a:solidFill>
                <a:latin typeface="IBM Plex Sans" pitchFamily="34" charset="0"/>
                <a:ea typeface="IBM Plex Sans" pitchFamily="34" charset="-122"/>
                <a:cs typeface="IBM Plex Sans" pitchFamily="34" charset="-120"/>
              </a:rPr>
              <a:t>CRI-Net — 104,162 parameters, in the box</a:t>
            </a:r>
            <a:endParaRPr lang="en-US" sz="900" dirty="0"/>
          </a:p>
        </p:txBody>
      </p:sp>
      <p:sp>
        <p:nvSpPr>
          <p:cNvPr id="68" name="Text 66"/>
          <p:cNvSpPr/>
          <p:nvPr/>
        </p:nvSpPr>
        <p:spPr>
          <a:xfrm>
            <a:off x="3486825" y="4812030"/>
            <a:ext cx="2444435" cy="461635"/>
          </a:xfrm>
          <a:prstGeom prst="rect">
            <a:avLst/>
          </a:prstGeom>
          <a:noFill/>
          <a:ln/>
        </p:spPr>
        <p:txBody>
          <a:bodyPr wrap="square" lIns="0" tIns="0" rIns="0" bIns="0" rtlCol="0" anchor="t"/>
          <a:lstStyle/>
          <a:p>
            <a:pPr indent="0" marL="0">
              <a:lnSpc>
                <a:spcPts val="1350"/>
              </a:lnSpc>
              <a:buNone/>
            </a:pPr>
            <a:r>
              <a:rPr lang="en-US" sz="1200" b="1" dirty="0">
                <a:solidFill>
                  <a:srgbClr val="E5E7EB"/>
                </a:solidFill>
                <a:latin typeface="Space Grotesk" pitchFamily="34" charset="0"/>
                <a:ea typeface="Space Grotesk" pitchFamily="34" charset="-122"/>
                <a:cs typeface="Space Grotesk" pitchFamily="34" charset="-120"/>
              </a:rPr>
              <a:t>It declines when unsure</a:t>
            </a:r>
            <a:endParaRPr lang="en-US" sz="1200" dirty="0"/>
          </a:p>
        </p:txBody>
      </p:sp>
      <p:sp>
        <p:nvSpPr>
          <p:cNvPr id="69" name="Text 67"/>
          <p:cNvSpPr/>
          <p:nvPr/>
        </p:nvSpPr>
        <p:spPr>
          <a:xfrm>
            <a:off x="3486825" y="5263629"/>
            <a:ext cx="2444435" cy="551955"/>
          </a:xfrm>
          <a:prstGeom prst="rect">
            <a:avLst/>
          </a:prstGeom>
          <a:noFill/>
          <a:ln/>
        </p:spPr>
        <p:txBody>
          <a:bodyPr wrap="square" lIns="0" tIns="0" rIns="0" bIns="0" rtlCol="0" anchor="t"/>
          <a:lstStyle/>
          <a:p>
            <a:pPr indent="0" marL="0">
              <a:lnSpc>
                <a:spcPts val="1100"/>
              </a:lnSpc>
              <a:buNone/>
            </a:pPr>
            <a:r>
              <a:rPr lang="en-US" sz="900" dirty="0">
                <a:solidFill>
                  <a:srgbClr val="94A3B8"/>
                </a:solidFill>
                <a:latin typeface="IBM Plex Sans" pitchFamily="34" charset="0"/>
                <a:ea typeface="IBM Plex Sans" pitchFamily="34" charset="-122"/>
                <a:cs typeface="IBM Plex Sans" pitchFamily="34" charset="-120"/>
              </a:rPr>
              <a:t>And says so, instead of guessing</a:t>
            </a:r>
            <a:endParaRPr lang="en-US" sz="900" dirty="0"/>
          </a:p>
        </p:txBody>
      </p:sp>
      <p:sp>
        <p:nvSpPr>
          <p:cNvPr id="70" name="Shape 68"/>
          <p:cNvSpPr/>
          <p:nvPr/>
        </p:nvSpPr>
        <p:spPr>
          <a:xfrm>
            <a:off x="6156806" y="2434590"/>
            <a:ext cx="2651694" cy="3463290"/>
          </a:xfrm>
          <a:prstGeom prst="rect">
            <a:avLst/>
          </a:prstGeom>
          <a:solidFill>
            <a:srgbClr val="111827"/>
          </a:solidFill>
          <a:ln w="12700">
            <a:solidFill>
              <a:srgbClr val="1F2937"/>
            </a:solidFill>
            <a:prstDash val="solid"/>
          </a:ln>
        </p:spPr>
      </p:sp>
      <p:sp>
        <p:nvSpPr>
          <p:cNvPr id="71" name="Shape 69"/>
          <p:cNvSpPr/>
          <p:nvPr/>
        </p:nvSpPr>
        <p:spPr>
          <a:xfrm>
            <a:off x="6260435" y="2568321"/>
            <a:ext cx="77724" cy="77724"/>
          </a:xfrm>
          <a:prstGeom prst="ellipse">
            <a:avLst/>
          </a:prstGeom>
          <a:solidFill>
            <a:srgbClr val="F59E0B"/>
          </a:solidFill>
          <a:ln/>
        </p:spPr>
      </p:sp>
      <p:sp>
        <p:nvSpPr>
          <p:cNvPr id="72" name="Text 70"/>
          <p:cNvSpPr/>
          <p:nvPr/>
        </p:nvSpPr>
        <p:spPr>
          <a:xfrm>
            <a:off x="6397595" y="2510028"/>
            <a:ext cx="2307275" cy="178308"/>
          </a:xfrm>
          <a:prstGeom prst="rect">
            <a:avLst/>
          </a:prstGeom>
          <a:noFill/>
          <a:ln/>
        </p:spPr>
        <p:txBody>
          <a:bodyPr wrap="square" lIns="0" tIns="0" rIns="0" bIns="0" rtlCol="0" anchor="ctr"/>
          <a:lstStyle/>
          <a:p>
            <a:pPr indent="0" marL="0">
              <a:buNone/>
            </a:pPr>
            <a:r>
              <a:rPr lang="en-US" sz="900" spc="250" kern="0" dirty="0">
                <a:solidFill>
                  <a:srgbClr val="F59E0B"/>
                </a:solidFill>
                <a:latin typeface="IBM Plex Mono" pitchFamily="34" charset="0"/>
                <a:ea typeface="IBM Plex Mono" pitchFamily="34" charset="-122"/>
                <a:cs typeface="IBM Plex Mono" pitchFamily="34" charset="-120"/>
              </a:rPr>
              <a:t>03  ·  TASK</a:t>
            </a:r>
            <a:endParaRPr lang="en-US" sz="900" dirty="0"/>
          </a:p>
        </p:txBody>
      </p:sp>
      <p:sp>
        <p:nvSpPr>
          <p:cNvPr id="73" name="Shape 71"/>
          <p:cNvSpPr/>
          <p:nvPr/>
        </p:nvSpPr>
        <p:spPr>
          <a:xfrm>
            <a:off x="6260435" y="2729484"/>
            <a:ext cx="2444435" cy="0"/>
          </a:xfrm>
          <a:prstGeom prst="line">
            <a:avLst/>
          </a:prstGeom>
          <a:noFill/>
          <a:ln w="12700">
            <a:solidFill>
              <a:srgbClr val="1F2937"/>
            </a:solidFill>
            <a:prstDash val="solid"/>
          </a:ln>
        </p:spPr>
      </p:sp>
      <p:sp>
        <p:nvSpPr>
          <p:cNvPr id="74" name="Text 72"/>
          <p:cNvSpPr/>
          <p:nvPr/>
        </p:nvSpPr>
        <p:spPr>
          <a:xfrm>
            <a:off x="6260435" y="2804922"/>
            <a:ext cx="2444435" cy="461635"/>
          </a:xfrm>
          <a:prstGeom prst="rect">
            <a:avLst/>
          </a:prstGeom>
          <a:noFill/>
          <a:ln/>
        </p:spPr>
        <p:txBody>
          <a:bodyPr wrap="square" lIns="0" tIns="0" rIns="0" bIns="0" rtlCol="0" anchor="t"/>
          <a:lstStyle/>
          <a:p>
            <a:pPr indent="0" marL="0">
              <a:lnSpc>
                <a:spcPts val="1350"/>
              </a:lnSpc>
              <a:buNone/>
            </a:pPr>
            <a:r>
              <a:rPr lang="en-US" sz="1200" b="1" dirty="0">
                <a:solidFill>
                  <a:srgbClr val="E5E7EB"/>
                </a:solidFill>
                <a:latin typeface="Space Grotesk" pitchFamily="34" charset="0"/>
                <a:ea typeface="Space Grotesk" pitchFamily="34" charset="-122"/>
                <a:cs typeface="Space Grotesk" pitchFamily="34" charset="-120"/>
              </a:rPr>
              <a:t>The deadline sets the order</a:t>
            </a:r>
            <a:endParaRPr lang="en-US" sz="1200" dirty="0"/>
          </a:p>
        </p:txBody>
      </p:sp>
      <p:sp>
        <p:nvSpPr>
          <p:cNvPr id="75" name="Text 73"/>
          <p:cNvSpPr/>
          <p:nvPr/>
        </p:nvSpPr>
        <p:spPr>
          <a:xfrm>
            <a:off x="6260435" y="3256521"/>
            <a:ext cx="2444435" cy="551955"/>
          </a:xfrm>
          <a:prstGeom prst="rect">
            <a:avLst/>
          </a:prstGeom>
          <a:noFill/>
          <a:ln/>
        </p:spPr>
        <p:txBody>
          <a:bodyPr wrap="square" lIns="0" tIns="0" rIns="0" bIns="0" rtlCol="0" anchor="t"/>
          <a:lstStyle/>
          <a:p>
            <a:pPr indent="0" marL="0">
              <a:lnSpc>
                <a:spcPts val="1100"/>
              </a:lnSpc>
              <a:buNone/>
            </a:pPr>
            <a:r>
              <a:rPr lang="en-US" sz="900" dirty="0">
                <a:solidFill>
                  <a:srgbClr val="94A3B8"/>
                </a:solidFill>
                <a:latin typeface="IBM Plex Sans" pitchFamily="34" charset="0"/>
                <a:ea typeface="IBM Plex Sans" pitchFamily="34" charset="-122"/>
                <a:cs typeface="IBM Plex Sans" pitchFamily="34" charset="-120"/>
              </a:rPr>
              <a:t>Whoever runs out first is served first</a:t>
            </a:r>
            <a:endParaRPr lang="en-US" sz="900" dirty="0"/>
          </a:p>
        </p:txBody>
      </p:sp>
      <p:sp>
        <p:nvSpPr>
          <p:cNvPr id="76" name="Text 74"/>
          <p:cNvSpPr/>
          <p:nvPr/>
        </p:nvSpPr>
        <p:spPr>
          <a:xfrm>
            <a:off x="6260435" y="3808476"/>
            <a:ext cx="2444435" cy="461635"/>
          </a:xfrm>
          <a:prstGeom prst="rect">
            <a:avLst/>
          </a:prstGeom>
          <a:noFill/>
          <a:ln/>
        </p:spPr>
        <p:txBody>
          <a:bodyPr wrap="square" lIns="0" tIns="0" rIns="0" bIns="0" rtlCol="0" anchor="t"/>
          <a:lstStyle/>
          <a:p>
            <a:pPr indent="0" marL="0">
              <a:lnSpc>
                <a:spcPts val="1350"/>
              </a:lnSpc>
              <a:buNone/>
            </a:pPr>
            <a:r>
              <a:rPr lang="en-US" sz="1200" b="1" dirty="0">
                <a:solidFill>
                  <a:srgbClr val="E5E7EB"/>
                </a:solidFill>
                <a:latin typeface="Space Grotesk" pitchFamily="34" charset="0"/>
                <a:ea typeface="Space Grotesk" pitchFamily="34" charset="-122"/>
                <a:cs typeface="Space Grotesk" pitchFamily="34" charset="-120"/>
              </a:rPr>
              <a:t>Payload matched to the wound</a:t>
            </a:r>
            <a:endParaRPr lang="en-US" sz="1200" dirty="0"/>
          </a:p>
        </p:txBody>
      </p:sp>
      <p:sp>
        <p:nvSpPr>
          <p:cNvPr id="77" name="Text 75"/>
          <p:cNvSpPr/>
          <p:nvPr/>
        </p:nvSpPr>
        <p:spPr>
          <a:xfrm>
            <a:off x="6260435" y="4260075"/>
            <a:ext cx="2444435" cy="551955"/>
          </a:xfrm>
          <a:prstGeom prst="rect">
            <a:avLst/>
          </a:prstGeom>
          <a:noFill/>
          <a:ln/>
        </p:spPr>
        <p:txBody>
          <a:bodyPr wrap="square" lIns="0" tIns="0" rIns="0" bIns="0" rtlCol="0" anchor="t"/>
          <a:lstStyle/>
          <a:p>
            <a:pPr indent="0" marL="0">
              <a:lnSpc>
                <a:spcPts val="1100"/>
              </a:lnSpc>
              <a:buNone/>
            </a:pPr>
            <a:r>
              <a:rPr lang="en-US" sz="900" dirty="0">
                <a:solidFill>
                  <a:srgbClr val="94A3B8"/>
                </a:solidFill>
                <a:latin typeface="IBM Plex Sans" pitchFamily="34" charset="0"/>
                <a:ea typeface="IBM Plex Sans" pitchFamily="34" charset="-122"/>
                <a:cs typeface="IBM Plex Sans" pitchFamily="34" charset="-120"/>
              </a:rPr>
              <a:t>Blood, plasma, TXA, tourniquet, seal</a:t>
            </a:r>
            <a:endParaRPr lang="en-US" sz="900" dirty="0"/>
          </a:p>
        </p:txBody>
      </p:sp>
      <p:sp>
        <p:nvSpPr>
          <p:cNvPr id="78" name="Text 76"/>
          <p:cNvSpPr/>
          <p:nvPr/>
        </p:nvSpPr>
        <p:spPr>
          <a:xfrm>
            <a:off x="6260435" y="4812030"/>
            <a:ext cx="2444435" cy="461635"/>
          </a:xfrm>
          <a:prstGeom prst="rect">
            <a:avLst/>
          </a:prstGeom>
          <a:noFill/>
          <a:ln/>
        </p:spPr>
        <p:txBody>
          <a:bodyPr wrap="square" lIns="0" tIns="0" rIns="0" bIns="0" rtlCol="0" anchor="t"/>
          <a:lstStyle/>
          <a:p>
            <a:pPr indent="0" marL="0">
              <a:lnSpc>
                <a:spcPts val="1350"/>
              </a:lnSpc>
              <a:buNone/>
            </a:pPr>
            <a:r>
              <a:rPr lang="en-US" sz="1200" b="1" dirty="0">
                <a:solidFill>
                  <a:srgbClr val="E5E7EB"/>
                </a:solidFill>
                <a:latin typeface="Space Grotesk" pitchFamily="34" charset="0"/>
                <a:ea typeface="Space Grotesk" pitchFamily="34" charset="-122"/>
                <a:cs typeface="Space Grotesk" pitchFamily="34" charset="-120"/>
              </a:rPr>
              <a:t>A person is asked, not bypassed</a:t>
            </a:r>
            <a:endParaRPr lang="en-US" sz="1200" dirty="0"/>
          </a:p>
        </p:txBody>
      </p:sp>
      <p:sp>
        <p:nvSpPr>
          <p:cNvPr id="79" name="Text 77"/>
          <p:cNvSpPr/>
          <p:nvPr/>
        </p:nvSpPr>
        <p:spPr>
          <a:xfrm>
            <a:off x="6260435" y="5263629"/>
            <a:ext cx="2444435" cy="551955"/>
          </a:xfrm>
          <a:prstGeom prst="rect">
            <a:avLst/>
          </a:prstGeom>
          <a:noFill/>
          <a:ln/>
        </p:spPr>
        <p:txBody>
          <a:bodyPr wrap="square" lIns="0" tIns="0" rIns="0" bIns="0" rtlCol="0" anchor="t"/>
          <a:lstStyle/>
          <a:p>
            <a:pPr indent="0" marL="0">
              <a:lnSpc>
                <a:spcPts val="1100"/>
              </a:lnSpc>
              <a:buNone/>
            </a:pPr>
            <a:r>
              <a:rPr lang="en-US" sz="900" dirty="0">
                <a:solidFill>
                  <a:srgbClr val="94A3B8"/>
                </a:solidFill>
                <a:latin typeface="IBM Plex Sans" pitchFamily="34" charset="0"/>
                <a:ea typeface="IBM Plex Sans" pitchFamily="34" charset="-122"/>
                <a:cs typeface="IBM Plex Sans" pitchFamily="34" charset="-120"/>
              </a:rPr>
              <a:t>Only when the system is not confident</a:t>
            </a:r>
            <a:endParaRPr lang="en-US" sz="900" dirty="0"/>
          </a:p>
        </p:txBody>
      </p:sp>
      <p:sp>
        <p:nvSpPr>
          <p:cNvPr id="80" name="Shape 78"/>
          <p:cNvSpPr/>
          <p:nvPr/>
        </p:nvSpPr>
        <p:spPr>
          <a:xfrm>
            <a:off x="8930417" y="2434590"/>
            <a:ext cx="2651694" cy="3463290"/>
          </a:xfrm>
          <a:prstGeom prst="rect">
            <a:avLst/>
          </a:prstGeom>
          <a:solidFill>
            <a:srgbClr val="111827"/>
          </a:solidFill>
          <a:ln w="12700">
            <a:solidFill>
              <a:srgbClr val="1F2937"/>
            </a:solidFill>
            <a:prstDash val="solid"/>
          </a:ln>
        </p:spPr>
      </p:sp>
      <p:sp>
        <p:nvSpPr>
          <p:cNvPr id="81" name="Shape 79"/>
          <p:cNvSpPr/>
          <p:nvPr/>
        </p:nvSpPr>
        <p:spPr>
          <a:xfrm>
            <a:off x="9034046" y="2568321"/>
            <a:ext cx="77724" cy="77724"/>
          </a:xfrm>
          <a:prstGeom prst="ellipse">
            <a:avLst/>
          </a:prstGeom>
          <a:solidFill>
            <a:srgbClr val="10B981"/>
          </a:solidFill>
          <a:ln/>
        </p:spPr>
      </p:sp>
      <p:sp>
        <p:nvSpPr>
          <p:cNvPr id="82" name="Text 80"/>
          <p:cNvSpPr/>
          <p:nvPr/>
        </p:nvSpPr>
        <p:spPr>
          <a:xfrm>
            <a:off x="9171206" y="2510028"/>
            <a:ext cx="2307275" cy="178308"/>
          </a:xfrm>
          <a:prstGeom prst="rect">
            <a:avLst/>
          </a:prstGeom>
          <a:noFill/>
          <a:ln/>
        </p:spPr>
        <p:txBody>
          <a:bodyPr wrap="square" lIns="0" tIns="0" rIns="0" bIns="0" rtlCol="0" anchor="ctr"/>
          <a:lstStyle/>
          <a:p>
            <a:pPr indent="0" marL="0">
              <a:buNone/>
            </a:pPr>
            <a:r>
              <a:rPr lang="en-US" sz="900" spc="250" kern="0" dirty="0">
                <a:solidFill>
                  <a:srgbClr val="10B981"/>
                </a:solidFill>
                <a:latin typeface="IBM Plex Mono" pitchFamily="34" charset="0"/>
                <a:ea typeface="IBM Plex Mono" pitchFamily="34" charset="-122"/>
                <a:cs typeface="IBM Plex Mono" pitchFamily="34" charset="-120"/>
              </a:rPr>
              <a:t>04  ·  PROVE</a:t>
            </a:r>
            <a:endParaRPr lang="en-US" sz="900" dirty="0"/>
          </a:p>
        </p:txBody>
      </p:sp>
      <p:sp>
        <p:nvSpPr>
          <p:cNvPr id="83" name="Shape 81"/>
          <p:cNvSpPr/>
          <p:nvPr/>
        </p:nvSpPr>
        <p:spPr>
          <a:xfrm>
            <a:off x="9034046" y="2729484"/>
            <a:ext cx="2444435" cy="0"/>
          </a:xfrm>
          <a:prstGeom prst="line">
            <a:avLst/>
          </a:prstGeom>
          <a:noFill/>
          <a:ln w="12700">
            <a:solidFill>
              <a:srgbClr val="1F2937"/>
            </a:solidFill>
            <a:prstDash val="solid"/>
          </a:ln>
        </p:spPr>
      </p:sp>
      <p:sp>
        <p:nvSpPr>
          <p:cNvPr id="84" name="Text 82"/>
          <p:cNvSpPr/>
          <p:nvPr/>
        </p:nvSpPr>
        <p:spPr>
          <a:xfrm>
            <a:off x="9034046" y="2804922"/>
            <a:ext cx="2444435" cy="461635"/>
          </a:xfrm>
          <a:prstGeom prst="rect">
            <a:avLst/>
          </a:prstGeom>
          <a:noFill/>
          <a:ln/>
        </p:spPr>
        <p:txBody>
          <a:bodyPr wrap="square" lIns="0" tIns="0" rIns="0" bIns="0" rtlCol="0" anchor="t"/>
          <a:lstStyle/>
          <a:p>
            <a:pPr indent="0" marL="0">
              <a:lnSpc>
                <a:spcPts val="1350"/>
              </a:lnSpc>
              <a:buNone/>
            </a:pPr>
            <a:r>
              <a:rPr lang="en-US" sz="1200" b="1" dirty="0">
                <a:solidFill>
                  <a:srgbClr val="E5E7EB"/>
                </a:solidFill>
                <a:latin typeface="Space Grotesk" pitchFamily="34" charset="0"/>
                <a:ea typeface="Space Grotesk" pitchFamily="34" charset="-122"/>
                <a:cs typeface="Space Grotesk" pitchFamily="34" charset="-120"/>
              </a:rPr>
              <a:t>The same battle, fought twice</a:t>
            </a:r>
            <a:endParaRPr lang="en-US" sz="1200" dirty="0"/>
          </a:p>
        </p:txBody>
      </p:sp>
      <p:sp>
        <p:nvSpPr>
          <p:cNvPr id="85" name="Text 83"/>
          <p:cNvSpPr/>
          <p:nvPr/>
        </p:nvSpPr>
        <p:spPr>
          <a:xfrm>
            <a:off x="9034046" y="3256521"/>
            <a:ext cx="2444435" cy="551955"/>
          </a:xfrm>
          <a:prstGeom prst="rect">
            <a:avLst/>
          </a:prstGeom>
          <a:noFill/>
          <a:ln/>
        </p:spPr>
        <p:txBody>
          <a:bodyPr wrap="square" lIns="0" tIns="0" rIns="0" bIns="0" rtlCol="0" anchor="t"/>
          <a:lstStyle/>
          <a:p>
            <a:pPr indent="0" marL="0">
              <a:lnSpc>
                <a:spcPts val="1100"/>
              </a:lnSpc>
              <a:buNone/>
            </a:pPr>
            <a:r>
              <a:rPr lang="en-US" sz="900" dirty="0">
                <a:solidFill>
                  <a:srgbClr val="94A3B8"/>
                </a:solidFill>
                <a:latin typeface="IBM Plex Sans" pitchFamily="34" charset="0"/>
                <a:ea typeface="IBM Plex Sans" pitchFamily="34" charset="-122"/>
                <a:cs typeface="IBM Plex Sans" pitchFamily="34" charset="-120"/>
              </a:rPr>
              <a:t>Once this way, once the way it is done</a:t>
            </a:r>
            <a:endParaRPr lang="en-US" sz="900" dirty="0"/>
          </a:p>
        </p:txBody>
      </p:sp>
      <p:sp>
        <p:nvSpPr>
          <p:cNvPr id="86" name="Text 84"/>
          <p:cNvSpPr/>
          <p:nvPr/>
        </p:nvSpPr>
        <p:spPr>
          <a:xfrm>
            <a:off x="9034046" y="3808476"/>
            <a:ext cx="2444435" cy="461635"/>
          </a:xfrm>
          <a:prstGeom prst="rect">
            <a:avLst/>
          </a:prstGeom>
          <a:noFill/>
          <a:ln/>
        </p:spPr>
        <p:txBody>
          <a:bodyPr wrap="square" lIns="0" tIns="0" rIns="0" bIns="0" rtlCol="0" anchor="t"/>
          <a:lstStyle/>
          <a:p>
            <a:pPr indent="0" marL="0">
              <a:lnSpc>
                <a:spcPts val="1350"/>
              </a:lnSpc>
              <a:buNone/>
            </a:pPr>
            <a:r>
              <a:rPr lang="en-US" sz="1200" b="1" dirty="0">
                <a:solidFill>
                  <a:srgbClr val="E5E7EB"/>
                </a:solidFill>
                <a:latin typeface="Space Grotesk" pitchFamily="34" charset="0"/>
                <a:ea typeface="Space Grotesk" pitchFamily="34" charset="-122"/>
                <a:cs typeface="Space Grotesk" pitchFamily="34" charset="-120"/>
              </a:rPr>
              <a:t>Scored on one number</a:t>
            </a:r>
            <a:endParaRPr lang="en-US" sz="1200" dirty="0"/>
          </a:p>
        </p:txBody>
      </p:sp>
      <p:sp>
        <p:nvSpPr>
          <p:cNvPr id="87" name="Text 85"/>
          <p:cNvSpPr/>
          <p:nvPr/>
        </p:nvSpPr>
        <p:spPr>
          <a:xfrm>
            <a:off x="9034046" y="4260075"/>
            <a:ext cx="2444435" cy="551955"/>
          </a:xfrm>
          <a:prstGeom prst="rect">
            <a:avLst/>
          </a:prstGeom>
          <a:noFill/>
          <a:ln/>
        </p:spPr>
        <p:txBody>
          <a:bodyPr wrap="square" lIns="0" tIns="0" rIns="0" bIns="0" rtlCol="0" anchor="t"/>
          <a:lstStyle/>
          <a:p>
            <a:pPr indent="0" marL="0">
              <a:lnSpc>
                <a:spcPts val="1100"/>
              </a:lnSpc>
              <a:buNone/>
            </a:pPr>
            <a:r>
              <a:rPr lang="en-US" sz="900" dirty="0">
                <a:solidFill>
                  <a:srgbClr val="94A3B8"/>
                </a:solidFill>
                <a:latin typeface="IBM Plex Sans" pitchFamily="34" charset="0"/>
                <a:ea typeface="IBM Plex Sans" pitchFamily="34" charset="-122"/>
                <a:cs typeface="IBM Plex Sans" pitchFamily="34" charset="-120"/>
              </a:rPr>
              <a:t>Dead of wounds that could have been survived</a:t>
            </a:r>
            <a:endParaRPr lang="en-US" sz="900" dirty="0"/>
          </a:p>
        </p:txBody>
      </p:sp>
      <p:sp>
        <p:nvSpPr>
          <p:cNvPr id="88" name="Text 86"/>
          <p:cNvSpPr/>
          <p:nvPr/>
        </p:nvSpPr>
        <p:spPr>
          <a:xfrm>
            <a:off x="9034046" y="4812030"/>
            <a:ext cx="2444435" cy="461635"/>
          </a:xfrm>
          <a:prstGeom prst="rect">
            <a:avLst/>
          </a:prstGeom>
          <a:noFill/>
          <a:ln/>
        </p:spPr>
        <p:txBody>
          <a:bodyPr wrap="square" lIns="0" tIns="0" rIns="0" bIns="0" rtlCol="0" anchor="t"/>
          <a:lstStyle/>
          <a:p>
            <a:pPr indent="0" marL="0">
              <a:lnSpc>
                <a:spcPts val="1350"/>
              </a:lnSpc>
              <a:buNone/>
            </a:pPr>
            <a:r>
              <a:rPr lang="en-US" sz="1200" b="1" dirty="0">
                <a:solidFill>
                  <a:srgbClr val="E5E7EB"/>
                </a:solidFill>
                <a:latin typeface="Space Grotesk" pitchFamily="34" charset="0"/>
                <a:ea typeface="Space Grotesk" pitchFamily="34" charset="-122"/>
                <a:cs typeface="Space Grotesk" pitchFamily="34" charset="-120"/>
              </a:rPr>
              <a:t>On this laptop, offline</a:t>
            </a:r>
            <a:endParaRPr lang="en-US" sz="1200" dirty="0"/>
          </a:p>
        </p:txBody>
      </p:sp>
      <p:sp>
        <p:nvSpPr>
          <p:cNvPr id="89" name="Text 87"/>
          <p:cNvSpPr/>
          <p:nvPr/>
        </p:nvSpPr>
        <p:spPr>
          <a:xfrm>
            <a:off x="9034046" y="5263629"/>
            <a:ext cx="2444435" cy="551955"/>
          </a:xfrm>
          <a:prstGeom prst="rect">
            <a:avLst/>
          </a:prstGeom>
          <a:noFill/>
          <a:ln/>
        </p:spPr>
        <p:txBody>
          <a:bodyPr wrap="square" lIns="0" tIns="0" rIns="0" bIns="0" rtlCol="0" anchor="t"/>
          <a:lstStyle/>
          <a:p>
            <a:pPr indent="0" marL="0">
              <a:lnSpc>
                <a:spcPts val="1100"/>
              </a:lnSpc>
              <a:buNone/>
            </a:pPr>
            <a:r>
              <a:rPr lang="en-US" sz="900" dirty="0">
                <a:solidFill>
                  <a:srgbClr val="94A3B8"/>
                </a:solidFill>
                <a:latin typeface="IBM Plex Sans" pitchFamily="34" charset="0"/>
                <a:ea typeface="IBM Plex Sans" pitchFamily="34" charset="-122"/>
                <a:cs typeface="IBM Plex Sans" pitchFamily="34" charset="-120"/>
              </a:rPr>
              <a:t>No install, no network, no account</a:t>
            </a:r>
            <a:endParaRPr lang="en-US" sz="900" dirty="0"/>
          </a:p>
        </p:txBody>
      </p:sp>
      <p:sp>
        <p:nvSpPr>
          <p:cNvPr id="90" name="Shape 88"/>
          <p:cNvSpPr/>
          <p:nvPr/>
        </p:nvSpPr>
        <p:spPr>
          <a:xfrm>
            <a:off x="609585" y="6137910"/>
            <a:ext cx="10972526" cy="0"/>
          </a:xfrm>
          <a:prstGeom prst="line">
            <a:avLst/>
          </a:prstGeom>
          <a:noFill/>
          <a:ln w="12700">
            <a:solidFill>
              <a:srgbClr val="1F2937"/>
            </a:solidFill>
            <a:prstDash val="solid"/>
          </a:ln>
        </p:spPr>
      </p:sp>
      <p:sp>
        <p:nvSpPr>
          <p:cNvPr id="91" name="Text 89"/>
          <p:cNvSpPr/>
          <p:nvPr/>
        </p:nvSpPr>
        <p:spPr>
          <a:xfrm>
            <a:off x="609585" y="6240780"/>
            <a:ext cx="9021854" cy="308610"/>
          </a:xfrm>
          <a:prstGeom prst="rect">
            <a:avLst/>
          </a:prstGeom>
          <a:noFill/>
          <a:ln/>
        </p:spPr>
        <p:txBody>
          <a:bodyPr wrap="square" lIns="0" tIns="0" rIns="0" bIns="0" rtlCol="0" anchor="ctr"/>
          <a:lstStyle/>
          <a:p>
            <a:pPr indent="0" marL="0">
              <a:buNone/>
            </a:pPr>
            <a:r>
              <a:rPr lang="en-US" sz="950" dirty="0">
                <a:solidFill>
                  <a:srgbClr val="94A3B8"/>
                </a:solidFill>
                <a:latin typeface="IBM Plex Mono" pitchFamily="34" charset="0"/>
                <a:ea typeface="IBM Plex Mono" pitchFamily="34" charset="-122"/>
                <a:cs typeface="IBM Plex Mono" pitchFamily="34" charset="-120"/>
              </a:rPr>
              <a:t>DHA  ·  PACOM  ·  NDIA 2026    |    90-second opener  →  live demonstration</a:t>
            </a:r>
            <a:endParaRPr lang="en-US" sz="950" dirty="0"/>
          </a:p>
        </p:txBody>
      </p:sp>
      <p:sp>
        <p:nvSpPr>
          <p:cNvPr id="92" name="Text 90"/>
          <p:cNvSpPr/>
          <p:nvPr/>
        </p:nvSpPr>
        <p:spPr>
          <a:xfrm>
            <a:off x="10362941" y="6240780"/>
            <a:ext cx="1219170" cy="308610"/>
          </a:xfrm>
          <a:prstGeom prst="rect">
            <a:avLst/>
          </a:prstGeom>
          <a:noFill/>
          <a:ln/>
        </p:spPr>
        <p:txBody>
          <a:bodyPr wrap="square" lIns="0" tIns="0" rIns="0" bIns="0" rtlCol="0" anchor="ctr"/>
          <a:lstStyle/>
          <a:p>
            <a:pPr algn="r" indent="0" marL="0">
              <a:buNone/>
            </a:pPr>
            <a:r>
              <a:rPr lang="en-US" sz="950" dirty="0">
                <a:solidFill>
                  <a:srgbClr val="94A3B8"/>
                </a:solidFill>
                <a:latin typeface="IBM Plex Mono" pitchFamily="34" charset="0"/>
                <a:ea typeface="IBM Plex Mono" pitchFamily="34" charset="-122"/>
                <a:cs typeface="IBM Plex Mono" pitchFamily="34" charset="-120"/>
              </a:rPr>
              <a:t>01 / 03</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0" cy="6858000"/>
          </a:xfrm>
          <a:prstGeom prst="line">
            <a:avLst/>
          </a:prstGeom>
          <a:noFill/>
          <a:ln w="6350">
            <a:solidFill>
              <a:srgbClr val="94A3B8">
                <a:alpha val="6000"/>
              </a:srgbClr>
            </a:solidFill>
            <a:prstDash val="solid"/>
          </a:ln>
        </p:spPr>
      </p:sp>
      <p:sp>
        <p:nvSpPr>
          <p:cNvPr id="3" name="Shape 1"/>
          <p:cNvSpPr/>
          <p:nvPr/>
        </p:nvSpPr>
        <p:spPr>
          <a:xfrm>
            <a:off x="487668" y="0"/>
            <a:ext cx="0" cy="6858000"/>
          </a:xfrm>
          <a:prstGeom prst="line">
            <a:avLst/>
          </a:prstGeom>
          <a:noFill/>
          <a:ln w="6350">
            <a:solidFill>
              <a:srgbClr val="94A3B8">
                <a:alpha val="6000"/>
              </a:srgbClr>
            </a:solidFill>
            <a:prstDash val="solid"/>
          </a:ln>
        </p:spPr>
      </p:sp>
      <p:sp>
        <p:nvSpPr>
          <p:cNvPr id="4" name="Shape 2"/>
          <p:cNvSpPr/>
          <p:nvPr/>
        </p:nvSpPr>
        <p:spPr>
          <a:xfrm>
            <a:off x="975336" y="0"/>
            <a:ext cx="0" cy="6858000"/>
          </a:xfrm>
          <a:prstGeom prst="line">
            <a:avLst/>
          </a:prstGeom>
          <a:noFill/>
          <a:ln w="6350">
            <a:solidFill>
              <a:srgbClr val="94A3B8">
                <a:alpha val="6000"/>
              </a:srgbClr>
            </a:solidFill>
            <a:prstDash val="solid"/>
          </a:ln>
        </p:spPr>
      </p:sp>
      <p:sp>
        <p:nvSpPr>
          <p:cNvPr id="5" name="Shape 3"/>
          <p:cNvSpPr/>
          <p:nvPr/>
        </p:nvSpPr>
        <p:spPr>
          <a:xfrm>
            <a:off x="1463003" y="0"/>
            <a:ext cx="0" cy="6858000"/>
          </a:xfrm>
          <a:prstGeom prst="line">
            <a:avLst/>
          </a:prstGeom>
          <a:noFill/>
          <a:ln w="6350">
            <a:solidFill>
              <a:srgbClr val="94A3B8">
                <a:alpha val="6000"/>
              </a:srgbClr>
            </a:solidFill>
            <a:prstDash val="solid"/>
          </a:ln>
        </p:spPr>
      </p:sp>
      <p:sp>
        <p:nvSpPr>
          <p:cNvPr id="6" name="Shape 4"/>
          <p:cNvSpPr/>
          <p:nvPr/>
        </p:nvSpPr>
        <p:spPr>
          <a:xfrm>
            <a:off x="1950671" y="0"/>
            <a:ext cx="0" cy="6858000"/>
          </a:xfrm>
          <a:prstGeom prst="line">
            <a:avLst/>
          </a:prstGeom>
          <a:noFill/>
          <a:ln w="6350">
            <a:solidFill>
              <a:srgbClr val="94A3B8">
                <a:alpha val="6000"/>
              </a:srgbClr>
            </a:solidFill>
            <a:prstDash val="solid"/>
          </a:ln>
        </p:spPr>
      </p:sp>
      <p:sp>
        <p:nvSpPr>
          <p:cNvPr id="7" name="Shape 5"/>
          <p:cNvSpPr/>
          <p:nvPr/>
        </p:nvSpPr>
        <p:spPr>
          <a:xfrm>
            <a:off x="2438339" y="0"/>
            <a:ext cx="0" cy="6858000"/>
          </a:xfrm>
          <a:prstGeom prst="line">
            <a:avLst/>
          </a:prstGeom>
          <a:noFill/>
          <a:ln w="6350">
            <a:solidFill>
              <a:srgbClr val="94A3B8">
                <a:alpha val="6000"/>
              </a:srgbClr>
            </a:solidFill>
            <a:prstDash val="solid"/>
          </a:ln>
        </p:spPr>
      </p:sp>
      <p:sp>
        <p:nvSpPr>
          <p:cNvPr id="8" name="Shape 6"/>
          <p:cNvSpPr/>
          <p:nvPr/>
        </p:nvSpPr>
        <p:spPr>
          <a:xfrm>
            <a:off x="2926007" y="0"/>
            <a:ext cx="0" cy="6858000"/>
          </a:xfrm>
          <a:prstGeom prst="line">
            <a:avLst/>
          </a:prstGeom>
          <a:noFill/>
          <a:ln w="6350">
            <a:solidFill>
              <a:srgbClr val="94A3B8">
                <a:alpha val="6000"/>
              </a:srgbClr>
            </a:solidFill>
            <a:prstDash val="solid"/>
          </a:ln>
        </p:spPr>
      </p:sp>
      <p:sp>
        <p:nvSpPr>
          <p:cNvPr id="9" name="Shape 7"/>
          <p:cNvSpPr/>
          <p:nvPr/>
        </p:nvSpPr>
        <p:spPr>
          <a:xfrm>
            <a:off x="3413675" y="0"/>
            <a:ext cx="0" cy="6858000"/>
          </a:xfrm>
          <a:prstGeom prst="line">
            <a:avLst/>
          </a:prstGeom>
          <a:noFill/>
          <a:ln w="6350">
            <a:solidFill>
              <a:srgbClr val="94A3B8">
                <a:alpha val="6000"/>
              </a:srgbClr>
            </a:solidFill>
            <a:prstDash val="solid"/>
          </a:ln>
        </p:spPr>
      </p:sp>
      <p:sp>
        <p:nvSpPr>
          <p:cNvPr id="10" name="Shape 8"/>
          <p:cNvSpPr/>
          <p:nvPr/>
        </p:nvSpPr>
        <p:spPr>
          <a:xfrm>
            <a:off x="3901342" y="0"/>
            <a:ext cx="0" cy="6858000"/>
          </a:xfrm>
          <a:prstGeom prst="line">
            <a:avLst/>
          </a:prstGeom>
          <a:noFill/>
          <a:ln w="6350">
            <a:solidFill>
              <a:srgbClr val="94A3B8">
                <a:alpha val="6000"/>
              </a:srgbClr>
            </a:solidFill>
            <a:prstDash val="solid"/>
          </a:ln>
        </p:spPr>
      </p:sp>
      <p:sp>
        <p:nvSpPr>
          <p:cNvPr id="11" name="Shape 9"/>
          <p:cNvSpPr/>
          <p:nvPr/>
        </p:nvSpPr>
        <p:spPr>
          <a:xfrm>
            <a:off x="4389010" y="0"/>
            <a:ext cx="0" cy="6858000"/>
          </a:xfrm>
          <a:prstGeom prst="line">
            <a:avLst/>
          </a:prstGeom>
          <a:noFill/>
          <a:ln w="6350">
            <a:solidFill>
              <a:srgbClr val="94A3B8">
                <a:alpha val="6000"/>
              </a:srgbClr>
            </a:solidFill>
            <a:prstDash val="solid"/>
          </a:ln>
        </p:spPr>
      </p:sp>
      <p:sp>
        <p:nvSpPr>
          <p:cNvPr id="12" name="Shape 10"/>
          <p:cNvSpPr/>
          <p:nvPr/>
        </p:nvSpPr>
        <p:spPr>
          <a:xfrm>
            <a:off x="4876678" y="0"/>
            <a:ext cx="0" cy="6858000"/>
          </a:xfrm>
          <a:prstGeom prst="line">
            <a:avLst/>
          </a:prstGeom>
          <a:noFill/>
          <a:ln w="6350">
            <a:solidFill>
              <a:srgbClr val="94A3B8">
                <a:alpha val="6000"/>
              </a:srgbClr>
            </a:solidFill>
            <a:prstDash val="solid"/>
          </a:ln>
        </p:spPr>
      </p:sp>
      <p:sp>
        <p:nvSpPr>
          <p:cNvPr id="13" name="Shape 11"/>
          <p:cNvSpPr/>
          <p:nvPr/>
        </p:nvSpPr>
        <p:spPr>
          <a:xfrm>
            <a:off x="5364346" y="0"/>
            <a:ext cx="0" cy="6858000"/>
          </a:xfrm>
          <a:prstGeom prst="line">
            <a:avLst/>
          </a:prstGeom>
          <a:noFill/>
          <a:ln w="6350">
            <a:solidFill>
              <a:srgbClr val="94A3B8">
                <a:alpha val="6000"/>
              </a:srgbClr>
            </a:solidFill>
            <a:prstDash val="solid"/>
          </a:ln>
        </p:spPr>
      </p:sp>
      <p:sp>
        <p:nvSpPr>
          <p:cNvPr id="14" name="Shape 12"/>
          <p:cNvSpPr/>
          <p:nvPr/>
        </p:nvSpPr>
        <p:spPr>
          <a:xfrm>
            <a:off x="5852014" y="0"/>
            <a:ext cx="0" cy="6858000"/>
          </a:xfrm>
          <a:prstGeom prst="line">
            <a:avLst/>
          </a:prstGeom>
          <a:noFill/>
          <a:ln w="6350">
            <a:solidFill>
              <a:srgbClr val="94A3B8">
                <a:alpha val="6000"/>
              </a:srgbClr>
            </a:solidFill>
            <a:prstDash val="solid"/>
          </a:ln>
        </p:spPr>
      </p:sp>
      <p:sp>
        <p:nvSpPr>
          <p:cNvPr id="15" name="Shape 13"/>
          <p:cNvSpPr/>
          <p:nvPr/>
        </p:nvSpPr>
        <p:spPr>
          <a:xfrm>
            <a:off x="6339682" y="0"/>
            <a:ext cx="0" cy="6858000"/>
          </a:xfrm>
          <a:prstGeom prst="line">
            <a:avLst/>
          </a:prstGeom>
          <a:noFill/>
          <a:ln w="6350">
            <a:solidFill>
              <a:srgbClr val="94A3B8">
                <a:alpha val="6000"/>
              </a:srgbClr>
            </a:solidFill>
            <a:prstDash val="solid"/>
          </a:ln>
        </p:spPr>
      </p:sp>
      <p:sp>
        <p:nvSpPr>
          <p:cNvPr id="16" name="Shape 14"/>
          <p:cNvSpPr/>
          <p:nvPr/>
        </p:nvSpPr>
        <p:spPr>
          <a:xfrm>
            <a:off x="6827349" y="0"/>
            <a:ext cx="0" cy="6858000"/>
          </a:xfrm>
          <a:prstGeom prst="line">
            <a:avLst/>
          </a:prstGeom>
          <a:noFill/>
          <a:ln w="6350">
            <a:solidFill>
              <a:srgbClr val="94A3B8">
                <a:alpha val="6000"/>
              </a:srgbClr>
            </a:solidFill>
            <a:prstDash val="solid"/>
          </a:ln>
        </p:spPr>
      </p:sp>
      <p:sp>
        <p:nvSpPr>
          <p:cNvPr id="17" name="Shape 15"/>
          <p:cNvSpPr/>
          <p:nvPr/>
        </p:nvSpPr>
        <p:spPr>
          <a:xfrm>
            <a:off x="7315017" y="0"/>
            <a:ext cx="0" cy="6858000"/>
          </a:xfrm>
          <a:prstGeom prst="line">
            <a:avLst/>
          </a:prstGeom>
          <a:noFill/>
          <a:ln w="6350">
            <a:solidFill>
              <a:srgbClr val="94A3B8">
                <a:alpha val="6000"/>
              </a:srgbClr>
            </a:solidFill>
            <a:prstDash val="solid"/>
          </a:ln>
        </p:spPr>
      </p:sp>
      <p:sp>
        <p:nvSpPr>
          <p:cNvPr id="18" name="Shape 16"/>
          <p:cNvSpPr/>
          <p:nvPr/>
        </p:nvSpPr>
        <p:spPr>
          <a:xfrm>
            <a:off x="7802685" y="0"/>
            <a:ext cx="0" cy="6858000"/>
          </a:xfrm>
          <a:prstGeom prst="line">
            <a:avLst/>
          </a:prstGeom>
          <a:noFill/>
          <a:ln w="6350">
            <a:solidFill>
              <a:srgbClr val="94A3B8">
                <a:alpha val="6000"/>
              </a:srgbClr>
            </a:solidFill>
            <a:prstDash val="solid"/>
          </a:ln>
        </p:spPr>
      </p:sp>
      <p:sp>
        <p:nvSpPr>
          <p:cNvPr id="19" name="Shape 17"/>
          <p:cNvSpPr/>
          <p:nvPr/>
        </p:nvSpPr>
        <p:spPr>
          <a:xfrm>
            <a:off x="8290353" y="0"/>
            <a:ext cx="0" cy="6858000"/>
          </a:xfrm>
          <a:prstGeom prst="line">
            <a:avLst/>
          </a:prstGeom>
          <a:noFill/>
          <a:ln w="6350">
            <a:solidFill>
              <a:srgbClr val="94A3B8">
                <a:alpha val="6000"/>
              </a:srgbClr>
            </a:solidFill>
            <a:prstDash val="solid"/>
          </a:ln>
        </p:spPr>
      </p:sp>
      <p:sp>
        <p:nvSpPr>
          <p:cNvPr id="20" name="Shape 18"/>
          <p:cNvSpPr/>
          <p:nvPr/>
        </p:nvSpPr>
        <p:spPr>
          <a:xfrm>
            <a:off x="8778021" y="0"/>
            <a:ext cx="0" cy="6858000"/>
          </a:xfrm>
          <a:prstGeom prst="line">
            <a:avLst/>
          </a:prstGeom>
          <a:noFill/>
          <a:ln w="6350">
            <a:solidFill>
              <a:srgbClr val="94A3B8">
                <a:alpha val="6000"/>
              </a:srgbClr>
            </a:solidFill>
            <a:prstDash val="solid"/>
          </a:ln>
        </p:spPr>
      </p:sp>
      <p:sp>
        <p:nvSpPr>
          <p:cNvPr id="21" name="Shape 19"/>
          <p:cNvSpPr/>
          <p:nvPr/>
        </p:nvSpPr>
        <p:spPr>
          <a:xfrm>
            <a:off x="9265688" y="0"/>
            <a:ext cx="0" cy="6858000"/>
          </a:xfrm>
          <a:prstGeom prst="line">
            <a:avLst/>
          </a:prstGeom>
          <a:noFill/>
          <a:ln w="6350">
            <a:solidFill>
              <a:srgbClr val="94A3B8">
                <a:alpha val="6000"/>
              </a:srgbClr>
            </a:solidFill>
            <a:prstDash val="solid"/>
          </a:ln>
        </p:spPr>
      </p:sp>
      <p:sp>
        <p:nvSpPr>
          <p:cNvPr id="22" name="Shape 20"/>
          <p:cNvSpPr/>
          <p:nvPr/>
        </p:nvSpPr>
        <p:spPr>
          <a:xfrm>
            <a:off x="9753356" y="0"/>
            <a:ext cx="0" cy="6858000"/>
          </a:xfrm>
          <a:prstGeom prst="line">
            <a:avLst/>
          </a:prstGeom>
          <a:noFill/>
          <a:ln w="6350">
            <a:solidFill>
              <a:srgbClr val="94A3B8">
                <a:alpha val="6000"/>
              </a:srgbClr>
            </a:solidFill>
            <a:prstDash val="solid"/>
          </a:ln>
        </p:spPr>
      </p:sp>
      <p:sp>
        <p:nvSpPr>
          <p:cNvPr id="23" name="Shape 21"/>
          <p:cNvSpPr/>
          <p:nvPr/>
        </p:nvSpPr>
        <p:spPr>
          <a:xfrm>
            <a:off x="10241024" y="0"/>
            <a:ext cx="0" cy="6858000"/>
          </a:xfrm>
          <a:prstGeom prst="line">
            <a:avLst/>
          </a:prstGeom>
          <a:noFill/>
          <a:ln w="6350">
            <a:solidFill>
              <a:srgbClr val="94A3B8">
                <a:alpha val="6000"/>
              </a:srgbClr>
            </a:solidFill>
            <a:prstDash val="solid"/>
          </a:ln>
        </p:spPr>
      </p:sp>
      <p:sp>
        <p:nvSpPr>
          <p:cNvPr id="24" name="Shape 22"/>
          <p:cNvSpPr/>
          <p:nvPr/>
        </p:nvSpPr>
        <p:spPr>
          <a:xfrm>
            <a:off x="10728692" y="0"/>
            <a:ext cx="0" cy="6858000"/>
          </a:xfrm>
          <a:prstGeom prst="line">
            <a:avLst/>
          </a:prstGeom>
          <a:noFill/>
          <a:ln w="6350">
            <a:solidFill>
              <a:srgbClr val="94A3B8">
                <a:alpha val="6000"/>
              </a:srgbClr>
            </a:solidFill>
            <a:prstDash val="solid"/>
          </a:ln>
        </p:spPr>
      </p:sp>
      <p:sp>
        <p:nvSpPr>
          <p:cNvPr id="25" name="Shape 23"/>
          <p:cNvSpPr/>
          <p:nvPr/>
        </p:nvSpPr>
        <p:spPr>
          <a:xfrm>
            <a:off x="11216360" y="0"/>
            <a:ext cx="0" cy="6858000"/>
          </a:xfrm>
          <a:prstGeom prst="line">
            <a:avLst/>
          </a:prstGeom>
          <a:noFill/>
          <a:ln w="6350">
            <a:solidFill>
              <a:srgbClr val="94A3B8">
                <a:alpha val="6000"/>
              </a:srgbClr>
            </a:solidFill>
            <a:prstDash val="solid"/>
          </a:ln>
        </p:spPr>
      </p:sp>
      <p:sp>
        <p:nvSpPr>
          <p:cNvPr id="26" name="Shape 24"/>
          <p:cNvSpPr/>
          <p:nvPr/>
        </p:nvSpPr>
        <p:spPr>
          <a:xfrm>
            <a:off x="11704027" y="0"/>
            <a:ext cx="0" cy="6858000"/>
          </a:xfrm>
          <a:prstGeom prst="line">
            <a:avLst/>
          </a:prstGeom>
          <a:noFill/>
          <a:ln w="6350">
            <a:solidFill>
              <a:srgbClr val="94A3B8">
                <a:alpha val="6000"/>
              </a:srgbClr>
            </a:solidFill>
            <a:prstDash val="solid"/>
          </a:ln>
        </p:spPr>
      </p:sp>
      <p:sp>
        <p:nvSpPr>
          <p:cNvPr id="27" name="Shape 25"/>
          <p:cNvSpPr/>
          <p:nvPr/>
        </p:nvSpPr>
        <p:spPr>
          <a:xfrm>
            <a:off x="12191695" y="0"/>
            <a:ext cx="0" cy="6858000"/>
          </a:xfrm>
          <a:prstGeom prst="line">
            <a:avLst/>
          </a:prstGeom>
          <a:noFill/>
          <a:ln w="6350">
            <a:solidFill>
              <a:srgbClr val="94A3B8">
                <a:alpha val="6000"/>
              </a:srgbClr>
            </a:solidFill>
            <a:prstDash val="solid"/>
          </a:ln>
        </p:spPr>
      </p:sp>
      <p:sp>
        <p:nvSpPr>
          <p:cNvPr id="28" name="Shape 26"/>
          <p:cNvSpPr/>
          <p:nvPr/>
        </p:nvSpPr>
        <p:spPr>
          <a:xfrm>
            <a:off x="0" y="0"/>
            <a:ext cx="12191695" cy="0"/>
          </a:xfrm>
          <a:prstGeom prst="line">
            <a:avLst/>
          </a:prstGeom>
          <a:noFill/>
          <a:ln w="6350">
            <a:solidFill>
              <a:srgbClr val="94A3B8">
                <a:alpha val="6000"/>
              </a:srgbClr>
            </a:solidFill>
            <a:prstDash val="solid"/>
          </a:ln>
        </p:spPr>
      </p:sp>
      <p:sp>
        <p:nvSpPr>
          <p:cNvPr id="29" name="Shape 27"/>
          <p:cNvSpPr/>
          <p:nvPr/>
        </p:nvSpPr>
        <p:spPr>
          <a:xfrm>
            <a:off x="0" y="487668"/>
            <a:ext cx="12191695" cy="0"/>
          </a:xfrm>
          <a:prstGeom prst="line">
            <a:avLst/>
          </a:prstGeom>
          <a:noFill/>
          <a:ln w="6350">
            <a:solidFill>
              <a:srgbClr val="94A3B8">
                <a:alpha val="6000"/>
              </a:srgbClr>
            </a:solidFill>
            <a:prstDash val="solid"/>
          </a:ln>
        </p:spPr>
      </p:sp>
      <p:sp>
        <p:nvSpPr>
          <p:cNvPr id="30" name="Shape 28"/>
          <p:cNvSpPr/>
          <p:nvPr/>
        </p:nvSpPr>
        <p:spPr>
          <a:xfrm>
            <a:off x="0" y="975336"/>
            <a:ext cx="12191695" cy="0"/>
          </a:xfrm>
          <a:prstGeom prst="line">
            <a:avLst/>
          </a:prstGeom>
          <a:noFill/>
          <a:ln w="6350">
            <a:solidFill>
              <a:srgbClr val="94A3B8">
                <a:alpha val="6000"/>
              </a:srgbClr>
            </a:solidFill>
            <a:prstDash val="solid"/>
          </a:ln>
        </p:spPr>
      </p:sp>
      <p:sp>
        <p:nvSpPr>
          <p:cNvPr id="31" name="Shape 29"/>
          <p:cNvSpPr/>
          <p:nvPr/>
        </p:nvSpPr>
        <p:spPr>
          <a:xfrm>
            <a:off x="0" y="1463003"/>
            <a:ext cx="12191695" cy="0"/>
          </a:xfrm>
          <a:prstGeom prst="line">
            <a:avLst/>
          </a:prstGeom>
          <a:noFill/>
          <a:ln w="6350">
            <a:solidFill>
              <a:srgbClr val="94A3B8">
                <a:alpha val="6000"/>
              </a:srgbClr>
            </a:solidFill>
            <a:prstDash val="solid"/>
          </a:ln>
        </p:spPr>
      </p:sp>
      <p:sp>
        <p:nvSpPr>
          <p:cNvPr id="32" name="Shape 30"/>
          <p:cNvSpPr/>
          <p:nvPr/>
        </p:nvSpPr>
        <p:spPr>
          <a:xfrm>
            <a:off x="0" y="1950671"/>
            <a:ext cx="12191695" cy="0"/>
          </a:xfrm>
          <a:prstGeom prst="line">
            <a:avLst/>
          </a:prstGeom>
          <a:noFill/>
          <a:ln w="6350">
            <a:solidFill>
              <a:srgbClr val="94A3B8">
                <a:alpha val="6000"/>
              </a:srgbClr>
            </a:solidFill>
            <a:prstDash val="solid"/>
          </a:ln>
        </p:spPr>
      </p:sp>
      <p:sp>
        <p:nvSpPr>
          <p:cNvPr id="33" name="Shape 31"/>
          <p:cNvSpPr/>
          <p:nvPr/>
        </p:nvSpPr>
        <p:spPr>
          <a:xfrm>
            <a:off x="0" y="2438339"/>
            <a:ext cx="12191695" cy="0"/>
          </a:xfrm>
          <a:prstGeom prst="line">
            <a:avLst/>
          </a:prstGeom>
          <a:noFill/>
          <a:ln w="6350">
            <a:solidFill>
              <a:srgbClr val="94A3B8">
                <a:alpha val="6000"/>
              </a:srgbClr>
            </a:solidFill>
            <a:prstDash val="solid"/>
          </a:ln>
        </p:spPr>
      </p:sp>
      <p:sp>
        <p:nvSpPr>
          <p:cNvPr id="34" name="Shape 32"/>
          <p:cNvSpPr/>
          <p:nvPr/>
        </p:nvSpPr>
        <p:spPr>
          <a:xfrm>
            <a:off x="0" y="2926007"/>
            <a:ext cx="12191695" cy="0"/>
          </a:xfrm>
          <a:prstGeom prst="line">
            <a:avLst/>
          </a:prstGeom>
          <a:noFill/>
          <a:ln w="6350">
            <a:solidFill>
              <a:srgbClr val="94A3B8">
                <a:alpha val="6000"/>
              </a:srgbClr>
            </a:solidFill>
            <a:prstDash val="solid"/>
          </a:ln>
        </p:spPr>
      </p:sp>
      <p:sp>
        <p:nvSpPr>
          <p:cNvPr id="35" name="Shape 33"/>
          <p:cNvSpPr/>
          <p:nvPr/>
        </p:nvSpPr>
        <p:spPr>
          <a:xfrm>
            <a:off x="0" y="3413675"/>
            <a:ext cx="12191695" cy="0"/>
          </a:xfrm>
          <a:prstGeom prst="line">
            <a:avLst/>
          </a:prstGeom>
          <a:noFill/>
          <a:ln w="6350">
            <a:solidFill>
              <a:srgbClr val="94A3B8">
                <a:alpha val="6000"/>
              </a:srgbClr>
            </a:solidFill>
            <a:prstDash val="solid"/>
          </a:ln>
        </p:spPr>
      </p:sp>
      <p:sp>
        <p:nvSpPr>
          <p:cNvPr id="36" name="Shape 34"/>
          <p:cNvSpPr/>
          <p:nvPr/>
        </p:nvSpPr>
        <p:spPr>
          <a:xfrm>
            <a:off x="0" y="3901342"/>
            <a:ext cx="12191695" cy="0"/>
          </a:xfrm>
          <a:prstGeom prst="line">
            <a:avLst/>
          </a:prstGeom>
          <a:noFill/>
          <a:ln w="6350">
            <a:solidFill>
              <a:srgbClr val="94A3B8">
                <a:alpha val="6000"/>
              </a:srgbClr>
            </a:solidFill>
            <a:prstDash val="solid"/>
          </a:ln>
        </p:spPr>
      </p:sp>
      <p:sp>
        <p:nvSpPr>
          <p:cNvPr id="37" name="Shape 35"/>
          <p:cNvSpPr/>
          <p:nvPr/>
        </p:nvSpPr>
        <p:spPr>
          <a:xfrm>
            <a:off x="0" y="4389010"/>
            <a:ext cx="12191695" cy="0"/>
          </a:xfrm>
          <a:prstGeom prst="line">
            <a:avLst/>
          </a:prstGeom>
          <a:noFill/>
          <a:ln w="6350">
            <a:solidFill>
              <a:srgbClr val="94A3B8">
                <a:alpha val="6000"/>
              </a:srgbClr>
            </a:solidFill>
            <a:prstDash val="solid"/>
          </a:ln>
        </p:spPr>
      </p:sp>
      <p:sp>
        <p:nvSpPr>
          <p:cNvPr id="38" name="Shape 36"/>
          <p:cNvSpPr/>
          <p:nvPr/>
        </p:nvSpPr>
        <p:spPr>
          <a:xfrm>
            <a:off x="0" y="4876678"/>
            <a:ext cx="12191695" cy="0"/>
          </a:xfrm>
          <a:prstGeom prst="line">
            <a:avLst/>
          </a:prstGeom>
          <a:noFill/>
          <a:ln w="6350">
            <a:solidFill>
              <a:srgbClr val="94A3B8">
                <a:alpha val="6000"/>
              </a:srgbClr>
            </a:solidFill>
            <a:prstDash val="solid"/>
          </a:ln>
        </p:spPr>
      </p:sp>
      <p:sp>
        <p:nvSpPr>
          <p:cNvPr id="39" name="Shape 37"/>
          <p:cNvSpPr/>
          <p:nvPr/>
        </p:nvSpPr>
        <p:spPr>
          <a:xfrm>
            <a:off x="0" y="5364346"/>
            <a:ext cx="12191695" cy="0"/>
          </a:xfrm>
          <a:prstGeom prst="line">
            <a:avLst/>
          </a:prstGeom>
          <a:noFill/>
          <a:ln w="6350">
            <a:solidFill>
              <a:srgbClr val="94A3B8">
                <a:alpha val="6000"/>
              </a:srgbClr>
            </a:solidFill>
            <a:prstDash val="solid"/>
          </a:ln>
        </p:spPr>
      </p:sp>
      <p:sp>
        <p:nvSpPr>
          <p:cNvPr id="40" name="Shape 38"/>
          <p:cNvSpPr/>
          <p:nvPr/>
        </p:nvSpPr>
        <p:spPr>
          <a:xfrm>
            <a:off x="0" y="5852014"/>
            <a:ext cx="12191695" cy="0"/>
          </a:xfrm>
          <a:prstGeom prst="line">
            <a:avLst/>
          </a:prstGeom>
          <a:noFill/>
          <a:ln w="6350">
            <a:solidFill>
              <a:srgbClr val="94A3B8">
                <a:alpha val="6000"/>
              </a:srgbClr>
            </a:solidFill>
            <a:prstDash val="solid"/>
          </a:ln>
        </p:spPr>
      </p:sp>
      <p:sp>
        <p:nvSpPr>
          <p:cNvPr id="41" name="Shape 39"/>
          <p:cNvSpPr/>
          <p:nvPr/>
        </p:nvSpPr>
        <p:spPr>
          <a:xfrm>
            <a:off x="0" y="6339682"/>
            <a:ext cx="12191695" cy="0"/>
          </a:xfrm>
          <a:prstGeom prst="line">
            <a:avLst/>
          </a:prstGeom>
          <a:noFill/>
          <a:ln w="6350">
            <a:solidFill>
              <a:srgbClr val="94A3B8">
                <a:alpha val="6000"/>
              </a:srgbClr>
            </a:solidFill>
            <a:prstDash val="solid"/>
          </a:ln>
        </p:spPr>
      </p:sp>
      <p:sp>
        <p:nvSpPr>
          <p:cNvPr id="42" name="Shape 40"/>
          <p:cNvSpPr/>
          <p:nvPr/>
        </p:nvSpPr>
        <p:spPr>
          <a:xfrm>
            <a:off x="0" y="6827349"/>
            <a:ext cx="12191695" cy="0"/>
          </a:xfrm>
          <a:prstGeom prst="line">
            <a:avLst/>
          </a:prstGeom>
          <a:noFill/>
          <a:ln w="6350">
            <a:solidFill>
              <a:srgbClr val="94A3B8">
                <a:alpha val="6000"/>
              </a:srgbClr>
            </a:solidFill>
            <a:prstDash val="solid"/>
          </a:ln>
        </p:spPr>
      </p:sp>
      <p:sp>
        <p:nvSpPr>
          <p:cNvPr id="43" name="Text 41"/>
          <p:cNvSpPr/>
          <p:nvPr/>
        </p:nvSpPr>
        <p:spPr>
          <a:xfrm>
            <a:off x="609585" y="301752"/>
            <a:ext cx="5364346" cy="219456"/>
          </a:xfrm>
          <a:prstGeom prst="rect">
            <a:avLst/>
          </a:prstGeom>
          <a:noFill/>
          <a:ln/>
        </p:spPr>
        <p:txBody>
          <a:bodyPr wrap="square" lIns="0" tIns="0" rIns="0" bIns="0" rtlCol="0" anchor="ctr"/>
          <a:lstStyle/>
          <a:p>
            <a:pPr indent="0" marL="0">
              <a:buNone/>
            </a:pPr>
            <a:r>
              <a:rPr lang="en-US" sz="1100" spc="400" kern="0" dirty="0">
                <a:solidFill>
                  <a:srgbClr val="F59E0B"/>
                </a:solidFill>
                <a:latin typeface="IBM Plex Mono" pitchFamily="34" charset="0"/>
                <a:ea typeface="IBM Plex Mono" pitchFamily="34" charset="-122"/>
                <a:cs typeface="IBM Plex Mono" pitchFamily="34" charset="-120"/>
              </a:rPr>
              <a:t>Section 01 // The Stakes</a:t>
            </a:r>
            <a:endParaRPr lang="en-US" sz="1100" dirty="0"/>
          </a:p>
        </p:txBody>
      </p:sp>
      <p:sp>
        <p:nvSpPr>
          <p:cNvPr id="44" name="Shape 42"/>
          <p:cNvSpPr/>
          <p:nvPr/>
        </p:nvSpPr>
        <p:spPr>
          <a:xfrm>
            <a:off x="5973931" y="322326"/>
            <a:ext cx="2519172" cy="178308"/>
          </a:xfrm>
          <a:prstGeom prst="rect">
            <a:avLst/>
          </a:prstGeom>
          <a:solidFill>
            <a:srgbClr val="F59E0B"/>
          </a:solidFill>
          <a:ln/>
        </p:spPr>
      </p:sp>
      <p:sp>
        <p:nvSpPr>
          <p:cNvPr id="45" name="Text 43"/>
          <p:cNvSpPr/>
          <p:nvPr/>
        </p:nvSpPr>
        <p:spPr>
          <a:xfrm>
            <a:off x="5973931" y="322326"/>
            <a:ext cx="2519172" cy="178308"/>
          </a:xfrm>
          <a:prstGeom prst="rect">
            <a:avLst/>
          </a:prstGeom>
          <a:noFill/>
          <a:ln/>
        </p:spPr>
        <p:txBody>
          <a:bodyPr wrap="square" lIns="0" tIns="0" rIns="0" bIns="0" rtlCol="0" anchor="ctr"/>
          <a:lstStyle/>
          <a:p>
            <a:pPr algn="ctr" indent="0" marL="0">
              <a:buNone/>
            </a:pPr>
            <a:r>
              <a:rPr lang="en-US" sz="900" b="1" spc="250" kern="0" dirty="0">
                <a:solidFill>
                  <a:srgbClr val="0B1220"/>
                </a:solidFill>
                <a:latin typeface="IBM Plex Mono" pitchFamily="34" charset="0"/>
                <a:ea typeface="IBM Plex Mono" pitchFamily="34" charset="-122"/>
                <a:cs typeface="IBM Plex Mono" pitchFamily="34" charset="-120"/>
              </a:rPr>
              <a:t>THE GOLDEN HOUR IS GONE</a:t>
            </a:r>
            <a:endParaRPr lang="en-US" sz="900" dirty="0"/>
          </a:p>
        </p:txBody>
      </p:sp>
      <p:sp>
        <p:nvSpPr>
          <p:cNvPr id="46" name="Text 44"/>
          <p:cNvSpPr/>
          <p:nvPr/>
        </p:nvSpPr>
        <p:spPr>
          <a:xfrm>
            <a:off x="10362941" y="301752"/>
            <a:ext cx="1219170" cy="219456"/>
          </a:xfrm>
          <a:prstGeom prst="rect">
            <a:avLst/>
          </a:prstGeom>
          <a:noFill/>
          <a:ln/>
        </p:spPr>
        <p:txBody>
          <a:bodyPr wrap="square" lIns="0" tIns="0" rIns="0" bIns="0" rtlCol="0" anchor="ctr"/>
          <a:lstStyle/>
          <a:p>
            <a:pPr algn="r" indent="0" marL="0">
              <a:buNone/>
            </a:pPr>
            <a:r>
              <a:rPr lang="en-US" sz="1000" dirty="0">
                <a:solidFill>
                  <a:srgbClr val="94A3B8"/>
                </a:solidFill>
                <a:latin typeface="IBM Plex Mono" pitchFamily="34" charset="0"/>
                <a:ea typeface="IBM Plex Mono" pitchFamily="34" charset="-122"/>
                <a:cs typeface="IBM Plex Mono" pitchFamily="34" charset="-120"/>
              </a:rPr>
              <a:t>02 / 03</a:t>
            </a:r>
            <a:endParaRPr lang="en-US" sz="1000" dirty="0"/>
          </a:p>
        </p:txBody>
      </p:sp>
      <p:sp>
        <p:nvSpPr>
          <p:cNvPr id="47" name="Text 45"/>
          <p:cNvSpPr/>
          <p:nvPr/>
        </p:nvSpPr>
        <p:spPr>
          <a:xfrm>
            <a:off x="609585" y="822960"/>
            <a:ext cx="10241024" cy="754380"/>
          </a:xfrm>
          <a:prstGeom prst="rect">
            <a:avLst/>
          </a:prstGeom>
          <a:noFill/>
          <a:ln/>
        </p:spPr>
        <p:txBody>
          <a:bodyPr wrap="square" lIns="0" tIns="0" rIns="0" bIns="0" rtlCol="0" anchor="t"/>
          <a:lstStyle/>
          <a:p>
            <a:pPr indent="0" marL="0">
              <a:lnSpc>
                <a:spcPts val="3700"/>
              </a:lnSpc>
              <a:buNone/>
            </a:pPr>
            <a:r>
              <a:rPr lang="en-US" sz="2900" b="1" dirty="0">
                <a:solidFill>
                  <a:srgbClr val="E5E7EB"/>
                </a:solidFill>
                <a:latin typeface="Space Grotesk" pitchFamily="34" charset="0"/>
                <a:ea typeface="Space Grotesk" pitchFamily="34" charset="-122"/>
                <a:cs typeface="Space Grotesk" pitchFamily="34" charset="-120"/>
              </a:rPr>
              <a:t>By the time he </a:t>
            </a:r>
            <a:pPr indent="0" marL="0">
              <a:lnSpc>
                <a:spcPts val="3700"/>
              </a:lnSpc>
              <a:buNone/>
            </a:pPr>
            <a:r>
              <a:rPr lang="en-US" sz="2900" b="1" i="1" dirty="0">
                <a:solidFill>
                  <a:srgbClr val="F59E0B"/>
                </a:solidFill>
                <a:latin typeface="Space Grotesk" pitchFamily="34" charset="0"/>
                <a:ea typeface="Space Grotesk" pitchFamily="34" charset="-122"/>
                <a:cs typeface="Space Grotesk" pitchFamily="34" charset="-120"/>
              </a:rPr>
              <a:t>looks</a:t>
            </a:r>
            <a:pPr indent="0" marL="0">
              <a:lnSpc>
                <a:spcPts val="3700"/>
              </a:lnSpc>
              <a:buNone/>
            </a:pPr>
            <a:r>
              <a:rPr lang="en-US" sz="2900" b="1" dirty="0">
                <a:solidFill>
                  <a:srgbClr val="E5E7EB"/>
                </a:solidFill>
                <a:latin typeface="Space Grotesk" pitchFamily="34" charset="0"/>
                <a:ea typeface="Space Grotesk" pitchFamily="34" charset="-122"/>
                <a:cs typeface="Space Grotesk" pitchFamily="34" charset="-120"/>
              </a:rPr>
              <a:t> like he is crashing, the window to reach him has already closed.</a:t>
            </a:r>
            <a:endParaRPr lang="en-US" sz="2900" dirty="0"/>
          </a:p>
        </p:txBody>
      </p:sp>
      <p:sp>
        <p:nvSpPr>
          <p:cNvPr id="48" name="Text 46"/>
          <p:cNvSpPr/>
          <p:nvPr/>
        </p:nvSpPr>
        <p:spPr>
          <a:xfrm>
            <a:off x="609585" y="1680210"/>
            <a:ext cx="10241024" cy="274320"/>
          </a:xfrm>
          <a:prstGeom prst="rect">
            <a:avLst/>
          </a:prstGeom>
          <a:noFill/>
          <a:ln/>
        </p:spPr>
        <p:txBody>
          <a:bodyPr wrap="square" lIns="0" tIns="0" rIns="0" bIns="0" rtlCol="0" anchor="ctr"/>
          <a:lstStyle/>
          <a:p>
            <a:pPr indent="0" marL="0">
              <a:buNone/>
            </a:pPr>
            <a:r>
              <a:rPr lang="en-US" sz="1050" spc="200" kern="0" dirty="0">
                <a:solidFill>
                  <a:srgbClr val="94A3B8"/>
                </a:solidFill>
                <a:latin typeface="IBM Plex Mono" pitchFamily="34" charset="0"/>
                <a:ea typeface="IBM Plex Mono" pitchFamily="34" charset="-122"/>
                <a:cs typeface="IBM Plex Mono" pitchFamily="34" charset="-120"/>
              </a:rPr>
              <a:t>Today: nearest available aircraft  ·  batched requests  ·  triage category, not a clock</a:t>
            </a:r>
            <a:endParaRPr lang="en-US" sz="1050" dirty="0"/>
          </a:p>
        </p:txBody>
      </p:sp>
      <p:sp>
        <p:nvSpPr>
          <p:cNvPr id="49" name="Shape 47"/>
          <p:cNvSpPr/>
          <p:nvPr/>
        </p:nvSpPr>
        <p:spPr>
          <a:xfrm>
            <a:off x="609585" y="2125980"/>
            <a:ext cx="2651694" cy="3771900"/>
          </a:xfrm>
          <a:prstGeom prst="rect">
            <a:avLst/>
          </a:prstGeom>
          <a:solidFill>
            <a:srgbClr val="111827"/>
          </a:solidFill>
          <a:ln w="12700">
            <a:solidFill>
              <a:srgbClr val="1F2937"/>
            </a:solidFill>
            <a:prstDash val="solid"/>
          </a:ln>
        </p:spPr>
      </p:sp>
      <p:sp>
        <p:nvSpPr>
          <p:cNvPr id="50" name="Shape 48"/>
          <p:cNvSpPr/>
          <p:nvPr/>
        </p:nvSpPr>
        <p:spPr>
          <a:xfrm>
            <a:off x="713214" y="2259711"/>
            <a:ext cx="77724" cy="77724"/>
          </a:xfrm>
          <a:prstGeom prst="ellipse">
            <a:avLst/>
          </a:prstGeom>
          <a:solidFill>
            <a:srgbClr val="EF4444"/>
          </a:solidFill>
          <a:ln/>
        </p:spPr>
      </p:sp>
      <p:sp>
        <p:nvSpPr>
          <p:cNvPr id="51" name="Text 49"/>
          <p:cNvSpPr/>
          <p:nvPr/>
        </p:nvSpPr>
        <p:spPr>
          <a:xfrm>
            <a:off x="850374" y="2201418"/>
            <a:ext cx="2307275" cy="178308"/>
          </a:xfrm>
          <a:prstGeom prst="rect">
            <a:avLst/>
          </a:prstGeom>
          <a:noFill/>
          <a:ln/>
        </p:spPr>
        <p:txBody>
          <a:bodyPr wrap="square" lIns="0" tIns="0" rIns="0" bIns="0" rtlCol="0" anchor="ctr"/>
          <a:lstStyle/>
          <a:p>
            <a:pPr indent="0" marL="0">
              <a:buNone/>
            </a:pPr>
            <a:r>
              <a:rPr lang="en-US" sz="900" spc="250" kern="0" dirty="0">
                <a:solidFill>
                  <a:srgbClr val="EF4444"/>
                </a:solidFill>
                <a:latin typeface="IBM Plex Mono" pitchFamily="34" charset="0"/>
                <a:ea typeface="IBM Plex Mono" pitchFamily="34" charset="-122"/>
                <a:cs typeface="IBM Plex Mono" pitchFamily="34" charset="-120"/>
              </a:rPr>
              <a:t>TIER 1  ·  DISTANCE</a:t>
            </a:r>
            <a:endParaRPr lang="en-US" sz="900" dirty="0"/>
          </a:p>
        </p:txBody>
      </p:sp>
      <p:sp>
        <p:nvSpPr>
          <p:cNvPr id="52" name="Shape 50"/>
          <p:cNvSpPr/>
          <p:nvPr/>
        </p:nvSpPr>
        <p:spPr>
          <a:xfrm>
            <a:off x="713214" y="2420874"/>
            <a:ext cx="2444435" cy="0"/>
          </a:xfrm>
          <a:prstGeom prst="line">
            <a:avLst/>
          </a:prstGeom>
          <a:noFill/>
          <a:ln w="12700">
            <a:solidFill>
              <a:srgbClr val="1F2937"/>
            </a:solidFill>
            <a:prstDash val="solid"/>
          </a:ln>
        </p:spPr>
      </p:sp>
      <p:sp>
        <p:nvSpPr>
          <p:cNvPr id="53" name="Text 51"/>
          <p:cNvSpPr/>
          <p:nvPr/>
        </p:nvSpPr>
        <p:spPr>
          <a:xfrm>
            <a:off x="713214" y="2496312"/>
            <a:ext cx="2444435" cy="763433"/>
          </a:xfrm>
          <a:prstGeom prst="rect">
            <a:avLst/>
          </a:prstGeom>
          <a:noFill/>
          <a:ln/>
        </p:spPr>
        <p:txBody>
          <a:bodyPr wrap="square" lIns="0" tIns="0" rIns="0" bIns="0" rtlCol="0" anchor="t"/>
          <a:lstStyle/>
          <a:p>
            <a:pPr indent="0" marL="0">
              <a:lnSpc>
                <a:spcPts val="1350"/>
              </a:lnSpc>
              <a:buNone/>
            </a:pPr>
            <a:r>
              <a:rPr lang="en-US" sz="1200" b="1" dirty="0">
                <a:solidFill>
                  <a:srgbClr val="E5E7EB"/>
                </a:solidFill>
                <a:latin typeface="Space Grotesk" pitchFamily="34" charset="0"/>
                <a:ea typeface="Space Grotesk" pitchFamily="34" charset="-122"/>
                <a:cs typeface="Space Grotesk" pitchFamily="34" charset="-120"/>
              </a:rPr>
              <a:t>No Role 3 forward</a:t>
            </a:r>
            <a:endParaRPr lang="en-US" sz="1200" dirty="0"/>
          </a:p>
        </p:txBody>
      </p:sp>
      <p:sp>
        <p:nvSpPr>
          <p:cNvPr id="54" name="Text 52"/>
          <p:cNvSpPr/>
          <p:nvPr/>
        </p:nvSpPr>
        <p:spPr>
          <a:xfrm>
            <a:off x="713214" y="3243148"/>
            <a:ext cx="2444435" cy="912800"/>
          </a:xfrm>
          <a:prstGeom prst="rect">
            <a:avLst/>
          </a:prstGeom>
          <a:noFill/>
          <a:ln/>
        </p:spPr>
        <p:txBody>
          <a:bodyPr wrap="square" lIns="0" tIns="0" rIns="0" bIns="0" rtlCol="0" anchor="t"/>
          <a:lstStyle/>
          <a:p>
            <a:pPr indent="0" marL="0">
              <a:lnSpc>
                <a:spcPts val="1100"/>
              </a:lnSpc>
              <a:buNone/>
            </a:pPr>
            <a:r>
              <a:rPr lang="en-US" sz="900" dirty="0">
                <a:solidFill>
                  <a:srgbClr val="94A3B8"/>
                </a:solidFill>
                <a:latin typeface="IBM Plex Sans" pitchFamily="34" charset="0"/>
                <a:ea typeface="IBM Plex Sans" pitchFamily="34" charset="-122"/>
                <a:cs typeface="IBM Plex Sans" pitchFamily="34" charset="-120"/>
              </a:rPr>
              <a:t>Strategic evacuation from the first island chain is 72+ hours</a:t>
            </a:r>
            <a:endParaRPr lang="en-US" sz="900" dirty="0"/>
          </a:p>
        </p:txBody>
      </p:sp>
      <p:sp>
        <p:nvSpPr>
          <p:cNvPr id="55" name="Text 53"/>
          <p:cNvSpPr/>
          <p:nvPr/>
        </p:nvSpPr>
        <p:spPr>
          <a:xfrm>
            <a:off x="713214" y="4155948"/>
            <a:ext cx="2444435" cy="763433"/>
          </a:xfrm>
          <a:prstGeom prst="rect">
            <a:avLst/>
          </a:prstGeom>
          <a:noFill/>
          <a:ln/>
        </p:spPr>
        <p:txBody>
          <a:bodyPr wrap="square" lIns="0" tIns="0" rIns="0" bIns="0" rtlCol="0" anchor="t"/>
          <a:lstStyle/>
          <a:p>
            <a:pPr indent="0" marL="0">
              <a:lnSpc>
                <a:spcPts val="1350"/>
              </a:lnSpc>
              <a:buNone/>
            </a:pPr>
            <a:r>
              <a:rPr lang="en-US" sz="1200" b="1" dirty="0">
                <a:solidFill>
                  <a:srgbClr val="E5E7EB"/>
                </a:solidFill>
                <a:latin typeface="Space Grotesk" pitchFamily="34" charset="0"/>
                <a:ea typeface="Space Grotesk" pitchFamily="34" charset="-122"/>
                <a:cs typeface="Space Grotesk" pitchFamily="34" charset="-120"/>
              </a:rPr>
              <a:t>The medic cannot move</a:t>
            </a:r>
            <a:endParaRPr lang="en-US" sz="1200" dirty="0"/>
          </a:p>
        </p:txBody>
      </p:sp>
      <p:sp>
        <p:nvSpPr>
          <p:cNvPr id="56" name="Text 54"/>
          <p:cNvSpPr/>
          <p:nvPr/>
        </p:nvSpPr>
        <p:spPr>
          <a:xfrm>
            <a:off x="713214" y="4902784"/>
            <a:ext cx="2444435" cy="912800"/>
          </a:xfrm>
          <a:prstGeom prst="rect">
            <a:avLst/>
          </a:prstGeom>
          <a:noFill/>
          <a:ln/>
        </p:spPr>
        <p:txBody>
          <a:bodyPr wrap="square" lIns="0" tIns="0" rIns="0" bIns="0" rtlCol="0" anchor="t"/>
          <a:lstStyle/>
          <a:p>
            <a:pPr indent="0" marL="0">
              <a:lnSpc>
                <a:spcPts val="1100"/>
              </a:lnSpc>
              <a:buNone/>
            </a:pPr>
            <a:r>
              <a:rPr lang="en-US" sz="900" dirty="0">
                <a:solidFill>
                  <a:srgbClr val="94A3B8"/>
                </a:solidFill>
                <a:latin typeface="IBM Plex Sans" pitchFamily="34" charset="0"/>
                <a:ea typeface="IBM Plex Sans" pitchFamily="34" charset="-122"/>
                <a:cs typeface="IBM Plex Sans" pitchFamily="34" charset="-120"/>
              </a:rPr>
              <a:t>Persistent FPV observation; ground evacuation is targeted</a:t>
            </a:r>
            <a:endParaRPr lang="en-US" sz="900" dirty="0"/>
          </a:p>
        </p:txBody>
      </p:sp>
      <p:sp>
        <p:nvSpPr>
          <p:cNvPr id="57" name="Shape 55"/>
          <p:cNvSpPr/>
          <p:nvPr/>
        </p:nvSpPr>
        <p:spPr>
          <a:xfrm>
            <a:off x="3383195" y="2125980"/>
            <a:ext cx="2651694" cy="3771900"/>
          </a:xfrm>
          <a:prstGeom prst="rect">
            <a:avLst/>
          </a:prstGeom>
          <a:solidFill>
            <a:srgbClr val="111827"/>
          </a:solidFill>
          <a:ln w="12700">
            <a:solidFill>
              <a:srgbClr val="1F2937"/>
            </a:solidFill>
            <a:prstDash val="solid"/>
          </a:ln>
        </p:spPr>
      </p:sp>
      <p:sp>
        <p:nvSpPr>
          <p:cNvPr id="58" name="Shape 56"/>
          <p:cNvSpPr/>
          <p:nvPr/>
        </p:nvSpPr>
        <p:spPr>
          <a:xfrm>
            <a:off x="3486825" y="2259711"/>
            <a:ext cx="77724" cy="77724"/>
          </a:xfrm>
          <a:prstGeom prst="ellipse">
            <a:avLst/>
          </a:prstGeom>
          <a:solidFill>
            <a:srgbClr val="EF4444"/>
          </a:solidFill>
          <a:ln/>
        </p:spPr>
      </p:sp>
      <p:sp>
        <p:nvSpPr>
          <p:cNvPr id="59" name="Text 57"/>
          <p:cNvSpPr/>
          <p:nvPr/>
        </p:nvSpPr>
        <p:spPr>
          <a:xfrm>
            <a:off x="3623985" y="2201418"/>
            <a:ext cx="2307275" cy="178308"/>
          </a:xfrm>
          <a:prstGeom prst="rect">
            <a:avLst/>
          </a:prstGeom>
          <a:noFill/>
          <a:ln/>
        </p:spPr>
        <p:txBody>
          <a:bodyPr wrap="square" lIns="0" tIns="0" rIns="0" bIns="0" rtlCol="0" anchor="ctr"/>
          <a:lstStyle/>
          <a:p>
            <a:pPr indent="0" marL="0">
              <a:buNone/>
            </a:pPr>
            <a:r>
              <a:rPr lang="en-US" sz="900" spc="250" kern="0" dirty="0">
                <a:solidFill>
                  <a:srgbClr val="EF4444"/>
                </a:solidFill>
                <a:latin typeface="IBM Plex Mono" pitchFamily="34" charset="0"/>
                <a:ea typeface="IBM Plex Mono" pitchFamily="34" charset="-122"/>
                <a:cs typeface="IBM Plex Mono" pitchFamily="34" charset="-120"/>
              </a:rPr>
              <a:t>TIER 1  ·  SUPPLY</a:t>
            </a:r>
            <a:endParaRPr lang="en-US" sz="900" dirty="0"/>
          </a:p>
        </p:txBody>
      </p:sp>
      <p:sp>
        <p:nvSpPr>
          <p:cNvPr id="60" name="Shape 58"/>
          <p:cNvSpPr/>
          <p:nvPr/>
        </p:nvSpPr>
        <p:spPr>
          <a:xfrm>
            <a:off x="3486825" y="2420874"/>
            <a:ext cx="2444435" cy="0"/>
          </a:xfrm>
          <a:prstGeom prst="line">
            <a:avLst/>
          </a:prstGeom>
          <a:noFill/>
          <a:ln w="12700">
            <a:solidFill>
              <a:srgbClr val="1F2937"/>
            </a:solidFill>
            <a:prstDash val="solid"/>
          </a:ln>
        </p:spPr>
      </p:sp>
      <p:sp>
        <p:nvSpPr>
          <p:cNvPr id="61" name="Text 59"/>
          <p:cNvSpPr/>
          <p:nvPr/>
        </p:nvSpPr>
        <p:spPr>
          <a:xfrm>
            <a:off x="3486825" y="2496312"/>
            <a:ext cx="2444435" cy="763433"/>
          </a:xfrm>
          <a:prstGeom prst="rect">
            <a:avLst/>
          </a:prstGeom>
          <a:noFill/>
          <a:ln/>
        </p:spPr>
        <p:txBody>
          <a:bodyPr wrap="square" lIns="0" tIns="0" rIns="0" bIns="0" rtlCol="0" anchor="t"/>
          <a:lstStyle/>
          <a:p>
            <a:pPr indent="0" marL="0">
              <a:lnSpc>
                <a:spcPts val="1350"/>
              </a:lnSpc>
              <a:buNone/>
            </a:pPr>
            <a:r>
              <a:rPr lang="en-US" sz="1200" b="1" dirty="0">
                <a:solidFill>
                  <a:srgbClr val="E5E7EB"/>
                </a:solidFill>
                <a:latin typeface="Space Grotesk" pitchFamily="34" charset="0"/>
                <a:ea typeface="Space Grotesk" pitchFamily="34" charset="-122"/>
                <a:cs typeface="Space Grotesk" pitchFamily="34" charset="-120"/>
              </a:rPr>
              <a:t>Blood is the binding item</a:t>
            </a:r>
            <a:endParaRPr lang="en-US" sz="1200" dirty="0"/>
          </a:p>
        </p:txBody>
      </p:sp>
      <p:sp>
        <p:nvSpPr>
          <p:cNvPr id="62" name="Text 60"/>
          <p:cNvSpPr/>
          <p:nvPr/>
        </p:nvSpPr>
        <p:spPr>
          <a:xfrm>
            <a:off x="3486825" y="3243148"/>
            <a:ext cx="2444435" cy="912800"/>
          </a:xfrm>
          <a:prstGeom prst="rect">
            <a:avLst/>
          </a:prstGeom>
          <a:noFill/>
          <a:ln/>
        </p:spPr>
        <p:txBody>
          <a:bodyPr wrap="square" lIns="0" tIns="0" rIns="0" bIns="0" rtlCol="0" anchor="t"/>
          <a:lstStyle/>
          <a:p>
            <a:pPr indent="0" marL="0">
              <a:lnSpc>
                <a:spcPts val="1100"/>
              </a:lnSpc>
              <a:buNone/>
            </a:pPr>
            <a:r>
              <a:rPr lang="en-US" sz="900" dirty="0">
                <a:solidFill>
                  <a:srgbClr val="94A3B8"/>
                </a:solidFill>
                <a:latin typeface="IBM Plex Sans" pitchFamily="34" charset="0"/>
                <a:ea typeface="IBM Plex Sans" pitchFamily="34" charset="-122"/>
                <a:cs typeface="IBM Plex Sans" pitchFamily="34" charset="-120"/>
              </a:rPr>
              <a:t>Conventional resupply to a forward surgical team fails in a median of 2 days above 30 casualties a day</a:t>
            </a:r>
            <a:endParaRPr lang="en-US" sz="900" dirty="0"/>
          </a:p>
        </p:txBody>
      </p:sp>
      <p:sp>
        <p:nvSpPr>
          <p:cNvPr id="63" name="Text 61"/>
          <p:cNvSpPr/>
          <p:nvPr/>
        </p:nvSpPr>
        <p:spPr>
          <a:xfrm>
            <a:off x="3486825" y="4155948"/>
            <a:ext cx="2444435" cy="763433"/>
          </a:xfrm>
          <a:prstGeom prst="rect">
            <a:avLst/>
          </a:prstGeom>
          <a:noFill/>
          <a:ln/>
        </p:spPr>
        <p:txBody>
          <a:bodyPr wrap="square" lIns="0" tIns="0" rIns="0" bIns="0" rtlCol="0" anchor="t"/>
          <a:lstStyle/>
          <a:p>
            <a:pPr indent="0" marL="0">
              <a:lnSpc>
                <a:spcPts val="1350"/>
              </a:lnSpc>
              <a:buNone/>
            </a:pPr>
            <a:r>
              <a:rPr lang="en-US" sz="1200" b="1" dirty="0">
                <a:solidFill>
                  <a:srgbClr val="E5E7EB"/>
                </a:solidFill>
                <a:latin typeface="Space Grotesk" pitchFamily="34" charset="0"/>
                <a:ea typeface="Space Grotesk" pitchFamily="34" charset="-122"/>
                <a:cs typeface="Space Grotesk" pitchFamily="34" charset="-120"/>
              </a:rPr>
              <a:t>Every wasted unit is a person</a:t>
            </a:r>
            <a:endParaRPr lang="en-US" sz="1200" dirty="0"/>
          </a:p>
        </p:txBody>
      </p:sp>
      <p:sp>
        <p:nvSpPr>
          <p:cNvPr id="64" name="Text 62"/>
          <p:cNvSpPr/>
          <p:nvPr/>
        </p:nvSpPr>
        <p:spPr>
          <a:xfrm>
            <a:off x="3486825" y="4902784"/>
            <a:ext cx="2444435" cy="912800"/>
          </a:xfrm>
          <a:prstGeom prst="rect">
            <a:avLst/>
          </a:prstGeom>
          <a:noFill/>
          <a:ln/>
        </p:spPr>
        <p:txBody>
          <a:bodyPr wrap="square" lIns="0" tIns="0" rIns="0" bIns="0" rtlCol="0" anchor="t"/>
          <a:lstStyle/>
          <a:p>
            <a:pPr indent="0" marL="0">
              <a:lnSpc>
                <a:spcPts val="1100"/>
              </a:lnSpc>
              <a:buNone/>
            </a:pPr>
            <a:r>
              <a:rPr lang="en-US" sz="900" dirty="0">
                <a:solidFill>
                  <a:srgbClr val="94A3B8"/>
                </a:solidFill>
                <a:latin typeface="IBM Plex Sans" pitchFamily="34" charset="0"/>
                <a:ea typeface="IBM Plex Sans" pitchFamily="34" charset="-122"/>
                <a:cs typeface="IBM Plex Sans" pitchFamily="34" charset="-120"/>
              </a:rPr>
              <a:t>Product spent on someone who cannot use it is product denied to someone who can</a:t>
            </a:r>
            <a:endParaRPr lang="en-US" sz="900" dirty="0"/>
          </a:p>
        </p:txBody>
      </p:sp>
      <p:sp>
        <p:nvSpPr>
          <p:cNvPr id="65" name="Shape 63"/>
          <p:cNvSpPr/>
          <p:nvPr/>
        </p:nvSpPr>
        <p:spPr>
          <a:xfrm>
            <a:off x="6156806" y="2125980"/>
            <a:ext cx="2651694" cy="3771900"/>
          </a:xfrm>
          <a:prstGeom prst="rect">
            <a:avLst/>
          </a:prstGeom>
          <a:solidFill>
            <a:srgbClr val="111827"/>
          </a:solidFill>
          <a:ln w="12700">
            <a:solidFill>
              <a:srgbClr val="1F2937"/>
            </a:solidFill>
            <a:prstDash val="solid"/>
          </a:ln>
        </p:spPr>
      </p:sp>
      <p:sp>
        <p:nvSpPr>
          <p:cNvPr id="66" name="Shape 64"/>
          <p:cNvSpPr/>
          <p:nvPr/>
        </p:nvSpPr>
        <p:spPr>
          <a:xfrm>
            <a:off x="6260435" y="2259711"/>
            <a:ext cx="77724" cy="77724"/>
          </a:xfrm>
          <a:prstGeom prst="ellipse">
            <a:avLst/>
          </a:prstGeom>
          <a:solidFill>
            <a:srgbClr val="FB923C"/>
          </a:solidFill>
          <a:ln/>
        </p:spPr>
      </p:sp>
      <p:sp>
        <p:nvSpPr>
          <p:cNvPr id="67" name="Text 65"/>
          <p:cNvSpPr/>
          <p:nvPr/>
        </p:nvSpPr>
        <p:spPr>
          <a:xfrm>
            <a:off x="6397595" y="2201418"/>
            <a:ext cx="2307275" cy="178308"/>
          </a:xfrm>
          <a:prstGeom prst="rect">
            <a:avLst/>
          </a:prstGeom>
          <a:noFill/>
          <a:ln/>
        </p:spPr>
        <p:txBody>
          <a:bodyPr wrap="square" lIns="0" tIns="0" rIns="0" bIns="0" rtlCol="0" anchor="ctr"/>
          <a:lstStyle/>
          <a:p>
            <a:pPr indent="0" marL="0">
              <a:buNone/>
            </a:pPr>
            <a:r>
              <a:rPr lang="en-US" sz="900" spc="250" kern="0" dirty="0">
                <a:solidFill>
                  <a:srgbClr val="FB923C"/>
                </a:solidFill>
                <a:latin typeface="IBM Plex Mono" pitchFamily="34" charset="0"/>
                <a:ea typeface="IBM Plex Mono" pitchFamily="34" charset="-122"/>
                <a:cs typeface="IBM Plex Mono" pitchFamily="34" charset="-120"/>
              </a:rPr>
              <a:t>TIER 2  ·  THE SIGNAL</a:t>
            </a:r>
            <a:endParaRPr lang="en-US" sz="900" dirty="0"/>
          </a:p>
        </p:txBody>
      </p:sp>
      <p:sp>
        <p:nvSpPr>
          <p:cNvPr id="68" name="Shape 66"/>
          <p:cNvSpPr/>
          <p:nvPr/>
        </p:nvSpPr>
        <p:spPr>
          <a:xfrm>
            <a:off x="6260435" y="2420874"/>
            <a:ext cx="2444435" cy="0"/>
          </a:xfrm>
          <a:prstGeom prst="line">
            <a:avLst/>
          </a:prstGeom>
          <a:noFill/>
          <a:ln w="12700">
            <a:solidFill>
              <a:srgbClr val="1F2937"/>
            </a:solidFill>
            <a:prstDash val="solid"/>
          </a:ln>
        </p:spPr>
      </p:sp>
      <p:sp>
        <p:nvSpPr>
          <p:cNvPr id="69" name="Text 67"/>
          <p:cNvSpPr/>
          <p:nvPr/>
        </p:nvSpPr>
        <p:spPr>
          <a:xfrm>
            <a:off x="6260435" y="2496312"/>
            <a:ext cx="2444435" cy="763433"/>
          </a:xfrm>
          <a:prstGeom prst="rect">
            <a:avLst/>
          </a:prstGeom>
          <a:noFill/>
          <a:ln/>
        </p:spPr>
        <p:txBody>
          <a:bodyPr wrap="square" lIns="0" tIns="0" rIns="0" bIns="0" rtlCol="0" anchor="t"/>
          <a:lstStyle/>
          <a:p>
            <a:pPr indent="0" marL="0">
              <a:lnSpc>
                <a:spcPts val="1350"/>
              </a:lnSpc>
              <a:buNone/>
            </a:pPr>
            <a:r>
              <a:rPr lang="en-US" sz="1200" b="1" dirty="0">
                <a:solidFill>
                  <a:srgbClr val="E5E7EB"/>
                </a:solidFill>
                <a:latin typeface="Space Grotesk" pitchFamily="34" charset="0"/>
                <a:ea typeface="Space Grotesk" pitchFamily="34" charset="-122"/>
                <a:cs typeface="Space Grotesk" pitchFamily="34" charset="-120"/>
              </a:rPr>
              <a:t>Heart rate lies</a:t>
            </a:r>
            <a:endParaRPr lang="en-US" sz="1200" dirty="0"/>
          </a:p>
        </p:txBody>
      </p:sp>
      <p:sp>
        <p:nvSpPr>
          <p:cNvPr id="70" name="Text 68"/>
          <p:cNvSpPr/>
          <p:nvPr/>
        </p:nvSpPr>
        <p:spPr>
          <a:xfrm>
            <a:off x="6260435" y="3243148"/>
            <a:ext cx="2444435" cy="912800"/>
          </a:xfrm>
          <a:prstGeom prst="rect">
            <a:avLst/>
          </a:prstGeom>
          <a:noFill/>
          <a:ln/>
        </p:spPr>
        <p:txBody>
          <a:bodyPr wrap="square" lIns="0" tIns="0" rIns="0" bIns="0" rtlCol="0" anchor="t"/>
          <a:lstStyle/>
          <a:p>
            <a:pPr indent="0" marL="0">
              <a:lnSpc>
                <a:spcPts val="1100"/>
              </a:lnSpc>
              <a:buNone/>
            </a:pPr>
            <a:r>
              <a:rPr lang="en-US" sz="900" dirty="0">
                <a:solidFill>
                  <a:srgbClr val="94A3B8"/>
                </a:solidFill>
                <a:latin typeface="IBM Plex Sans" pitchFamily="34" charset="0"/>
                <a:ea typeface="IBM Plex Sans" pitchFamily="34" charset="-122"/>
                <a:cs typeface="IBM Plex Sans" pitchFamily="34" charset="-120"/>
              </a:rPr>
              <a:t>35% of hypotensive trauma patients under 50 are not tachycardic</a:t>
            </a:r>
            <a:endParaRPr lang="en-US" sz="900" dirty="0"/>
          </a:p>
        </p:txBody>
      </p:sp>
      <p:sp>
        <p:nvSpPr>
          <p:cNvPr id="71" name="Text 69"/>
          <p:cNvSpPr/>
          <p:nvPr/>
        </p:nvSpPr>
        <p:spPr>
          <a:xfrm>
            <a:off x="6260435" y="4155948"/>
            <a:ext cx="2444435" cy="763433"/>
          </a:xfrm>
          <a:prstGeom prst="rect">
            <a:avLst/>
          </a:prstGeom>
          <a:noFill/>
          <a:ln/>
        </p:spPr>
        <p:txBody>
          <a:bodyPr wrap="square" lIns="0" tIns="0" rIns="0" bIns="0" rtlCol="0" anchor="t"/>
          <a:lstStyle/>
          <a:p>
            <a:pPr indent="0" marL="0">
              <a:lnSpc>
                <a:spcPts val="1350"/>
              </a:lnSpc>
              <a:buNone/>
            </a:pPr>
            <a:r>
              <a:rPr lang="en-US" sz="1200" b="1" dirty="0">
                <a:solidFill>
                  <a:srgbClr val="E5E7EB"/>
                </a:solidFill>
                <a:latin typeface="Space Grotesk" pitchFamily="34" charset="0"/>
                <a:ea typeface="Space Grotesk" pitchFamily="34" charset="-122"/>
                <a:cs typeface="Space Grotesk" pitchFamily="34" charset="-120"/>
              </a:rPr>
              <a:t>He looks fine until he is not</a:t>
            </a:r>
            <a:endParaRPr lang="en-US" sz="1200" dirty="0"/>
          </a:p>
        </p:txBody>
      </p:sp>
      <p:sp>
        <p:nvSpPr>
          <p:cNvPr id="72" name="Text 70"/>
          <p:cNvSpPr/>
          <p:nvPr/>
        </p:nvSpPr>
        <p:spPr>
          <a:xfrm>
            <a:off x="6260435" y="4902784"/>
            <a:ext cx="2444435" cy="912800"/>
          </a:xfrm>
          <a:prstGeom prst="rect">
            <a:avLst/>
          </a:prstGeom>
          <a:noFill/>
          <a:ln/>
        </p:spPr>
        <p:txBody>
          <a:bodyPr wrap="square" lIns="0" tIns="0" rIns="0" bIns="0" rtlCol="0" anchor="t"/>
          <a:lstStyle/>
          <a:p>
            <a:pPr indent="0" marL="0">
              <a:lnSpc>
                <a:spcPts val="1100"/>
              </a:lnSpc>
              <a:buNone/>
            </a:pPr>
            <a:r>
              <a:rPr lang="en-US" sz="900" dirty="0">
                <a:solidFill>
                  <a:srgbClr val="94A3B8"/>
                </a:solidFill>
                <a:latin typeface="IBM Plex Sans" pitchFamily="34" charset="0"/>
                <a:ea typeface="IBM Plex Sans" pitchFamily="34" charset="-122"/>
                <a:cs typeface="IBM Plex Sans" pitchFamily="34" charset="-120"/>
              </a:rPr>
              <a:t>Compensation holds — and then it does not, all at once</a:t>
            </a:r>
            <a:endParaRPr lang="en-US" sz="900" dirty="0"/>
          </a:p>
        </p:txBody>
      </p:sp>
      <p:sp>
        <p:nvSpPr>
          <p:cNvPr id="73" name="Shape 71"/>
          <p:cNvSpPr/>
          <p:nvPr/>
        </p:nvSpPr>
        <p:spPr>
          <a:xfrm>
            <a:off x="8930417" y="2125980"/>
            <a:ext cx="2651694" cy="3771900"/>
          </a:xfrm>
          <a:prstGeom prst="rect">
            <a:avLst/>
          </a:prstGeom>
          <a:solidFill>
            <a:srgbClr val="111827"/>
          </a:solidFill>
          <a:ln w="12700">
            <a:solidFill>
              <a:srgbClr val="1F2937"/>
            </a:solidFill>
            <a:prstDash val="solid"/>
          </a:ln>
        </p:spPr>
      </p:sp>
      <p:sp>
        <p:nvSpPr>
          <p:cNvPr id="74" name="Shape 72"/>
          <p:cNvSpPr/>
          <p:nvPr/>
        </p:nvSpPr>
        <p:spPr>
          <a:xfrm>
            <a:off x="9034046" y="2259711"/>
            <a:ext cx="77724" cy="77724"/>
          </a:xfrm>
          <a:prstGeom prst="ellipse">
            <a:avLst/>
          </a:prstGeom>
          <a:solidFill>
            <a:srgbClr val="FB923C"/>
          </a:solidFill>
          <a:ln/>
        </p:spPr>
      </p:sp>
      <p:sp>
        <p:nvSpPr>
          <p:cNvPr id="75" name="Text 73"/>
          <p:cNvSpPr/>
          <p:nvPr/>
        </p:nvSpPr>
        <p:spPr>
          <a:xfrm>
            <a:off x="9171206" y="2201418"/>
            <a:ext cx="2307275" cy="178308"/>
          </a:xfrm>
          <a:prstGeom prst="rect">
            <a:avLst/>
          </a:prstGeom>
          <a:noFill/>
          <a:ln/>
        </p:spPr>
        <p:txBody>
          <a:bodyPr wrap="square" lIns="0" tIns="0" rIns="0" bIns="0" rtlCol="0" anchor="ctr"/>
          <a:lstStyle/>
          <a:p>
            <a:pPr indent="0" marL="0">
              <a:buNone/>
            </a:pPr>
            <a:r>
              <a:rPr lang="en-US" sz="900" spc="250" kern="0" dirty="0">
                <a:solidFill>
                  <a:srgbClr val="FB923C"/>
                </a:solidFill>
                <a:latin typeface="IBM Plex Mono" pitchFamily="34" charset="0"/>
                <a:ea typeface="IBM Plex Mono" pitchFamily="34" charset="-122"/>
                <a:cs typeface="IBM Plex Mono" pitchFamily="34" charset="-120"/>
              </a:rPr>
              <a:t>TIER 2  ·  THE METHOD</a:t>
            </a:r>
            <a:endParaRPr lang="en-US" sz="900" dirty="0"/>
          </a:p>
        </p:txBody>
      </p:sp>
      <p:sp>
        <p:nvSpPr>
          <p:cNvPr id="76" name="Shape 74"/>
          <p:cNvSpPr/>
          <p:nvPr/>
        </p:nvSpPr>
        <p:spPr>
          <a:xfrm>
            <a:off x="9034046" y="2420874"/>
            <a:ext cx="2444435" cy="0"/>
          </a:xfrm>
          <a:prstGeom prst="line">
            <a:avLst/>
          </a:prstGeom>
          <a:noFill/>
          <a:ln w="12700">
            <a:solidFill>
              <a:srgbClr val="1F2937"/>
            </a:solidFill>
            <a:prstDash val="solid"/>
          </a:ln>
        </p:spPr>
      </p:sp>
      <p:sp>
        <p:nvSpPr>
          <p:cNvPr id="77" name="Text 75"/>
          <p:cNvSpPr/>
          <p:nvPr/>
        </p:nvSpPr>
        <p:spPr>
          <a:xfrm>
            <a:off x="9034046" y="2496312"/>
            <a:ext cx="2444435" cy="763433"/>
          </a:xfrm>
          <a:prstGeom prst="rect">
            <a:avLst/>
          </a:prstGeom>
          <a:noFill/>
          <a:ln/>
        </p:spPr>
        <p:txBody>
          <a:bodyPr wrap="square" lIns="0" tIns="0" rIns="0" bIns="0" rtlCol="0" anchor="t"/>
          <a:lstStyle/>
          <a:p>
            <a:pPr indent="0" marL="0">
              <a:lnSpc>
                <a:spcPts val="1350"/>
              </a:lnSpc>
              <a:buNone/>
            </a:pPr>
            <a:r>
              <a:rPr lang="en-US" sz="1200" b="1" dirty="0">
                <a:solidFill>
                  <a:srgbClr val="E5E7EB"/>
                </a:solidFill>
                <a:latin typeface="Space Grotesk" pitchFamily="34" charset="0"/>
                <a:ea typeface="Space Grotesk" pitchFamily="34" charset="-122"/>
                <a:cs typeface="Space Grotesk" pitchFamily="34" charset="-120"/>
              </a:rPr>
              <a:t>Triage is the wrong shape</a:t>
            </a:r>
            <a:endParaRPr lang="en-US" sz="1200" dirty="0"/>
          </a:p>
        </p:txBody>
      </p:sp>
      <p:sp>
        <p:nvSpPr>
          <p:cNvPr id="78" name="Text 76"/>
          <p:cNvSpPr/>
          <p:nvPr/>
        </p:nvSpPr>
        <p:spPr>
          <a:xfrm>
            <a:off x="9034046" y="3243148"/>
            <a:ext cx="2444435" cy="912800"/>
          </a:xfrm>
          <a:prstGeom prst="rect">
            <a:avLst/>
          </a:prstGeom>
          <a:noFill/>
          <a:ln/>
        </p:spPr>
        <p:txBody>
          <a:bodyPr wrap="square" lIns="0" tIns="0" rIns="0" bIns="0" rtlCol="0" anchor="t"/>
          <a:lstStyle/>
          <a:p>
            <a:pPr indent="0" marL="0">
              <a:lnSpc>
                <a:spcPts val="1100"/>
              </a:lnSpc>
              <a:buNone/>
            </a:pPr>
            <a:r>
              <a:rPr lang="en-US" sz="900" dirty="0">
                <a:solidFill>
                  <a:srgbClr val="94A3B8"/>
                </a:solidFill>
                <a:latin typeface="IBM Plex Sans" pitchFamily="34" charset="0"/>
                <a:ea typeface="IBM Plex Sans" pitchFamily="34" charset="-122"/>
                <a:cs typeface="IBM Plex Sans" pitchFamily="34" charset="-120"/>
              </a:rPr>
              <a:t>START sorts into categories. It cannot say who has nine minutes and who has ninety</a:t>
            </a:r>
            <a:endParaRPr lang="en-US" sz="900" dirty="0"/>
          </a:p>
        </p:txBody>
      </p:sp>
      <p:sp>
        <p:nvSpPr>
          <p:cNvPr id="79" name="Text 77"/>
          <p:cNvSpPr/>
          <p:nvPr/>
        </p:nvSpPr>
        <p:spPr>
          <a:xfrm>
            <a:off x="9034046" y="4155948"/>
            <a:ext cx="2444435" cy="763433"/>
          </a:xfrm>
          <a:prstGeom prst="rect">
            <a:avLst/>
          </a:prstGeom>
          <a:noFill/>
          <a:ln/>
        </p:spPr>
        <p:txBody>
          <a:bodyPr wrap="square" lIns="0" tIns="0" rIns="0" bIns="0" rtlCol="0" anchor="t"/>
          <a:lstStyle/>
          <a:p>
            <a:pPr indent="0" marL="0">
              <a:lnSpc>
                <a:spcPts val="1350"/>
              </a:lnSpc>
              <a:buNone/>
            </a:pPr>
            <a:r>
              <a:rPr lang="en-US" sz="1200" b="1" dirty="0">
                <a:solidFill>
                  <a:srgbClr val="E5E7EB"/>
                </a:solidFill>
                <a:latin typeface="Space Grotesk" pitchFamily="34" charset="0"/>
                <a:ea typeface="Space Grotesk" pitchFamily="34" charset="-122"/>
                <a:cs typeface="Space Grotesk" pitchFamily="34" charset="-120"/>
              </a:rPr>
              <a:t>No deadline in the decision</a:t>
            </a:r>
            <a:endParaRPr lang="en-US" sz="1200" dirty="0"/>
          </a:p>
        </p:txBody>
      </p:sp>
      <p:sp>
        <p:nvSpPr>
          <p:cNvPr id="80" name="Text 78"/>
          <p:cNvSpPr/>
          <p:nvPr/>
        </p:nvSpPr>
        <p:spPr>
          <a:xfrm>
            <a:off x="9034046" y="4902784"/>
            <a:ext cx="2444435" cy="912800"/>
          </a:xfrm>
          <a:prstGeom prst="rect">
            <a:avLst/>
          </a:prstGeom>
          <a:noFill/>
          <a:ln/>
        </p:spPr>
        <p:txBody>
          <a:bodyPr wrap="square" lIns="0" tIns="0" rIns="0" bIns="0" rtlCol="0" anchor="t"/>
          <a:lstStyle/>
          <a:p>
            <a:pPr indent="0" marL="0">
              <a:lnSpc>
                <a:spcPts val="1100"/>
              </a:lnSpc>
              <a:buNone/>
            </a:pPr>
            <a:r>
              <a:rPr lang="en-US" sz="900" dirty="0">
                <a:solidFill>
                  <a:srgbClr val="94A3B8"/>
                </a:solidFill>
                <a:latin typeface="IBM Plex Sans" pitchFamily="34" charset="0"/>
                <a:ea typeface="IBM Plex Sans" pitchFamily="34" charset="-122"/>
                <a:cs typeface="IBM Plex Sans" pitchFamily="34" charset="-120"/>
              </a:rPr>
              <a:t>Nothing between the wound and the aircraft carries a clock</a:t>
            </a:r>
            <a:endParaRPr lang="en-US" sz="900" dirty="0"/>
          </a:p>
        </p:txBody>
      </p:sp>
      <p:sp>
        <p:nvSpPr>
          <p:cNvPr id="81" name="Shape 79"/>
          <p:cNvSpPr/>
          <p:nvPr/>
        </p:nvSpPr>
        <p:spPr>
          <a:xfrm>
            <a:off x="609585" y="6137910"/>
            <a:ext cx="10972526" cy="0"/>
          </a:xfrm>
          <a:prstGeom prst="line">
            <a:avLst/>
          </a:prstGeom>
          <a:noFill/>
          <a:ln w="12700">
            <a:solidFill>
              <a:srgbClr val="1F2937"/>
            </a:solidFill>
            <a:prstDash val="solid"/>
          </a:ln>
        </p:spPr>
      </p:sp>
      <p:sp>
        <p:nvSpPr>
          <p:cNvPr id="82" name="Text 80"/>
          <p:cNvSpPr/>
          <p:nvPr/>
        </p:nvSpPr>
        <p:spPr>
          <a:xfrm>
            <a:off x="609585" y="6240780"/>
            <a:ext cx="9021854" cy="308610"/>
          </a:xfrm>
          <a:prstGeom prst="rect">
            <a:avLst/>
          </a:prstGeom>
          <a:noFill/>
          <a:ln/>
        </p:spPr>
        <p:txBody>
          <a:bodyPr wrap="square" lIns="0" tIns="0" rIns="0" bIns="0" rtlCol="0" anchor="ctr"/>
          <a:lstStyle/>
          <a:p>
            <a:pPr indent="0" marL="0">
              <a:buNone/>
            </a:pPr>
            <a:r>
              <a:rPr lang="en-US" sz="950" dirty="0">
                <a:solidFill>
                  <a:srgbClr val="94A3B8"/>
                </a:solidFill>
                <a:latin typeface="IBM Plex Mono" pitchFamily="34" charset="0"/>
                <a:ea typeface="IBM Plex Mono" pitchFamily="34" charset="-122"/>
                <a:cs typeface="IBM Plex Mono" pitchFamily="34" charset="-120"/>
              </a:rPr>
              <a:t>Sources: METASTART · CRASH-2 · J Trauma Acute Care Surg 2026 · Victorino, J Am Coll Surg 2003    |    every figure cited in the application</a:t>
            </a:r>
            <a:endParaRPr lang="en-US" sz="950" dirty="0"/>
          </a:p>
        </p:txBody>
      </p:sp>
      <p:sp>
        <p:nvSpPr>
          <p:cNvPr id="83" name="Text 81"/>
          <p:cNvSpPr/>
          <p:nvPr/>
        </p:nvSpPr>
        <p:spPr>
          <a:xfrm>
            <a:off x="10362941" y="6240780"/>
            <a:ext cx="1219170" cy="308610"/>
          </a:xfrm>
          <a:prstGeom prst="rect">
            <a:avLst/>
          </a:prstGeom>
          <a:noFill/>
          <a:ln/>
        </p:spPr>
        <p:txBody>
          <a:bodyPr wrap="square" lIns="0" tIns="0" rIns="0" bIns="0" rtlCol="0" anchor="ctr"/>
          <a:lstStyle/>
          <a:p>
            <a:pPr algn="r" indent="0" marL="0">
              <a:buNone/>
            </a:pPr>
            <a:r>
              <a:rPr lang="en-US" sz="950" dirty="0">
                <a:solidFill>
                  <a:srgbClr val="94A3B8"/>
                </a:solidFill>
                <a:latin typeface="IBM Plex Mono" pitchFamily="34" charset="0"/>
                <a:ea typeface="IBM Plex Mono" pitchFamily="34" charset="-122"/>
                <a:cs typeface="IBM Plex Mono" pitchFamily="34" charset="-120"/>
              </a:rPr>
              <a:t>02 / 03</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0" cy="6858000"/>
          </a:xfrm>
          <a:prstGeom prst="line">
            <a:avLst/>
          </a:prstGeom>
          <a:noFill/>
          <a:ln w="6350">
            <a:solidFill>
              <a:srgbClr val="94A3B8">
                <a:alpha val="6000"/>
              </a:srgbClr>
            </a:solidFill>
            <a:prstDash val="solid"/>
          </a:ln>
        </p:spPr>
      </p:sp>
      <p:sp>
        <p:nvSpPr>
          <p:cNvPr id="3" name="Shape 1"/>
          <p:cNvSpPr/>
          <p:nvPr/>
        </p:nvSpPr>
        <p:spPr>
          <a:xfrm>
            <a:off x="487668" y="0"/>
            <a:ext cx="0" cy="6858000"/>
          </a:xfrm>
          <a:prstGeom prst="line">
            <a:avLst/>
          </a:prstGeom>
          <a:noFill/>
          <a:ln w="6350">
            <a:solidFill>
              <a:srgbClr val="94A3B8">
                <a:alpha val="6000"/>
              </a:srgbClr>
            </a:solidFill>
            <a:prstDash val="solid"/>
          </a:ln>
        </p:spPr>
      </p:sp>
      <p:sp>
        <p:nvSpPr>
          <p:cNvPr id="4" name="Shape 2"/>
          <p:cNvSpPr/>
          <p:nvPr/>
        </p:nvSpPr>
        <p:spPr>
          <a:xfrm>
            <a:off x="975336" y="0"/>
            <a:ext cx="0" cy="6858000"/>
          </a:xfrm>
          <a:prstGeom prst="line">
            <a:avLst/>
          </a:prstGeom>
          <a:noFill/>
          <a:ln w="6350">
            <a:solidFill>
              <a:srgbClr val="94A3B8">
                <a:alpha val="6000"/>
              </a:srgbClr>
            </a:solidFill>
            <a:prstDash val="solid"/>
          </a:ln>
        </p:spPr>
      </p:sp>
      <p:sp>
        <p:nvSpPr>
          <p:cNvPr id="5" name="Shape 3"/>
          <p:cNvSpPr/>
          <p:nvPr/>
        </p:nvSpPr>
        <p:spPr>
          <a:xfrm>
            <a:off x="1463003" y="0"/>
            <a:ext cx="0" cy="6858000"/>
          </a:xfrm>
          <a:prstGeom prst="line">
            <a:avLst/>
          </a:prstGeom>
          <a:noFill/>
          <a:ln w="6350">
            <a:solidFill>
              <a:srgbClr val="94A3B8">
                <a:alpha val="6000"/>
              </a:srgbClr>
            </a:solidFill>
            <a:prstDash val="solid"/>
          </a:ln>
        </p:spPr>
      </p:sp>
      <p:sp>
        <p:nvSpPr>
          <p:cNvPr id="6" name="Shape 4"/>
          <p:cNvSpPr/>
          <p:nvPr/>
        </p:nvSpPr>
        <p:spPr>
          <a:xfrm>
            <a:off x="1950671" y="0"/>
            <a:ext cx="0" cy="6858000"/>
          </a:xfrm>
          <a:prstGeom prst="line">
            <a:avLst/>
          </a:prstGeom>
          <a:noFill/>
          <a:ln w="6350">
            <a:solidFill>
              <a:srgbClr val="94A3B8">
                <a:alpha val="6000"/>
              </a:srgbClr>
            </a:solidFill>
            <a:prstDash val="solid"/>
          </a:ln>
        </p:spPr>
      </p:sp>
      <p:sp>
        <p:nvSpPr>
          <p:cNvPr id="7" name="Shape 5"/>
          <p:cNvSpPr/>
          <p:nvPr/>
        </p:nvSpPr>
        <p:spPr>
          <a:xfrm>
            <a:off x="2438339" y="0"/>
            <a:ext cx="0" cy="6858000"/>
          </a:xfrm>
          <a:prstGeom prst="line">
            <a:avLst/>
          </a:prstGeom>
          <a:noFill/>
          <a:ln w="6350">
            <a:solidFill>
              <a:srgbClr val="94A3B8">
                <a:alpha val="6000"/>
              </a:srgbClr>
            </a:solidFill>
            <a:prstDash val="solid"/>
          </a:ln>
        </p:spPr>
      </p:sp>
      <p:sp>
        <p:nvSpPr>
          <p:cNvPr id="8" name="Shape 6"/>
          <p:cNvSpPr/>
          <p:nvPr/>
        </p:nvSpPr>
        <p:spPr>
          <a:xfrm>
            <a:off x="2926007" y="0"/>
            <a:ext cx="0" cy="6858000"/>
          </a:xfrm>
          <a:prstGeom prst="line">
            <a:avLst/>
          </a:prstGeom>
          <a:noFill/>
          <a:ln w="6350">
            <a:solidFill>
              <a:srgbClr val="94A3B8">
                <a:alpha val="6000"/>
              </a:srgbClr>
            </a:solidFill>
            <a:prstDash val="solid"/>
          </a:ln>
        </p:spPr>
      </p:sp>
      <p:sp>
        <p:nvSpPr>
          <p:cNvPr id="9" name="Shape 7"/>
          <p:cNvSpPr/>
          <p:nvPr/>
        </p:nvSpPr>
        <p:spPr>
          <a:xfrm>
            <a:off x="3413675" y="0"/>
            <a:ext cx="0" cy="6858000"/>
          </a:xfrm>
          <a:prstGeom prst="line">
            <a:avLst/>
          </a:prstGeom>
          <a:noFill/>
          <a:ln w="6350">
            <a:solidFill>
              <a:srgbClr val="94A3B8">
                <a:alpha val="6000"/>
              </a:srgbClr>
            </a:solidFill>
            <a:prstDash val="solid"/>
          </a:ln>
        </p:spPr>
      </p:sp>
      <p:sp>
        <p:nvSpPr>
          <p:cNvPr id="10" name="Shape 8"/>
          <p:cNvSpPr/>
          <p:nvPr/>
        </p:nvSpPr>
        <p:spPr>
          <a:xfrm>
            <a:off x="3901342" y="0"/>
            <a:ext cx="0" cy="6858000"/>
          </a:xfrm>
          <a:prstGeom prst="line">
            <a:avLst/>
          </a:prstGeom>
          <a:noFill/>
          <a:ln w="6350">
            <a:solidFill>
              <a:srgbClr val="94A3B8">
                <a:alpha val="6000"/>
              </a:srgbClr>
            </a:solidFill>
            <a:prstDash val="solid"/>
          </a:ln>
        </p:spPr>
      </p:sp>
      <p:sp>
        <p:nvSpPr>
          <p:cNvPr id="11" name="Shape 9"/>
          <p:cNvSpPr/>
          <p:nvPr/>
        </p:nvSpPr>
        <p:spPr>
          <a:xfrm>
            <a:off x="4389010" y="0"/>
            <a:ext cx="0" cy="6858000"/>
          </a:xfrm>
          <a:prstGeom prst="line">
            <a:avLst/>
          </a:prstGeom>
          <a:noFill/>
          <a:ln w="6350">
            <a:solidFill>
              <a:srgbClr val="94A3B8">
                <a:alpha val="6000"/>
              </a:srgbClr>
            </a:solidFill>
            <a:prstDash val="solid"/>
          </a:ln>
        </p:spPr>
      </p:sp>
      <p:sp>
        <p:nvSpPr>
          <p:cNvPr id="12" name="Shape 10"/>
          <p:cNvSpPr/>
          <p:nvPr/>
        </p:nvSpPr>
        <p:spPr>
          <a:xfrm>
            <a:off x="4876678" y="0"/>
            <a:ext cx="0" cy="6858000"/>
          </a:xfrm>
          <a:prstGeom prst="line">
            <a:avLst/>
          </a:prstGeom>
          <a:noFill/>
          <a:ln w="6350">
            <a:solidFill>
              <a:srgbClr val="94A3B8">
                <a:alpha val="6000"/>
              </a:srgbClr>
            </a:solidFill>
            <a:prstDash val="solid"/>
          </a:ln>
        </p:spPr>
      </p:sp>
      <p:sp>
        <p:nvSpPr>
          <p:cNvPr id="13" name="Shape 11"/>
          <p:cNvSpPr/>
          <p:nvPr/>
        </p:nvSpPr>
        <p:spPr>
          <a:xfrm>
            <a:off x="5364346" y="0"/>
            <a:ext cx="0" cy="6858000"/>
          </a:xfrm>
          <a:prstGeom prst="line">
            <a:avLst/>
          </a:prstGeom>
          <a:noFill/>
          <a:ln w="6350">
            <a:solidFill>
              <a:srgbClr val="94A3B8">
                <a:alpha val="6000"/>
              </a:srgbClr>
            </a:solidFill>
            <a:prstDash val="solid"/>
          </a:ln>
        </p:spPr>
      </p:sp>
      <p:sp>
        <p:nvSpPr>
          <p:cNvPr id="14" name="Shape 12"/>
          <p:cNvSpPr/>
          <p:nvPr/>
        </p:nvSpPr>
        <p:spPr>
          <a:xfrm>
            <a:off x="5852014" y="0"/>
            <a:ext cx="0" cy="6858000"/>
          </a:xfrm>
          <a:prstGeom prst="line">
            <a:avLst/>
          </a:prstGeom>
          <a:noFill/>
          <a:ln w="6350">
            <a:solidFill>
              <a:srgbClr val="94A3B8">
                <a:alpha val="6000"/>
              </a:srgbClr>
            </a:solidFill>
            <a:prstDash val="solid"/>
          </a:ln>
        </p:spPr>
      </p:sp>
      <p:sp>
        <p:nvSpPr>
          <p:cNvPr id="15" name="Shape 13"/>
          <p:cNvSpPr/>
          <p:nvPr/>
        </p:nvSpPr>
        <p:spPr>
          <a:xfrm>
            <a:off x="6339682" y="0"/>
            <a:ext cx="0" cy="6858000"/>
          </a:xfrm>
          <a:prstGeom prst="line">
            <a:avLst/>
          </a:prstGeom>
          <a:noFill/>
          <a:ln w="6350">
            <a:solidFill>
              <a:srgbClr val="94A3B8">
                <a:alpha val="6000"/>
              </a:srgbClr>
            </a:solidFill>
            <a:prstDash val="solid"/>
          </a:ln>
        </p:spPr>
      </p:sp>
      <p:sp>
        <p:nvSpPr>
          <p:cNvPr id="16" name="Shape 14"/>
          <p:cNvSpPr/>
          <p:nvPr/>
        </p:nvSpPr>
        <p:spPr>
          <a:xfrm>
            <a:off x="6827349" y="0"/>
            <a:ext cx="0" cy="6858000"/>
          </a:xfrm>
          <a:prstGeom prst="line">
            <a:avLst/>
          </a:prstGeom>
          <a:noFill/>
          <a:ln w="6350">
            <a:solidFill>
              <a:srgbClr val="94A3B8">
                <a:alpha val="6000"/>
              </a:srgbClr>
            </a:solidFill>
            <a:prstDash val="solid"/>
          </a:ln>
        </p:spPr>
      </p:sp>
      <p:sp>
        <p:nvSpPr>
          <p:cNvPr id="17" name="Shape 15"/>
          <p:cNvSpPr/>
          <p:nvPr/>
        </p:nvSpPr>
        <p:spPr>
          <a:xfrm>
            <a:off x="7315017" y="0"/>
            <a:ext cx="0" cy="6858000"/>
          </a:xfrm>
          <a:prstGeom prst="line">
            <a:avLst/>
          </a:prstGeom>
          <a:noFill/>
          <a:ln w="6350">
            <a:solidFill>
              <a:srgbClr val="94A3B8">
                <a:alpha val="6000"/>
              </a:srgbClr>
            </a:solidFill>
            <a:prstDash val="solid"/>
          </a:ln>
        </p:spPr>
      </p:sp>
      <p:sp>
        <p:nvSpPr>
          <p:cNvPr id="18" name="Shape 16"/>
          <p:cNvSpPr/>
          <p:nvPr/>
        </p:nvSpPr>
        <p:spPr>
          <a:xfrm>
            <a:off x="7802685" y="0"/>
            <a:ext cx="0" cy="6858000"/>
          </a:xfrm>
          <a:prstGeom prst="line">
            <a:avLst/>
          </a:prstGeom>
          <a:noFill/>
          <a:ln w="6350">
            <a:solidFill>
              <a:srgbClr val="94A3B8">
                <a:alpha val="6000"/>
              </a:srgbClr>
            </a:solidFill>
            <a:prstDash val="solid"/>
          </a:ln>
        </p:spPr>
      </p:sp>
      <p:sp>
        <p:nvSpPr>
          <p:cNvPr id="19" name="Shape 17"/>
          <p:cNvSpPr/>
          <p:nvPr/>
        </p:nvSpPr>
        <p:spPr>
          <a:xfrm>
            <a:off x="8290353" y="0"/>
            <a:ext cx="0" cy="6858000"/>
          </a:xfrm>
          <a:prstGeom prst="line">
            <a:avLst/>
          </a:prstGeom>
          <a:noFill/>
          <a:ln w="6350">
            <a:solidFill>
              <a:srgbClr val="94A3B8">
                <a:alpha val="6000"/>
              </a:srgbClr>
            </a:solidFill>
            <a:prstDash val="solid"/>
          </a:ln>
        </p:spPr>
      </p:sp>
      <p:sp>
        <p:nvSpPr>
          <p:cNvPr id="20" name="Shape 18"/>
          <p:cNvSpPr/>
          <p:nvPr/>
        </p:nvSpPr>
        <p:spPr>
          <a:xfrm>
            <a:off x="8778021" y="0"/>
            <a:ext cx="0" cy="6858000"/>
          </a:xfrm>
          <a:prstGeom prst="line">
            <a:avLst/>
          </a:prstGeom>
          <a:noFill/>
          <a:ln w="6350">
            <a:solidFill>
              <a:srgbClr val="94A3B8">
                <a:alpha val="6000"/>
              </a:srgbClr>
            </a:solidFill>
            <a:prstDash val="solid"/>
          </a:ln>
        </p:spPr>
      </p:sp>
      <p:sp>
        <p:nvSpPr>
          <p:cNvPr id="21" name="Shape 19"/>
          <p:cNvSpPr/>
          <p:nvPr/>
        </p:nvSpPr>
        <p:spPr>
          <a:xfrm>
            <a:off x="9265688" y="0"/>
            <a:ext cx="0" cy="6858000"/>
          </a:xfrm>
          <a:prstGeom prst="line">
            <a:avLst/>
          </a:prstGeom>
          <a:noFill/>
          <a:ln w="6350">
            <a:solidFill>
              <a:srgbClr val="94A3B8">
                <a:alpha val="6000"/>
              </a:srgbClr>
            </a:solidFill>
            <a:prstDash val="solid"/>
          </a:ln>
        </p:spPr>
      </p:sp>
      <p:sp>
        <p:nvSpPr>
          <p:cNvPr id="22" name="Shape 20"/>
          <p:cNvSpPr/>
          <p:nvPr/>
        </p:nvSpPr>
        <p:spPr>
          <a:xfrm>
            <a:off x="9753356" y="0"/>
            <a:ext cx="0" cy="6858000"/>
          </a:xfrm>
          <a:prstGeom prst="line">
            <a:avLst/>
          </a:prstGeom>
          <a:noFill/>
          <a:ln w="6350">
            <a:solidFill>
              <a:srgbClr val="94A3B8">
                <a:alpha val="6000"/>
              </a:srgbClr>
            </a:solidFill>
            <a:prstDash val="solid"/>
          </a:ln>
        </p:spPr>
      </p:sp>
      <p:sp>
        <p:nvSpPr>
          <p:cNvPr id="23" name="Shape 21"/>
          <p:cNvSpPr/>
          <p:nvPr/>
        </p:nvSpPr>
        <p:spPr>
          <a:xfrm>
            <a:off x="10241024" y="0"/>
            <a:ext cx="0" cy="6858000"/>
          </a:xfrm>
          <a:prstGeom prst="line">
            <a:avLst/>
          </a:prstGeom>
          <a:noFill/>
          <a:ln w="6350">
            <a:solidFill>
              <a:srgbClr val="94A3B8">
                <a:alpha val="6000"/>
              </a:srgbClr>
            </a:solidFill>
            <a:prstDash val="solid"/>
          </a:ln>
        </p:spPr>
      </p:sp>
      <p:sp>
        <p:nvSpPr>
          <p:cNvPr id="24" name="Shape 22"/>
          <p:cNvSpPr/>
          <p:nvPr/>
        </p:nvSpPr>
        <p:spPr>
          <a:xfrm>
            <a:off x="10728692" y="0"/>
            <a:ext cx="0" cy="6858000"/>
          </a:xfrm>
          <a:prstGeom prst="line">
            <a:avLst/>
          </a:prstGeom>
          <a:noFill/>
          <a:ln w="6350">
            <a:solidFill>
              <a:srgbClr val="94A3B8">
                <a:alpha val="6000"/>
              </a:srgbClr>
            </a:solidFill>
            <a:prstDash val="solid"/>
          </a:ln>
        </p:spPr>
      </p:sp>
      <p:sp>
        <p:nvSpPr>
          <p:cNvPr id="25" name="Shape 23"/>
          <p:cNvSpPr/>
          <p:nvPr/>
        </p:nvSpPr>
        <p:spPr>
          <a:xfrm>
            <a:off x="11216360" y="0"/>
            <a:ext cx="0" cy="6858000"/>
          </a:xfrm>
          <a:prstGeom prst="line">
            <a:avLst/>
          </a:prstGeom>
          <a:noFill/>
          <a:ln w="6350">
            <a:solidFill>
              <a:srgbClr val="94A3B8">
                <a:alpha val="6000"/>
              </a:srgbClr>
            </a:solidFill>
            <a:prstDash val="solid"/>
          </a:ln>
        </p:spPr>
      </p:sp>
      <p:sp>
        <p:nvSpPr>
          <p:cNvPr id="26" name="Shape 24"/>
          <p:cNvSpPr/>
          <p:nvPr/>
        </p:nvSpPr>
        <p:spPr>
          <a:xfrm>
            <a:off x="11704027" y="0"/>
            <a:ext cx="0" cy="6858000"/>
          </a:xfrm>
          <a:prstGeom prst="line">
            <a:avLst/>
          </a:prstGeom>
          <a:noFill/>
          <a:ln w="6350">
            <a:solidFill>
              <a:srgbClr val="94A3B8">
                <a:alpha val="6000"/>
              </a:srgbClr>
            </a:solidFill>
            <a:prstDash val="solid"/>
          </a:ln>
        </p:spPr>
      </p:sp>
      <p:sp>
        <p:nvSpPr>
          <p:cNvPr id="27" name="Shape 25"/>
          <p:cNvSpPr/>
          <p:nvPr/>
        </p:nvSpPr>
        <p:spPr>
          <a:xfrm>
            <a:off x="12191695" y="0"/>
            <a:ext cx="0" cy="6858000"/>
          </a:xfrm>
          <a:prstGeom prst="line">
            <a:avLst/>
          </a:prstGeom>
          <a:noFill/>
          <a:ln w="6350">
            <a:solidFill>
              <a:srgbClr val="94A3B8">
                <a:alpha val="6000"/>
              </a:srgbClr>
            </a:solidFill>
            <a:prstDash val="solid"/>
          </a:ln>
        </p:spPr>
      </p:sp>
      <p:sp>
        <p:nvSpPr>
          <p:cNvPr id="28" name="Shape 26"/>
          <p:cNvSpPr/>
          <p:nvPr/>
        </p:nvSpPr>
        <p:spPr>
          <a:xfrm>
            <a:off x="0" y="0"/>
            <a:ext cx="12191695" cy="0"/>
          </a:xfrm>
          <a:prstGeom prst="line">
            <a:avLst/>
          </a:prstGeom>
          <a:noFill/>
          <a:ln w="6350">
            <a:solidFill>
              <a:srgbClr val="94A3B8">
                <a:alpha val="6000"/>
              </a:srgbClr>
            </a:solidFill>
            <a:prstDash val="solid"/>
          </a:ln>
        </p:spPr>
      </p:sp>
      <p:sp>
        <p:nvSpPr>
          <p:cNvPr id="29" name="Shape 27"/>
          <p:cNvSpPr/>
          <p:nvPr/>
        </p:nvSpPr>
        <p:spPr>
          <a:xfrm>
            <a:off x="0" y="487668"/>
            <a:ext cx="12191695" cy="0"/>
          </a:xfrm>
          <a:prstGeom prst="line">
            <a:avLst/>
          </a:prstGeom>
          <a:noFill/>
          <a:ln w="6350">
            <a:solidFill>
              <a:srgbClr val="94A3B8">
                <a:alpha val="6000"/>
              </a:srgbClr>
            </a:solidFill>
            <a:prstDash val="solid"/>
          </a:ln>
        </p:spPr>
      </p:sp>
      <p:sp>
        <p:nvSpPr>
          <p:cNvPr id="30" name="Shape 28"/>
          <p:cNvSpPr/>
          <p:nvPr/>
        </p:nvSpPr>
        <p:spPr>
          <a:xfrm>
            <a:off x="0" y="975336"/>
            <a:ext cx="12191695" cy="0"/>
          </a:xfrm>
          <a:prstGeom prst="line">
            <a:avLst/>
          </a:prstGeom>
          <a:noFill/>
          <a:ln w="6350">
            <a:solidFill>
              <a:srgbClr val="94A3B8">
                <a:alpha val="6000"/>
              </a:srgbClr>
            </a:solidFill>
            <a:prstDash val="solid"/>
          </a:ln>
        </p:spPr>
      </p:sp>
      <p:sp>
        <p:nvSpPr>
          <p:cNvPr id="31" name="Shape 29"/>
          <p:cNvSpPr/>
          <p:nvPr/>
        </p:nvSpPr>
        <p:spPr>
          <a:xfrm>
            <a:off x="0" y="1463003"/>
            <a:ext cx="12191695" cy="0"/>
          </a:xfrm>
          <a:prstGeom prst="line">
            <a:avLst/>
          </a:prstGeom>
          <a:noFill/>
          <a:ln w="6350">
            <a:solidFill>
              <a:srgbClr val="94A3B8">
                <a:alpha val="6000"/>
              </a:srgbClr>
            </a:solidFill>
            <a:prstDash val="solid"/>
          </a:ln>
        </p:spPr>
      </p:sp>
      <p:sp>
        <p:nvSpPr>
          <p:cNvPr id="32" name="Shape 30"/>
          <p:cNvSpPr/>
          <p:nvPr/>
        </p:nvSpPr>
        <p:spPr>
          <a:xfrm>
            <a:off x="0" y="1950671"/>
            <a:ext cx="12191695" cy="0"/>
          </a:xfrm>
          <a:prstGeom prst="line">
            <a:avLst/>
          </a:prstGeom>
          <a:noFill/>
          <a:ln w="6350">
            <a:solidFill>
              <a:srgbClr val="94A3B8">
                <a:alpha val="6000"/>
              </a:srgbClr>
            </a:solidFill>
            <a:prstDash val="solid"/>
          </a:ln>
        </p:spPr>
      </p:sp>
      <p:sp>
        <p:nvSpPr>
          <p:cNvPr id="33" name="Shape 31"/>
          <p:cNvSpPr/>
          <p:nvPr/>
        </p:nvSpPr>
        <p:spPr>
          <a:xfrm>
            <a:off x="0" y="2438339"/>
            <a:ext cx="12191695" cy="0"/>
          </a:xfrm>
          <a:prstGeom prst="line">
            <a:avLst/>
          </a:prstGeom>
          <a:noFill/>
          <a:ln w="6350">
            <a:solidFill>
              <a:srgbClr val="94A3B8">
                <a:alpha val="6000"/>
              </a:srgbClr>
            </a:solidFill>
            <a:prstDash val="solid"/>
          </a:ln>
        </p:spPr>
      </p:sp>
      <p:sp>
        <p:nvSpPr>
          <p:cNvPr id="34" name="Shape 32"/>
          <p:cNvSpPr/>
          <p:nvPr/>
        </p:nvSpPr>
        <p:spPr>
          <a:xfrm>
            <a:off x="0" y="2926007"/>
            <a:ext cx="12191695" cy="0"/>
          </a:xfrm>
          <a:prstGeom prst="line">
            <a:avLst/>
          </a:prstGeom>
          <a:noFill/>
          <a:ln w="6350">
            <a:solidFill>
              <a:srgbClr val="94A3B8">
                <a:alpha val="6000"/>
              </a:srgbClr>
            </a:solidFill>
            <a:prstDash val="solid"/>
          </a:ln>
        </p:spPr>
      </p:sp>
      <p:sp>
        <p:nvSpPr>
          <p:cNvPr id="35" name="Shape 33"/>
          <p:cNvSpPr/>
          <p:nvPr/>
        </p:nvSpPr>
        <p:spPr>
          <a:xfrm>
            <a:off x="0" y="3413675"/>
            <a:ext cx="12191695" cy="0"/>
          </a:xfrm>
          <a:prstGeom prst="line">
            <a:avLst/>
          </a:prstGeom>
          <a:noFill/>
          <a:ln w="6350">
            <a:solidFill>
              <a:srgbClr val="94A3B8">
                <a:alpha val="6000"/>
              </a:srgbClr>
            </a:solidFill>
            <a:prstDash val="solid"/>
          </a:ln>
        </p:spPr>
      </p:sp>
      <p:sp>
        <p:nvSpPr>
          <p:cNvPr id="36" name="Shape 34"/>
          <p:cNvSpPr/>
          <p:nvPr/>
        </p:nvSpPr>
        <p:spPr>
          <a:xfrm>
            <a:off x="0" y="3901342"/>
            <a:ext cx="12191695" cy="0"/>
          </a:xfrm>
          <a:prstGeom prst="line">
            <a:avLst/>
          </a:prstGeom>
          <a:noFill/>
          <a:ln w="6350">
            <a:solidFill>
              <a:srgbClr val="94A3B8">
                <a:alpha val="6000"/>
              </a:srgbClr>
            </a:solidFill>
            <a:prstDash val="solid"/>
          </a:ln>
        </p:spPr>
      </p:sp>
      <p:sp>
        <p:nvSpPr>
          <p:cNvPr id="37" name="Shape 35"/>
          <p:cNvSpPr/>
          <p:nvPr/>
        </p:nvSpPr>
        <p:spPr>
          <a:xfrm>
            <a:off x="0" y="4389010"/>
            <a:ext cx="12191695" cy="0"/>
          </a:xfrm>
          <a:prstGeom prst="line">
            <a:avLst/>
          </a:prstGeom>
          <a:noFill/>
          <a:ln w="6350">
            <a:solidFill>
              <a:srgbClr val="94A3B8">
                <a:alpha val="6000"/>
              </a:srgbClr>
            </a:solidFill>
            <a:prstDash val="solid"/>
          </a:ln>
        </p:spPr>
      </p:sp>
      <p:sp>
        <p:nvSpPr>
          <p:cNvPr id="38" name="Shape 36"/>
          <p:cNvSpPr/>
          <p:nvPr/>
        </p:nvSpPr>
        <p:spPr>
          <a:xfrm>
            <a:off x="0" y="4876678"/>
            <a:ext cx="12191695" cy="0"/>
          </a:xfrm>
          <a:prstGeom prst="line">
            <a:avLst/>
          </a:prstGeom>
          <a:noFill/>
          <a:ln w="6350">
            <a:solidFill>
              <a:srgbClr val="94A3B8">
                <a:alpha val="6000"/>
              </a:srgbClr>
            </a:solidFill>
            <a:prstDash val="solid"/>
          </a:ln>
        </p:spPr>
      </p:sp>
      <p:sp>
        <p:nvSpPr>
          <p:cNvPr id="39" name="Shape 37"/>
          <p:cNvSpPr/>
          <p:nvPr/>
        </p:nvSpPr>
        <p:spPr>
          <a:xfrm>
            <a:off x="0" y="5364346"/>
            <a:ext cx="12191695" cy="0"/>
          </a:xfrm>
          <a:prstGeom prst="line">
            <a:avLst/>
          </a:prstGeom>
          <a:noFill/>
          <a:ln w="6350">
            <a:solidFill>
              <a:srgbClr val="94A3B8">
                <a:alpha val="6000"/>
              </a:srgbClr>
            </a:solidFill>
            <a:prstDash val="solid"/>
          </a:ln>
        </p:spPr>
      </p:sp>
      <p:sp>
        <p:nvSpPr>
          <p:cNvPr id="40" name="Shape 38"/>
          <p:cNvSpPr/>
          <p:nvPr/>
        </p:nvSpPr>
        <p:spPr>
          <a:xfrm>
            <a:off x="0" y="5852014"/>
            <a:ext cx="12191695" cy="0"/>
          </a:xfrm>
          <a:prstGeom prst="line">
            <a:avLst/>
          </a:prstGeom>
          <a:noFill/>
          <a:ln w="6350">
            <a:solidFill>
              <a:srgbClr val="94A3B8">
                <a:alpha val="6000"/>
              </a:srgbClr>
            </a:solidFill>
            <a:prstDash val="solid"/>
          </a:ln>
        </p:spPr>
      </p:sp>
      <p:sp>
        <p:nvSpPr>
          <p:cNvPr id="41" name="Shape 39"/>
          <p:cNvSpPr/>
          <p:nvPr/>
        </p:nvSpPr>
        <p:spPr>
          <a:xfrm>
            <a:off x="0" y="6339682"/>
            <a:ext cx="12191695" cy="0"/>
          </a:xfrm>
          <a:prstGeom prst="line">
            <a:avLst/>
          </a:prstGeom>
          <a:noFill/>
          <a:ln w="6350">
            <a:solidFill>
              <a:srgbClr val="94A3B8">
                <a:alpha val="6000"/>
              </a:srgbClr>
            </a:solidFill>
            <a:prstDash val="solid"/>
          </a:ln>
        </p:spPr>
      </p:sp>
      <p:sp>
        <p:nvSpPr>
          <p:cNvPr id="42" name="Shape 40"/>
          <p:cNvSpPr/>
          <p:nvPr/>
        </p:nvSpPr>
        <p:spPr>
          <a:xfrm>
            <a:off x="0" y="6827349"/>
            <a:ext cx="12191695" cy="0"/>
          </a:xfrm>
          <a:prstGeom prst="line">
            <a:avLst/>
          </a:prstGeom>
          <a:noFill/>
          <a:ln w="6350">
            <a:solidFill>
              <a:srgbClr val="94A3B8">
                <a:alpha val="6000"/>
              </a:srgbClr>
            </a:solidFill>
            <a:prstDash val="solid"/>
          </a:ln>
        </p:spPr>
      </p:sp>
      <p:sp>
        <p:nvSpPr>
          <p:cNvPr id="43" name="Text 41"/>
          <p:cNvSpPr/>
          <p:nvPr/>
        </p:nvSpPr>
        <p:spPr>
          <a:xfrm>
            <a:off x="609585" y="301752"/>
            <a:ext cx="5364346" cy="219456"/>
          </a:xfrm>
          <a:prstGeom prst="rect">
            <a:avLst/>
          </a:prstGeom>
          <a:noFill/>
          <a:ln/>
        </p:spPr>
        <p:txBody>
          <a:bodyPr wrap="square" lIns="0" tIns="0" rIns="0" bIns="0" rtlCol="0" anchor="ctr"/>
          <a:lstStyle/>
          <a:p>
            <a:pPr indent="0" marL="0">
              <a:buNone/>
            </a:pPr>
            <a:r>
              <a:rPr lang="en-US" sz="1100" spc="400" kern="0" dirty="0">
                <a:solidFill>
                  <a:srgbClr val="F59E0B"/>
                </a:solidFill>
                <a:latin typeface="IBM Plex Mono" pitchFamily="34" charset="0"/>
                <a:ea typeface="IBM Plex Mono" pitchFamily="34" charset="-122"/>
                <a:cs typeface="IBM Plex Mono" pitchFamily="34" charset="-120"/>
              </a:rPr>
              <a:t>Section 02 // What We Deliver</a:t>
            </a:r>
            <a:endParaRPr lang="en-US" sz="1100" dirty="0"/>
          </a:p>
        </p:txBody>
      </p:sp>
      <p:sp>
        <p:nvSpPr>
          <p:cNvPr id="44" name="Shape 42"/>
          <p:cNvSpPr/>
          <p:nvPr/>
        </p:nvSpPr>
        <p:spPr>
          <a:xfrm>
            <a:off x="5973931" y="322326"/>
            <a:ext cx="1943100" cy="178308"/>
          </a:xfrm>
          <a:prstGeom prst="rect">
            <a:avLst/>
          </a:prstGeom>
          <a:solidFill>
            <a:srgbClr val="F59E0B"/>
          </a:solidFill>
          <a:ln/>
        </p:spPr>
      </p:sp>
      <p:sp>
        <p:nvSpPr>
          <p:cNvPr id="45" name="Text 43"/>
          <p:cNvSpPr/>
          <p:nvPr/>
        </p:nvSpPr>
        <p:spPr>
          <a:xfrm>
            <a:off x="5973931" y="322326"/>
            <a:ext cx="1943100" cy="178308"/>
          </a:xfrm>
          <a:prstGeom prst="rect">
            <a:avLst/>
          </a:prstGeom>
          <a:noFill/>
          <a:ln/>
        </p:spPr>
        <p:txBody>
          <a:bodyPr wrap="square" lIns="0" tIns="0" rIns="0" bIns="0" rtlCol="0" anchor="ctr"/>
          <a:lstStyle/>
          <a:p>
            <a:pPr algn="ctr" indent="0" marL="0">
              <a:buNone/>
            </a:pPr>
            <a:r>
              <a:rPr lang="en-US" sz="900" b="1" spc="250" kern="0" dirty="0">
                <a:solidFill>
                  <a:srgbClr val="0B1220"/>
                </a:solidFill>
                <a:latin typeface="IBM Plex Mono" pitchFamily="34" charset="0"/>
                <a:ea typeface="IBM Plex Mono" pitchFamily="34" charset="-122"/>
                <a:cs typeface="IBM Plex Mono" pitchFamily="34" charset="-120"/>
              </a:rPr>
              <a:t>BUILT AND RUNNING</a:t>
            </a:r>
            <a:endParaRPr lang="en-US" sz="900" dirty="0"/>
          </a:p>
        </p:txBody>
      </p:sp>
      <p:sp>
        <p:nvSpPr>
          <p:cNvPr id="46" name="Text 44"/>
          <p:cNvSpPr/>
          <p:nvPr/>
        </p:nvSpPr>
        <p:spPr>
          <a:xfrm>
            <a:off x="10362941" y="301752"/>
            <a:ext cx="1219170" cy="219456"/>
          </a:xfrm>
          <a:prstGeom prst="rect">
            <a:avLst/>
          </a:prstGeom>
          <a:noFill/>
          <a:ln/>
        </p:spPr>
        <p:txBody>
          <a:bodyPr wrap="square" lIns="0" tIns="0" rIns="0" bIns="0" rtlCol="0" anchor="ctr"/>
          <a:lstStyle/>
          <a:p>
            <a:pPr algn="r" indent="0" marL="0">
              <a:buNone/>
            </a:pPr>
            <a:r>
              <a:rPr lang="en-US" sz="1000" dirty="0">
                <a:solidFill>
                  <a:srgbClr val="94A3B8"/>
                </a:solidFill>
                <a:latin typeface="IBM Plex Mono" pitchFamily="34" charset="0"/>
                <a:ea typeface="IBM Plex Mono" pitchFamily="34" charset="-122"/>
                <a:cs typeface="IBM Plex Mono" pitchFamily="34" charset="-120"/>
              </a:rPr>
              <a:t>03 / 03</a:t>
            </a:r>
            <a:endParaRPr lang="en-US" sz="1000" dirty="0"/>
          </a:p>
        </p:txBody>
      </p:sp>
      <p:sp>
        <p:nvSpPr>
          <p:cNvPr id="47" name="Text 45"/>
          <p:cNvSpPr/>
          <p:nvPr/>
        </p:nvSpPr>
        <p:spPr>
          <a:xfrm>
            <a:off x="609585" y="822960"/>
            <a:ext cx="10241024" cy="480060"/>
          </a:xfrm>
          <a:prstGeom prst="rect">
            <a:avLst/>
          </a:prstGeom>
          <a:noFill/>
          <a:ln/>
        </p:spPr>
        <p:txBody>
          <a:bodyPr wrap="square" lIns="0" tIns="0" rIns="0" bIns="0" rtlCol="0" anchor="t"/>
          <a:lstStyle/>
          <a:p>
            <a:pPr indent="0" marL="0">
              <a:lnSpc>
                <a:spcPts val="3600"/>
              </a:lnSpc>
              <a:buNone/>
            </a:pPr>
            <a:r>
              <a:rPr lang="en-US" sz="3000" b="1" dirty="0">
                <a:solidFill>
                  <a:srgbClr val="E5E7EB"/>
                </a:solidFill>
                <a:latin typeface="Space Grotesk" pitchFamily="34" charset="0"/>
                <a:ea typeface="Space Grotesk" pitchFamily="34" charset="-122"/>
                <a:cs typeface="Space Grotesk" pitchFamily="34" charset="-120"/>
              </a:rPr>
              <a:t>One tasking surface that flies Class VIII </a:t>
            </a:r>
            <a:pPr indent="0" marL="0">
              <a:lnSpc>
                <a:spcPts val="3600"/>
              </a:lnSpc>
              <a:buNone/>
            </a:pPr>
            <a:r>
              <a:rPr lang="en-US" sz="3000" b="1" dirty="0">
                <a:solidFill>
                  <a:srgbClr val="F59E0B"/>
                </a:solidFill>
                <a:latin typeface="Space Grotesk" pitchFamily="34" charset="0"/>
                <a:ea typeface="Space Grotesk" pitchFamily="34" charset="-122"/>
                <a:cs typeface="Space Grotesk" pitchFamily="34" charset="-120"/>
              </a:rPr>
              <a:t>against a clock</a:t>
            </a:r>
            <a:pPr indent="0" marL="0">
              <a:lnSpc>
                <a:spcPts val="3600"/>
              </a:lnSpc>
              <a:buNone/>
            </a:pPr>
            <a:r>
              <a:rPr lang="en-US" sz="3000" b="1" dirty="0">
                <a:solidFill>
                  <a:srgbClr val="E5E7EB"/>
                </a:solidFill>
                <a:latin typeface="Space Grotesk" pitchFamily="34" charset="0"/>
                <a:ea typeface="Space Grotesk" pitchFamily="34" charset="-122"/>
                <a:cs typeface="Space Grotesk" pitchFamily="34" charset="-120"/>
              </a:rPr>
              <a:t>.</a:t>
            </a:r>
            <a:endParaRPr lang="en-US" sz="3000" dirty="0"/>
          </a:p>
        </p:txBody>
      </p:sp>
      <p:sp>
        <p:nvSpPr>
          <p:cNvPr id="48" name="Text 46"/>
          <p:cNvSpPr/>
          <p:nvPr/>
        </p:nvSpPr>
        <p:spPr>
          <a:xfrm>
            <a:off x="609585" y="1337310"/>
            <a:ext cx="10241024" cy="274320"/>
          </a:xfrm>
          <a:prstGeom prst="rect">
            <a:avLst/>
          </a:prstGeom>
          <a:noFill/>
          <a:ln/>
        </p:spPr>
        <p:txBody>
          <a:bodyPr wrap="square" lIns="0" tIns="0" rIns="0" bIns="0" rtlCol="0" anchor="ctr"/>
          <a:lstStyle/>
          <a:p>
            <a:pPr indent="0" marL="0">
              <a:buNone/>
            </a:pPr>
            <a:r>
              <a:rPr lang="en-US" sz="1050" spc="200" kern="0" dirty="0">
                <a:solidFill>
                  <a:srgbClr val="94A3B8"/>
                </a:solidFill>
                <a:latin typeface="IBM Plex Mono" pitchFamily="34" charset="0"/>
                <a:ea typeface="IBM Plex Mono" pitchFamily="34" charset="-122"/>
                <a:cs typeface="IBM Plex Mono" pitchFamily="34" charset="-120"/>
              </a:rPr>
              <a:t>Same battle  ·  same aircraft  ·  same launch points  ·  same casualties  ·  same seed</a:t>
            </a:r>
            <a:endParaRPr lang="en-US" sz="1050" dirty="0"/>
          </a:p>
        </p:txBody>
      </p:sp>
      <p:sp>
        <p:nvSpPr>
          <p:cNvPr id="49" name="Shape 47"/>
          <p:cNvSpPr/>
          <p:nvPr/>
        </p:nvSpPr>
        <p:spPr>
          <a:xfrm>
            <a:off x="609585" y="1714500"/>
            <a:ext cx="10972526" cy="891540"/>
          </a:xfrm>
          <a:prstGeom prst="rect">
            <a:avLst/>
          </a:prstGeom>
          <a:solidFill>
            <a:srgbClr val="111827"/>
          </a:solidFill>
          <a:ln w="12700">
            <a:solidFill>
              <a:srgbClr val="1F2937"/>
            </a:solidFill>
            <a:prstDash val="solid"/>
          </a:ln>
        </p:spPr>
      </p:sp>
      <p:sp>
        <p:nvSpPr>
          <p:cNvPr id="50" name="Text 48"/>
          <p:cNvSpPr/>
          <p:nvPr/>
        </p:nvSpPr>
        <p:spPr>
          <a:xfrm>
            <a:off x="804652" y="1796796"/>
            <a:ext cx="1097253" cy="726948"/>
          </a:xfrm>
          <a:prstGeom prst="rect">
            <a:avLst/>
          </a:prstGeom>
          <a:noFill/>
          <a:ln/>
        </p:spPr>
        <p:txBody>
          <a:bodyPr wrap="square" lIns="0" tIns="0" rIns="0" bIns="0" rtlCol="0" anchor="ctr"/>
          <a:lstStyle/>
          <a:p>
            <a:pPr algn="r" indent="0" marL="0">
              <a:buNone/>
            </a:pPr>
            <a:r>
              <a:rPr lang="en-US" sz="4400" b="1" dirty="0">
                <a:solidFill>
                  <a:srgbClr val="E5E7EB"/>
                </a:solidFill>
                <a:latin typeface="Space Grotesk" pitchFamily="34" charset="0"/>
                <a:ea typeface="Space Grotesk" pitchFamily="34" charset="-122"/>
                <a:cs typeface="Space Grotesk" pitchFamily="34" charset="-120"/>
              </a:rPr>
              <a:t>23</a:t>
            </a:r>
            <a:endParaRPr lang="en-US" sz="4400" dirty="0"/>
          </a:p>
        </p:txBody>
      </p:sp>
      <p:sp>
        <p:nvSpPr>
          <p:cNvPr id="51" name="Text 49"/>
          <p:cNvSpPr/>
          <p:nvPr/>
        </p:nvSpPr>
        <p:spPr>
          <a:xfrm>
            <a:off x="1926288" y="1796796"/>
            <a:ext cx="365751" cy="726948"/>
          </a:xfrm>
          <a:prstGeom prst="rect">
            <a:avLst/>
          </a:prstGeom>
          <a:noFill/>
          <a:ln/>
        </p:spPr>
        <p:txBody>
          <a:bodyPr wrap="square" lIns="0" tIns="0" rIns="0" bIns="0" rtlCol="0" anchor="ctr"/>
          <a:lstStyle/>
          <a:p>
            <a:pPr algn="ctr" indent="0" marL="0">
              <a:buNone/>
            </a:pPr>
            <a:r>
              <a:rPr lang="en-US" sz="1500" dirty="0">
                <a:solidFill>
                  <a:srgbClr val="94A3B8"/>
                </a:solidFill>
                <a:latin typeface="IBM Plex Mono" pitchFamily="34" charset="0"/>
                <a:ea typeface="IBM Plex Mono" pitchFamily="34" charset="-122"/>
                <a:cs typeface="IBM Plex Mono" pitchFamily="34" charset="-120"/>
              </a:rPr>
              <a:t>v</a:t>
            </a:r>
            <a:endParaRPr lang="en-US" sz="1500" dirty="0"/>
          </a:p>
        </p:txBody>
      </p:sp>
      <p:sp>
        <p:nvSpPr>
          <p:cNvPr id="52" name="Text 50"/>
          <p:cNvSpPr/>
          <p:nvPr/>
        </p:nvSpPr>
        <p:spPr>
          <a:xfrm>
            <a:off x="2292039" y="1796796"/>
            <a:ext cx="1097253" cy="726948"/>
          </a:xfrm>
          <a:prstGeom prst="rect">
            <a:avLst/>
          </a:prstGeom>
          <a:noFill/>
          <a:ln/>
        </p:spPr>
        <p:txBody>
          <a:bodyPr wrap="square" lIns="0" tIns="0" rIns="0" bIns="0" rtlCol="0" anchor="ctr"/>
          <a:lstStyle/>
          <a:p>
            <a:pPr algn="l" indent="0" marL="0">
              <a:buNone/>
            </a:pPr>
            <a:r>
              <a:rPr lang="en-US" sz="4400" b="1" dirty="0">
                <a:solidFill>
                  <a:srgbClr val="EF4444"/>
                </a:solidFill>
                <a:latin typeface="Space Grotesk" pitchFamily="34" charset="0"/>
                <a:ea typeface="Space Grotesk" pitchFamily="34" charset="-122"/>
                <a:cs typeface="Space Grotesk" pitchFamily="34" charset="-120"/>
              </a:rPr>
              <a:t>34</a:t>
            </a:r>
            <a:endParaRPr lang="en-US" sz="4400" dirty="0"/>
          </a:p>
        </p:txBody>
      </p:sp>
      <p:sp>
        <p:nvSpPr>
          <p:cNvPr id="53" name="Shape 51"/>
          <p:cNvSpPr/>
          <p:nvPr/>
        </p:nvSpPr>
        <p:spPr>
          <a:xfrm>
            <a:off x="3657509" y="1851660"/>
            <a:ext cx="0" cy="617220"/>
          </a:xfrm>
          <a:prstGeom prst="line">
            <a:avLst/>
          </a:prstGeom>
          <a:noFill/>
          <a:ln w="12700">
            <a:solidFill>
              <a:srgbClr val="1F2937"/>
            </a:solidFill>
            <a:prstDash val="solid"/>
          </a:ln>
        </p:spPr>
      </p:sp>
      <p:sp>
        <p:nvSpPr>
          <p:cNvPr id="54" name="Text 52"/>
          <p:cNvSpPr/>
          <p:nvPr/>
        </p:nvSpPr>
        <p:spPr>
          <a:xfrm>
            <a:off x="3901342" y="1837944"/>
            <a:ext cx="6827349" cy="644652"/>
          </a:xfrm>
          <a:prstGeom prst="rect">
            <a:avLst/>
          </a:prstGeom>
          <a:noFill/>
          <a:ln/>
        </p:spPr>
        <p:txBody>
          <a:bodyPr wrap="square" lIns="0" tIns="0" rIns="0" bIns="0" rtlCol="0" anchor="ctr"/>
          <a:lstStyle/>
          <a:p>
            <a:pPr indent="0" marL="0">
              <a:lnSpc>
                <a:spcPts val="1500"/>
              </a:lnSpc>
              <a:buNone/>
            </a:pPr>
            <a:r>
              <a:rPr lang="en-US" sz="1500" b="1" spc="300" kern="0" dirty="0">
                <a:solidFill>
                  <a:srgbClr val="F59E0B"/>
                </a:solidFill>
                <a:latin typeface="IBM Plex Sans" pitchFamily="34" charset="0"/>
                <a:ea typeface="IBM Plex Sans" pitchFamily="34" charset="-122"/>
                <a:cs typeface="IBM Plex Sans" pitchFamily="34" charset="-120"/>
              </a:rPr>
              <a:t>ELEVEN FEWER DEAD</a:t>
            </a:r>
            <a:endParaRPr lang="en-US" sz="1500" dirty="0"/>
          </a:p>
          <a:p>
            <a:pPr indent="0" marL="0">
              <a:lnSpc>
                <a:spcPts val="1500"/>
              </a:lnSpc>
              <a:buNone/>
            </a:pPr>
            <a:r>
              <a:rPr lang="en-US" sz="1100" dirty="0">
                <a:solidFill>
                  <a:srgbClr val="94A3B8"/>
                </a:solidFill>
                <a:latin typeface="IBM Plex Sans" pitchFamily="34" charset="0"/>
                <a:ea typeface="IBM Plex Sans" pitchFamily="34" charset="-122"/>
                <a:cs typeface="IBM Plex Sans" pitchFamily="34" charset="-120"/>
              </a:rPr>
              <a:t>of wounds that could have been survived — ANGEL SWARM tasking against Class VIII push, in the same three hours. Every number here is a person. The target is zero.</a:t>
            </a:r>
            <a:endParaRPr lang="en-US" sz="1500" dirty="0"/>
          </a:p>
        </p:txBody>
      </p:sp>
      <p:sp>
        <p:nvSpPr>
          <p:cNvPr id="55" name="Shape 53"/>
          <p:cNvSpPr/>
          <p:nvPr/>
        </p:nvSpPr>
        <p:spPr>
          <a:xfrm>
            <a:off x="609585" y="2811780"/>
            <a:ext cx="2651694" cy="3086100"/>
          </a:xfrm>
          <a:prstGeom prst="rect">
            <a:avLst/>
          </a:prstGeom>
          <a:solidFill>
            <a:srgbClr val="111827"/>
          </a:solidFill>
          <a:ln w="12700">
            <a:solidFill>
              <a:srgbClr val="1F2937"/>
            </a:solidFill>
            <a:prstDash val="solid"/>
          </a:ln>
        </p:spPr>
      </p:sp>
      <p:sp>
        <p:nvSpPr>
          <p:cNvPr id="56" name="Shape 54"/>
          <p:cNvSpPr/>
          <p:nvPr/>
        </p:nvSpPr>
        <p:spPr>
          <a:xfrm>
            <a:off x="713214" y="2945511"/>
            <a:ext cx="77724" cy="77724"/>
          </a:xfrm>
          <a:prstGeom prst="ellipse">
            <a:avLst/>
          </a:prstGeom>
          <a:solidFill>
            <a:srgbClr val="22D3EE"/>
          </a:solidFill>
          <a:ln/>
        </p:spPr>
      </p:sp>
      <p:sp>
        <p:nvSpPr>
          <p:cNvPr id="57" name="Text 55"/>
          <p:cNvSpPr/>
          <p:nvPr/>
        </p:nvSpPr>
        <p:spPr>
          <a:xfrm>
            <a:off x="850374" y="2887218"/>
            <a:ext cx="2307275" cy="178308"/>
          </a:xfrm>
          <a:prstGeom prst="rect">
            <a:avLst/>
          </a:prstGeom>
          <a:noFill/>
          <a:ln/>
        </p:spPr>
        <p:txBody>
          <a:bodyPr wrap="square" lIns="0" tIns="0" rIns="0" bIns="0" rtlCol="0" anchor="ctr"/>
          <a:lstStyle/>
          <a:p>
            <a:pPr indent="0" marL="0">
              <a:buNone/>
            </a:pPr>
            <a:r>
              <a:rPr lang="en-US" sz="900" spc="250" kern="0" dirty="0">
                <a:solidFill>
                  <a:srgbClr val="22D3EE"/>
                </a:solidFill>
                <a:latin typeface="IBM Plex Mono" pitchFamily="34" charset="0"/>
                <a:ea typeface="IBM Plex Mono" pitchFamily="34" charset="-122"/>
                <a:cs typeface="IBM Plex Mono" pitchFamily="34" charset="-120"/>
              </a:rPr>
              <a:t>ACQUISITION</a:t>
            </a:r>
            <a:endParaRPr lang="en-US" sz="900" dirty="0"/>
          </a:p>
        </p:txBody>
      </p:sp>
      <p:sp>
        <p:nvSpPr>
          <p:cNvPr id="58" name="Shape 56"/>
          <p:cNvSpPr/>
          <p:nvPr/>
        </p:nvSpPr>
        <p:spPr>
          <a:xfrm>
            <a:off x="713214" y="3106674"/>
            <a:ext cx="2444435" cy="0"/>
          </a:xfrm>
          <a:prstGeom prst="line">
            <a:avLst/>
          </a:prstGeom>
          <a:noFill/>
          <a:ln w="12700">
            <a:solidFill>
              <a:srgbClr val="1F2937"/>
            </a:solidFill>
            <a:prstDash val="solid"/>
          </a:ln>
        </p:spPr>
      </p:sp>
      <p:sp>
        <p:nvSpPr>
          <p:cNvPr id="59" name="Text 57"/>
          <p:cNvSpPr/>
          <p:nvPr/>
        </p:nvSpPr>
        <p:spPr>
          <a:xfrm>
            <a:off x="713214" y="3182112"/>
            <a:ext cx="2444435" cy="605699"/>
          </a:xfrm>
          <a:prstGeom prst="rect">
            <a:avLst/>
          </a:prstGeom>
          <a:noFill/>
          <a:ln/>
        </p:spPr>
        <p:txBody>
          <a:bodyPr wrap="square" lIns="0" tIns="0" rIns="0" bIns="0" rtlCol="0" anchor="t"/>
          <a:lstStyle/>
          <a:p>
            <a:pPr indent="0" marL="0">
              <a:lnSpc>
                <a:spcPts val="1350"/>
              </a:lnSpc>
              <a:buNone/>
            </a:pPr>
            <a:r>
              <a:rPr lang="en-US" sz="1200" b="1" dirty="0">
                <a:solidFill>
                  <a:srgbClr val="E5E7EB"/>
                </a:solidFill>
                <a:latin typeface="Space Grotesk" pitchFamily="34" charset="0"/>
                <a:ea typeface="Space Grotesk" pitchFamily="34" charset="-122"/>
                <a:cs typeface="Space Grotesk" pitchFamily="34" charset="-120"/>
              </a:rPr>
              <a:t>125 devices, nothing dropped</a:t>
            </a:r>
            <a:endParaRPr lang="en-US" sz="1200" dirty="0"/>
          </a:p>
        </p:txBody>
      </p:sp>
      <p:sp>
        <p:nvSpPr>
          <p:cNvPr id="60" name="Text 58"/>
          <p:cNvSpPr/>
          <p:nvPr/>
        </p:nvSpPr>
        <p:spPr>
          <a:xfrm>
            <a:off x="713214" y="3774643"/>
            <a:ext cx="2444435" cy="724205"/>
          </a:xfrm>
          <a:prstGeom prst="rect">
            <a:avLst/>
          </a:prstGeom>
          <a:noFill/>
          <a:ln/>
        </p:spPr>
        <p:txBody>
          <a:bodyPr wrap="square" lIns="0" tIns="0" rIns="0" bIns="0" rtlCol="0" anchor="t"/>
          <a:lstStyle/>
          <a:p>
            <a:pPr indent="0" marL="0">
              <a:lnSpc>
                <a:spcPts val="1100"/>
              </a:lnSpc>
              <a:buNone/>
            </a:pPr>
            <a:r>
              <a:rPr lang="en-US" sz="900" dirty="0">
                <a:solidFill>
                  <a:srgbClr val="94A3B8"/>
                </a:solidFill>
                <a:latin typeface="IBM Plex Sans" pitchFamily="34" charset="0"/>
                <a:ea typeface="IBM Plex Sans" pitchFamily="34" charset="-122"/>
                <a:cs typeface="IBM Plex Sans" pitchFamily="34" charset="-120"/>
              </a:rPr>
              <a:t>62 messages a second, over a real socket</a:t>
            </a:r>
            <a:endParaRPr lang="en-US" sz="900" dirty="0"/>
          </a:p>
        </p:txBody>
      </p:sp>
      <p:sp>
        <p:nvSpPr>
          <p:cNvPr id="61" name="Text 59"/>
          <p:cNvSpPr/>
          <p:nvPr/>
        </p:nvSpPr>
        <p:spPr>
          <a:xfrm>
            <a:off x="713214" y="4498848"/>
            <a:ext cx="2444435" cy="605699"/>
          </a:xfrm>
          <a:prstGeom prst="rect">
            <a:avLst/>
          </a:prstGeom>
          <a:noFill/>
          <a:ln/>
        </p:spPr>
        <p:txBody>
          <a:bodyPr wrap="square" lIns="0" tIns="0" rIns="0" bIns="0" rtlCol="0" anchor="t"/>
          <a:lstStyle/>
          <a:p>
            <a:pPr indent="0" marL="0">
              <a:lnSpc>
                <a:spcPts val="1350"/>
              </a:lnSpc>
              <a:buNone/>
            </a:pPr>
            <a:r>
              <a:rPr lang="en-US" sz="1200" b="1" dirty="0">
                <a:solidFill>
                  <a:srgbClr val="E5E7EB"/>
                </a:solidFill>
                <a:latin typeface="Space Grotesk" pitchFamily="34" charset="0"/>
                <a:ea typeface="Space Grotesk" pitchFamily="34" charset="-122"/>
                <a:cs typeface="Space Grotesk" pitchFamily="34" charset="-120"/>
              </a:rPr>
              <a:t>Cut the feed on camera</a:t>
            </a:r>
            <a:endParaRPr lang="en-US" sz="1200" dirty="0"/>
          </a:p>
        </p:txBody>
      </p:sp>
      <p:sp>
        <p:nvSpPr>
          <p:cNvPr id="62" name="Text 60"/>
          <p:cNvSpPr/>
          <p:nvPr/>
        </p:nvSpPr>
        <p:spPr>
          <a:xfrm>
            <a:off x="713214" y="5091379"/>
            <a:ext cx="2444435" cy="724205"/>
          </a:xfrm>
          <a:prstGeom prst="rect">
            <a:avLst/>
          </a:prstGeom>
          <a:noFill/>
          <a:ln/>
        </p:spPr>
        <p:txBody>
          <a:bodyPr wrap="square" lIns="0" tIns="0" rIns="0" bIns="0" rtlCol="0" anchor="t"/>
          <a:lstStyle/>
          <a:p>
            <a:pPr indent="0" marL="0">
              <a:lnSpc>
                <a:spcPts val="1100"/>
              </a:lnSpc>
              <a:buNone/>
            </a:pPr>
            <a:r>
              <a:rPr lang="en-US" sz="900" dirty="0">
                <a:solidFill>
                  <a:srgbClr val="94A3B8"/>
                </a:solidFill>
                <a:latin typeface="IBM Plex Sans" pitchFamily="34" charset="0"/>
                <a:ea typeface="IBM Plex Sans" pitchFamily="34" charset="-122"/>
                <a:cs typeface="IBM Plex Sans" pitchFamily="34" charset="-120"/>
              </a:rPr>
              <a:t>Link goes down; tasking runs on last-known state</a:t>
            </a:r>
            <a:endParaRPr lang="en-US" sz="900" dirty="0"/>
          </a:p>
        </p:txBody>
      </p:sp>
      <p:sp>
        <p:nvSpPr>
          <p:cNvPr id="63" name="Shape 61"/>
          <p:cNvSpPr/>
          <p:nvPr/>
        </p:nvSpPr>
        <p:spPr>
          <a:xfrm>
            <a:off x="3383195" y="2811780"/>
            <a:ext cx="2651694" cy="3086100"/>
          </a:xfrm>
          <a:prstGeom prst="rect">
            <a:avLst/>
          </a:prstGeom>
          <a:solidFill>
            <a:srgbClr val="111827"/>
          </a:solidFill>
          <a:ln w="15875">
            <a:solidFill>
              <a:srgbClr val="F59E0B"/>
            </a:solidFill>
            <a:prstDash val="solid"/>
          </a:ln>
        </p:spPr>
      </p:sp>
      <p:sp>
        <p:nvSpPr>
          <p:cNvPr id="64" name="Shape 62"/>
          <p:cNvSpPr/>
          <p:nvPr/>
        </p:nvSpPr>
        <p:spPr>
          <a:xfrm>
            <a:off x="5669129" y="2811780"/>
            <a:ext cx="365760" cy="205740"/>
          </a:xfrm>
          <a:prstGeom prst="rect">
            <a:avLst/>
          </a:prstGeom>
          <a:solidFill>
            <a:srgbClr val="F59E0B"/>
          </a:solidFill>
          <a:ln/>
        </p:spPr>
      </p:sp>
      <p:sp>
        <p:nvSpPr>
          <p:cNvPr id="65" name="Text 63"/>
          <p:cNvSpPr/>
          <p:nvPr/>
        </p:nvSpPr>
        <p:spPr>
          <a:xfrm>
            <a:off x="5669129" y="2811780"/>
            <a:ext cx="365760" cy="205740"/>
          </a:xfrm>
          <a:prstGeom prst="rect">
            <a:avLst/>
          </a:prstGeom>
          <a:noFill/>
          <a:ln/>
        </p:spPr>
        <p:txBody>
          <a:bodyPr wrap="square" lIns="0" tIns="0" rIns="0" bIns="0" rtlCol="0" anchor="ctr"/>
          <a:lstStyle/>
          <a:p>
            <a:pPr algn="ctr" indent="0" marL="0">
              <a:buNone/>
            </a:pPr>
            <a:r>
              <a:rPr lang="en-US" sz="850" b="1" spc="150" kern="0" dirty="0">
                <a:solidFill>
                  <a:srgbClr val="0B1220"/>
                </a:solidFill>
                <a:latin typeface="IBM Plex Mono" pitchFamily="34" charset="0"/>
                <a:ea typeface="IBM Plex Mono" pitchFamily="34" charset="-122"/>
                <a:cs typeface="IBM Plex Mono" pitchFamily="34" charset="-120"/>
              </a:rPr>
              <a:t>AI</a:t>
            </a:r>
            <a:endParaRPr lang="en-US" sz="850" dirty="0"/>
          </a:p>
        </p:txBody>
      </p:sp>
      <p:sp>
        <p:nvSpPr>
          <p:cNvPr id="66" name="Shape 64"/>
          <p:cNvSpPr/>
          <p:nvPr/>
        </p:nvSpPr>
        <p:spPr>
          <a:xfrm>
            <a:off x="3486825" y="2945511"/>
            <a:ext cx="77724" cy="77724"/>
          </a:xfrm>
          <a:prstGeom prst="ellipse">
            <a:avLst/>
          </a:prstGeom>
          <a:solidFill>
            <a:srgbClr val="4CC4C4"/>
          </a:solidFill>
          <a:ln/>
        </p:spPr>
      </p:sp>
      <p:sp>
        <p:nvSpPr>
          <p:cNvPr id="67" name="Text 65"/>
          <p:cNvSpPr/>
          <p:nvPr/>
        </p:nvSpPr>
        <p:spPr>
          <a:xfrm>
            <a:off x="3623985" y="2887218"/>
            <a:ext cx="2307275" cy="178308"/>
          </a:xfrm>
          <a:prstGeom prst="rect">
            <a:avLst/>
          </a:prstGeom>
          <a:noFill/>
          <a:ln/>
        </p:spPr>
        <p:txBody>
          <a:bodyPr wrap="square" lIns="0" tIns="0" rIns="0" bIns="0" rtlCol="0" anchor="ctr"/>
          <a:lstStyle/>
          <a:p>
            <a:pPr indent="0" marL="0">
              <a:buNone/>
            </a:pPr>
            <a:r>
              <a:rPr lang="en-US" sz="900" spc="250" kern="0" dirty="0">
                <a:solidFill>
                  <a:srgbClr val="4CC4C4"/>
                </a:solidFill>
                <a:latin typeface="IBM Plex Mono" pitchFamily="34" charset="0"/>
                <a:ea typeface="IBM Plex Mono" pitchFamily="34" charset="-122"/>
                <a:cs typeface="IBM Plex Mono" pitchFamily="34" charset="-120"/>
              </a:rPr>
              <a:t>THE MODEL</a:t>
            </a:r>
            <a:endParaRPr lang="en-US" sz="900" dirty="0"/>
          </a:p>
        </p:txBody>
      </p:sp>
      <p:sp>
        <p:nvSpPr>
          <p:cNvPr id="68" name="Shape 66"/>
          <p:cNvSpPr/>
          <p:nvPr/>
        </p:nvSpPr>
        <p:spPr>
          <a:xfrm>
            <a:off x="3486825" y="3106674"/>
            <a:ext cx="2444435" cy="0"/>
          </a:xfrm>
          <a:prstGeom prst="line">
            <a:avLst/>
          </a:prstGeom>
          <a:noFill/>
          <a:ln w="12700">
            <a:solidFill>
              <a:srgbClr val="1F2937"/>
            </a:solidFill>
            <a:prstDash val="solid"/>
          </a:ln>
        </p:spPr>
      </p:sp>
      <p:sp>
        <p:nvSpPr>
          <p:cNvPr id="69" name="Text 67"/>
          <p:cNvSpPr/>
          <p:nvPr/>
        </p:nvSpPr>
        <p:spPr>
          <a:xfrm>
            <a:off x="3486825" y="3182112"/>
            <a:ext cx="2444435" cy="605699"/>
          </a:xfrm>
          <a:prstGeom prst="rect">
            <a:avLst/>
          </a:prstGeom>
          <a:noFill/>
          <a:ln/>
        </p:spPr>
        <p:txBody>
          <a:bodyPr wrap="square" lIns="0" tIns="0" rIns="0" bIns="0" rtlCol="0" anchor="t"/>
          <a:lstStyle/>
          <a:p>
            <a:pPr indent="0" marL="0">
              <a:lnSpc>
                <a:spcPts val="1350"/>
              </a:lnSpc>
              <a:buNone/>
            </a:pPr>
            <a:r>
              <a:rPr lang="en-US" sz="1200" b="1" dirty="0">
                <a:solidFill>
                  <a:srgbClr val="E5E7EB"/>
                </a:solidFill>
                <a:latin typeface="Space Grotesk" pitchFamily="34" charset="0"/>
                <a:ea typeface="Space Grotesk" pitchFamily="34" charset="-122"/>
                <a:cs typeface="Space Grotesk" pitchFamily="34" charset="-120"/>
              </a:rPr>
              <a:t>Error 0.069 against 0.159</a:t>
            </a:r>
            <a:endParaRPr lang="en-US" sz="1200" dirty="0"/>
          </a:p>
        </p:txBody>
      </p:sp>
      <p:sp>
        <p:nvSpPr>
          <p:cNvPr id="70" name="Text 68"/>
          <p:cNvSpPr/>
          <p:nvPr/>
        </p:nvSpPr>
        <p:spPr>
          <a:xfrm>
            <a:off x="3486825" y="3774643"/>
            <a:ext cx="2444435" cy="724205"/>
          </a:xfrm>
          <a:prstGeom prst="rect">
            <a:avLst/>
          </a:prstGeom>
          <a:noFill/>
          <a:ln/>
        </p:spPr>
        <p:txBody>
          <a:bodyPr wrap="square" lIns="0" tIns="0" rIns="0" bIns="0" rtlCol="0" anchor="t"/>
          <a:lstStyle/>
          <a:p>
            <a:pPr indent="0" marL="0">
              <a:lnSpc>
                <a:spcPts val="1100"/>
              </a:lnSpc>
              <a:buNone/>
            </a:pPr>
            <a:r>
              <a:rPr lang="en-US" sz="900" dirty="0">
                <a:solidFill>
                  <a:srgbClr val="94A3B8"/>
                </a:solidFill>
                <a:latin typeface="IBM Plex Sans" pitchFamily="34" charset="0"/>
                <a:ea typeface="IBM Plex Sans" pitchFamily="34" charset="-122"/>
                <a:cs typeface="IBM Plex Sans" pitchFamily="34" charset="-120"/>
              </a:rPr>
              <a:t>CRI-Net versus heart rate alone, held out by person</a:t>
            </a:r>
            <a:endParaRPr lang="en-US" sz="900" dirty="0"/>
          </a:p>
        </p:txBody>
      </p:sp>
      <p:sp>
        <p:nvSpPr>
          <p:cNvPr id="71" name="Text 69"/>
          <p:cNvSpPr/>
          <p:nvPr/>
        </p:nvSpPr>
        <p:spPr>
          <a:xfrm>
            <a:off x="3486825" y="4498848"/>
            <a:ext cx="2444435" cy="605699"/>
          </a:xfrm>
          <a:prstGeom prst="rect">
            <a:avLst/>
          </a:prstGeom>
          <a:noFill/>
          <a:ln/>
        </p:spPr>
        <p:txBody>
          <a:bodyPr wrap="square" lIns="0" tIns="0" rIns="0" bIns="0" rtlCol="0" anchor="t"/>
          <a:lstStyle/>
          <a:p>
            <a:pPr indent="0" marL="0">
              <a:lnSpc>
                <a:spcPts val="1350"/>
              </a:lnSpc>
              <a:buNone/>
            </a:pPr>
            <a:r>
              <a:rPr lang="en-US" sz="1200" b="1" dirty="0">
                <a:solidFill>
                  <a:srgbClr val="E5E7EB"/>
                </a:solidFill>
                <a:latin typeface="Space Grotesk" pitchFamily="34" charset="0"/>
                <a:ea typeface="Space Grotesk" pitchFamily="34" charset="-122"/>
                <a:cs typeface="Space Grotesk" pitchFamily="34" charset="-120"/>
              </a:rPr>
              <a:t>It refuses when unsure</a:t>
            </a:r>
            <a:endParaRPr lang="en-US" sz="1200" dirty="0"/>
          </a:p>
        </p:txBody>
      </p:sp>
      <p:sp>
        <p:nvSpPr>
          <p:cNvPr id="72" name="Text 70"/>
          <p:cNvSpPr/>
          <p:nvPr/>
        </p:nvSpPr>
        <p:spPr>
          <a:xfrm>
            <a:off x="3486825" y="5091379"/>
            <a:ext cx="2444435" cy="724205"/>
          </a:xfrm>
          <a:prstGeom prst="rect">
            <a:avLst/>
          </a:prstGeom>
          <a:noFill/>
          <a:ln/>
        </p:spPr>
        <p:txBody>
          <a:bodyPr wrap="square" lIns="0" tIns="0" rIns="0" bIns="0" rtlCol="0" anchor="t"/>
          <a:lstStyle/>
          <a:p>
            <a:pPr indent="0" marL="0">
              <a:lnSpc>
                <a:spcPts val="1100"/>
              </a:lnSpc>
              <a:buNone/>
            </a:pPr>
            <a:r>
              <a:rPr lang="en-US" sz="900" dirty="0">
                <a:solidFill>
                  <a:srgbClr val="94A3B8"/>
                </a:solidFill>
                <a:latin typeface="IBM Plex Sans" pitchFamily="34" charset="0"/>
                <a:ea typeface="IBM Plex Sans" pitchFamily="34" charset="-122"/>
                <a:cs typeface="IBM Plex Sans" pitchFamily="34" charset="-120"/>
              </a:rPr>
              <a:t>0.063 error when it acts, 0.115 when it will not</a:t>
            </a:r>
            <a:endParaRPr lang="en-US" sz="900" dirty="0"/>
          </a:p>
        </p:txBody>
      </p:sp>
      <p:sp>
        <p:nvSpPr>
          <p:cNvPr id="73" name="Shape 71"/>
          <p:cNvSpPr/>
          <p:nvPr/>
        </p:nvSpPr>
        <p:spPr>
          <a:xfrm>
            <a:off x="6156806" y="2811780"/>
            <a:ext cx="2651694" cy="3086100"/>
          </a:xfrm>
          <a:prstGeom prst="rect">
            <a:avLst/>
          </a:prstGeom>
          <a:solidFill>
            <a:srgbClr val="111827"/>
          </a:solidFill>
          <a:ln w="12700">
            <a:solidFill>
              <a:srgbClr val="1F2937"/>
            </a:solidFill>
            <a:prstDash val="solid"/>
          </a:ln>
        </p:spPr>
      </p:sp>
      <p:sp>
        <p:nvSpPr>
          <p:cNvPr id="74" name="Shape 72"/>
          <p:cNvSpPr/>
          <p:nvPr/>
        </p:nvSpPr>
        <p:spPr>
          <a:xfrm>
            <a:off x="6260435" y="2945511"/>
            <a:ext cx="77724" cy="77724"/>
          </a:xfrm>
          <a:prstGeom prst="ellipse">
            <a:avLst/>
          </a:prstGeom>
          <a:solidFill>
            <a:srgbClr val="F59E0B"/>
          </a:solidFill>
          <a:ln/>
        </p:spPr>
      </p:sp>
      <p:sp>
        <p:nvSpPr>
          <p:cNvPr id="75" name="Text 73"/>
          <p:cNvSpPr/>
          <p:nvPr/>
        </p:nvSpPr>
        <p:spPr>
          <a:xfrm>
            <a:off x="6397595" y="2887218"/>
            <a:ext cx="2307275" cy="178308"/>
          </a:xfrm>
          <a:prstGeom prst="rect">
            <a:avLst/>
          </a:prstGeom>
          <a:noFill/>
          <a:ln/>
        </p:spPr>
        <p:txBody>
          <a:bodyPr wrap="square" lIns="0" tIns="0" rIns="0" bIns="0" rtlCol="0" anchor="ctr"/>
          <a:lstStyle/>
          <a:p>
            <a:pPr indent="0" marL="0">
              <a:buNone/>
            </a:pPr>
            <a:r>
              <a:rPr lang="en-US" sz="900" spc="250" kern="0" dirty="0">
                <a:solidFill>
                  <a:srgbClr val="F59E0B"/>
                </a:solidFill>
                <a:latin typeface="IBM Plex Mono" pitchFamily="34" charset="0"/>
                <a:ea typeface="IBM Plex Mono" pitchFamily="34" charset="-122"/>
                <a:cs typeface="IBM Plex Mono" pitchFamily="34" charset="-120"/>
              </a:rPr>
              <a:t>THE EVIDENCE</a:t>
            </a:r>
            <a:endParaRPr lang="en-US" sz="900" dirty="0"/>
          </a:p>
        </p:txBody>
      </p:sp>
      <p:sp>
        <p:nvSpPr>
          <p:cNvPr id="76" name="Shape 74"/>
          <p:cNvSpPr/>
          <p:nvPr/>
        </p:nvSpPr>
        <p:spPr>
          <a:xfrm>
            <a:off x="6260435" y="3106674"/>
            <a:ext cx="2444435" cy="0"/>
          </a:xfrm>
          <a:prstGeom prst="line">
            <a:avLst/>
          </a:prstGeom>
          <a:noFill/>
          <a:ln w="12700">
            <a:solidFill>
              <a:srgbClr val="1F2937"/>
            </a:solidFill>
            <a:prstDash val="solid"/>
          </a:ln>
        </p:spPr>
      </p:sp>
      <p:sp>
        <p:nvSpPr>
          <p:cNvPr id="77" name="Text 75"/>
          <p:cNvSpPr/>
          <p:nvPr/>
        </p:nvSpPr>
        <p:spPr>
          <a:xfrm>
            <a:off x="6260435" y="3182112"/>
            <a:ext cx="2444435" cy="605699"/>
          </a:xfrm>
          <a:prstGeom prst="rect">
            <a:avLst/>
          </a:prstGeom>
          <a:noFill/>
          <a:ln/>
        </p:spPr>
        <p:txBody>
          <a:bodyPr wrap="square" lIns="0" tIns="0" rIns="0" bIns="0" rtlCol="0" anchor="t"/>
          <a:lstStyle/>
          <a:p>
            <a:pPr indent="0" marL="0">
              <a:lnSpc>
                <a:spcPts val="1350"/>
              </a:lnSpc>
              <a:buNone/>
            </a:pPr>
            <a:r>
              <a:rPr lang="en-US" sz="1200" b="1" dirty="0">
                <a:solidFill>
                  <a:srgbClr val="E5E7EB"/>
                </a:solidFill>
                <a:latin typeface="Space Grotesk" pitchFamily="34" charset="0"/>
                <a:ea typeface="Space Grotesk" pitchFamily="34" charset="-122"/>
                <a:cs typeface="Space Grotesk" pitchFamily="34" charset="-120"/>
              </a:rPr>
              <a:t>0 of 200 replications worse</a:t>
            </a:r>
            <a:endParaRPr lang="en-US" sz="1200" dirty="0"/>
          </a:p>
        </p:txBody>
      </p:sp>
      <p:sp>
        <p:nvSpPr>
          <p:cNvPr id="78" name="Text 76"/>
          <p:cNvSpPr/>
          <p:nvPr/>
        </p:nvSpPr>
        <p:spPr>
          <a:xfrm>
            <a:off x="6260435" y="3774643"/>
            <a:ext cx="2444435" cy="724205"/>
          </a:xfrm>
          <a:prstGeom prst="rect">
            <a:avLst/>
          </a:prstGeom>
          <a:noFill/>
          <a:ln/>
        </p:spPr>
        <p:txBody>
          <a:bodyPr wrap="square" lIns="0" tIns="0" rIns="0" bIns="0" rtlCol="0" anchor="t"/>
          <a:lstStyle/>
          <a:p>
            <a:pPr indent="0" marL="0">
              <a:lnSpc>
                <a:spcPts val="1100"/>
              </a:lnSpc>
              <a:buNone/>
            </a:pPr>
            <a:r>
              <a:rPr lang="en-US" sz="900" dirty="0">
                <a:solidFill>
                  <a:srgbClr val="94A3B8"/>
                </a:solidFill>
                <a:latin typeface="IBM Plex Sans" pitchFamily="34" charset="0"/>
                <a:ea typeface="IBM Plex Sans" pitchFamily="34" charset="-122"/>
                <a:cs typeface="IBM Plex Sans" pitchFamily="34" charset="-120"/>
              </a:rPr>
              <a:t>Paired, common random numbers, seeds drawn fresh</a:t>
            </a:r>
            <a:endParaRPr lang="en-US" sz="900" dirty="0"/>
          </a:p>
        </p:txBody>
      </p:sp>
      <p:sp>
        <p:nvSpPr>
          <p:cNvPr id="79" name="Text 77"/>
          <p:cNvSpPr/>
          <p:nvPr/>
        </p:nvSpPr>
        <p:spPr>
          <a:xfrm>
            <a:off x="6260435" y="4498848"/>
            <a:ext cx="2444435" cy="605699"/>
          </a:xfrm>
          <a:prstGeom prst="rect">
            <a:avLst/>
          </a:prstGeom>
          <a:noFill/>
          <a:ln/>
        </p:spPr>
        <p:txBody>
          <a:bodyPr wrap="square" lIns="0" tIns="0" rIns="0" bIns="0" rtlCol="0" anchor="t"/>
          <a:lstStyle/>
          <a:p>
            <a:pPr indent="0" marL="0">
              <a:lnSpc>
                <a:spcPts val="1350"/>
              </a:lnSpc>
              <a:buNone/>
            </a:pPr>
            <a:r>
              <a:rPr lang="en-US" sz="1200" b="1" dirty="0">
                <a:solidFill>
                  <a:srgbClr val="E5E7EB"/>
                </a:solidFill>
                <a:latin typeface="Space Grotesk" pitchFamily="34" charset="0"/>
                <a:ea typeface="Space Grotesk" pitchFamily="34" charset="-122"/>
                <a:cs typeface="Space Grotesk" pitchFamily="34" charset="-120"/>
              </a:rPr>
              <a:t>Mean 4.7 fewer dead</a:t>
            </a:r>
            <a:endParaRPr lang="en-US" sz="1200" dirty="0"/>
          </a:p>
        </p:txBody>
      </p:sp>
      <p:sp>
        <p:nvSpPr>
          <p:cNvPr id="80" name="Text 78"/>
          <p:cNvSpPr/>
          <p:nvPr/>
        </p:nvSpPr>
        <p:spPr>
          <a:xfrm>
            <a:off x="6260435" y="5091379"/>
            <a:ext cx="2444435" cy="724205"/>
          </a:xfrm>
          <a:prstGeom prst="rect">
            <a:avLst/>
          </a:prstGeom>
          <a:noFill/>
          <a:ln/>
        </p:spPr>
        <p:txBody>
          <a:bodyPr wrap="square" lIns="0" tIns="0" rIns="0" bIns="0" rtlCol="0" anchor="t"/>
          <a:lstStyle/>
          <a:p>
            <a:pPr indent="0" marL="0">
              <a:lnSpc>
                <a:spcPts val="1100"/>
              </a:lnSpc>
              <a:buNone/>
            </a:pPr>
            <a:r>
              <a:rPr lang="en-US" sz="900" dirty="0">
                <a:solidFill>
                  <a:srgbClr val="94A3B8"/>
                </a:solidFill>
                <a:latin typeface="IBM Plex Sans" pitchFamily="34" charset="0"/>
                <a:ea typeface="IBM Plex Sans" pitchFamily="34" charset="-122"/>
                <a:cs typeface="IBM Plex Sans" pitchFamily="34" charset="-120"/>
              </a:rPr>
              <a:t>95% interval 4.4 to 5.0 — printed whether it flatters or not</a:t>
            </a:r>
            <a:endParaRPr lang="en-US" sz="900" dirty="0"/>
          </a:p>
        </p:txBody>
      </p:sp>
      <p:sp>
        <p:nvSpPr>
          <p:cNvPr id="81" name="Shape 79"/>
          <p:cNvSpPr/>
          <p:nvPr/>
        </p:nvSpPr>
        <p:spPr>
          <a:xfrm>
            <a:off x="8930417" y="2811780"/>
            <a:ext cx="2651694" cy="3086100"/>
          </a:xfrm>
          <a:prstGeom prst="rect">
            <a:avLst/>
          </a:prstGeom>
          <a:solidFill>
            <a:srgbClr val="111827"/>
          </a:solidFill>
          <a:ln w="12700">
            <a:solidFill>
              <a:srgbClr val="1F2937"/>
            </a:solidFill>
            <a:prstDash val="solid"/>
          </a:ln>
        </p:spPr>
      </p:sp>
      <p:sp>
        <p:nvSpPr>
          <p:cNvPr id="82" name="Shape 80"/>
          <p:cNvSpPr/>
          <p:nvPr/>
        </p:nvSpPr>
        <p:spPr>
          <a:xfrm>
            <a:off x="9034046" y="2945511"/>
            <a:ext cx="77724" cy="77724"/>
          </a:xfrm>
          <a:prstGeom prst="ellipse">
            <a:avLst/>
          </a:prstGeom>
          <a:solidFill>
            <a:srgbClr val="10B981"/>
          </a:solidFill>
          <a:ln/>
        </p:spPr>
      </p:sp>
      <p:sp>
        <p:nvSpPr>
          <p:cNvPr id="83" name="Text 81"/>
          <p:cNvSpPr/>
          <p:nvPr/>
        </p:nvSpPr>
        <p:spPr>
          <a:xfrm>
            <a:off x="9171206" y="2887218"/>
            <a:ext cx="2307275" cy="178308"/>
          </a:xfrm>
          <a:prstGeom prst="rect">
            <a:avLst/>
          </a:prstGeom>
          <a:noFill/>
          <a:ln/>
        </p:spPr>
        <p:txBody>
          <a:bodyPr wrap="square" lIns="0" tIns="0" rIns="0" bIns="0" rtlCol="0" anchor="ctr"/>
          <a:lstStyle/>
          <a:p>
            <a:pPr indent="0" marL="0">
              <a:buNone/>
            </a:pPr>
            <a:r>
              <a:rPr lang="en-US" sz="900" spc="250" kern="0" dirty="0">
                <a:solidFill>
                  <a:srgbClr val="10B981"/>
                </a:solidFill>
                <a:latin typeface="IBM Plex Mono" pitchFamily="34" charset="0"/>
                <a:ea typeface="IBM Plex Mono" pitchFamily="34" charset="-122"/>
                <a:cs typeface="IBM Plex Mono" pitchFamily="34" charset="-120"/>
              </a:rPr>
              <a:t>THE HONEST PART</a:t>
            </a:r>
            <a:endParaRPr lang="en-US" sz="900" dirty="0"/>
          </a:p>
        </p:txBody>
      </p:sp>
      <p:sp>
        <p:nvSpPr>
          <p:cNvPr id="84" name="Shape 82"/>
          <p:cNvSpPr/>
          <p:nvPr/>
        </p:nvSpPr>
        <p:spPr>
          <a:xfrm>
            <a:off x="9034046" y="3106674"/>
            <a:ext cx="2444435" cy="0"/>
          </a:xfrm>
          <a:prstGeom prst="line">
            <a:avLst/>
          </a:prstGeom>
          <a:noFill/>
          <a:ln w="12700">
            <a:solidFill>
              <a:srgbClr val="1F2937"/>
            </a:solidFill>
            <a:prstDash val="solid"/>
          </a:ln>
        </p:spPr>
      </p:sp>
      <p:sp>
        <p:nvSpPr>
          <p:cNvPr id="85" name="Text 83"/>
          <p:cNvSpPr/>
          <p:nvPr/>
        </p:nvSpPr>
        <p:spPr>
          <a:xfrm>
            <a:off x="9034046" y="3182112"/>
            <a:ext cx="2444435" cy="605699"/>
          </a:xfrm>
          <a:prstGeom prst="rect">
            <a:avLst/>
          </a:prstGeom>
          <a:noFill/>
          <a:ln/>
        </p:spPr>
        <p:txBody>
          <a:bodyPr wrap="square" lIns="0" tIns="0" rIns="0" bIns="0" rtlCol="0" anchor="t"/>
          <a:lstStyle/>
          <a:p>
            <a:pPr indent="0" marL="0">
              <a:lnSpc>
                <a:spcPts val="1350"/>
              </a:lnSpc>
              <a:buNone/>
            </a:pPr>
            <a:r>
              <a:rPr lang="en-US" sz="1200" b="1" dirty="0">
                <a:solidFill>
                  <a:srgbClr val="E5E7EB"/>
                </a:solidFill>
                <a:latin typeface="Space Grotesk" pitchFamily="34" charset="0"/>
                <a:ea typeface="Space Grotesk" pitchFamily="34" charset="-122"/>
                <a:cs typeface="Space Grotesk" pitchFamily="34" charset="-120"/>
              </a:rPr>
              <a:t>More aircraft is the wrong lever</a:t>
            </a:r>
            <a:endParaRPr lang="en-US" sz="1200" dirty="0"/>
          </a:p>
        </p:txBody>
      </p:sp>
      <p:sp>
        <p:nvSpPr>
          <p:cNvPr id="86" name="Text 84"/>
          <p:cNvSpPr/>
          <p:nvPr/>
        </p:nvSpPr>
        <p:spPr>
          <a:xfrm>
            <a:off x="9034046" y="3774643"/>
            <a:ext cx="2444435" cy="724205"/>
          </a:xfrm>
          <a:prstGeom prst="rect">
            <a:avLst/>
          </a:prstGeom>
          <a:noFill/>
          <a:ln/>
        </p:spPr>
        <p:txBody>
          <a:bodyPr wrap="square" lIns="0" tIns="0" rIns="0" bIns="0" rtlCol="0" anchor="t"/>
          <a:lstStyle/>
          <a:p>
            <a:pPr indent="0" marL="0">
              <a:lnSpc>
                <a:spcPts val="1100"/>
              </a:lnSpc>
              <a:buNone/>
            </a:pPr>
            <a:r>
              <a:rPr lang="en-US" sz="900" dirty="0">
                <a:solidFill>
                  <a:srgbClr val="94A3B8"/>
                </a:solidFill>
                <a:latin typeface="IBM Plex Sans" pitchFamily="34" charset="0"/>
                <a:ea typeface="IBM Plex Sans" pitchFamily="34" charset="-122"/>
                <a:cs typeface="IBM Plex Sans" pitchFamily="34" charset="-120"/>
              </a:rPr>
              <a:t>Fleet 7 to 23 moves this toll not at all</a:t>
            </a:r>
            <a:endParaRPr lang="en-US" sz="900" dirty="0"/>
          </a:p>
        </p:txBody>
      </p:sp>
      <p:sp>
        <p:nvSpPr>
          <p:cNvPr id="87" name="Text 85"/>
          <p:cNvSpPr/>
          <p:nvPr/>
        </p:nvSpPr>
        <p:spPr>
          <a:xfrm>
            <a:off x="9034046" y="4498848"/>
            <a:ext cx="2444435" cy="605699"/>
          </a:xfrm>
          <a:prstGeom prst="rect">
            <a:avLst/>
          </a:prstGeom>
          <a:noFill/>
          <a:ln/>
        </p:spPr>
        <p:txBody>
          <a:bodyPr wrap="square" lIns="0" tIns="0" rIns="0" bIns="0" rtlCol="0" anchor="t"/>
          <a:lstStyle/>
          <a:p>
            <a:pPr indent="0" marL="0">
              <a:lnSpc>
                <a:spcPts val="1350"/>
              </a:lnSpc>
              <a:buNone/>
            </a:pPr>
            <a:r>
              <a:rPr lang="en-US" sz="1200" b="1" dirty="0">
                <a:solidFill>
                  <a:srgbClr val="E5E7EB"/>
                </a:solidFill>
                <a:latin typeface="Space Grotesk" pitchFamily="34" charset="0"/>
                <a:ea typeface="Space Grotesk" pitchFamily="34" charset="-122"/>
                <a:cs typeface="Space Grotesk" pitchFamily="34" charset="-120"/>
              </a:rPr>
              <a:t>Move a launch point instead</a:t>
            </a:r>
            <a:endParaRPr lang="en-US" sz="1200" dirty="0"/>
          </a:p>
        </p:txBody>
      </p:sp>
      <p:sp>
        <p:nvSpPr>
          <p:cNvPr id="88" name="Text 86"/>
          <p:cNvSpPr/>
          <p:nvPr/>
        </p:nvSpPr>
        <p:spPr>
          <a:xfrm>
            <a:off x="9034046" y="5091379"/>
            <a:ext cx="2444435" cy="724205"/>
          </a:xfrm>
          <a:prstGeom prst="rect">
            <a:avLst/>
          </a:prstGeom>
          <a:noFill/>
          <a:ln/>
        </p:spPr>
        <p:txBody>
          <a:bodyPr wrap="square" lIns="0" tIns="0" rIns="0" bIns="0" rtlCol="0" anchor="t"/>
          <a:lstStyle/>
          <a:p>
            <a:pPr indent="0" marL="0">
              <a:lnSpc>
                <a:spcPts val="1100"/>
              </a:lnSpc>
              <a:buNone/>
            </a:pPr>
            <a:r>
              <a:rPr lang="en-US" sz="900" dirty="0">
                <a:solidFill>
                  <a:srgbClr val="94A3B8"/>
                </a:solidFill>
                <a:latin typeface="IBM Plex Sans" pitchFamily="34" charset="0"/>
                <a:ea typeface="IBM Plex Sans" pitchFamily="34" charset="-122"/>
                <a:cs typeface="IBM Plex Sans" pitchFamily="34" charset="-120"/>
              </a:rPr>
              <a:t>That is the constraint, and it is the cheaper buy</a:t>
            </a:r>
            <a:endParaRPr lang="en-US" sz="900" dirty="0"/>
          </a:p>
        </p:txBody>
      </p:sp>
      <p:sp>
        <p:nvSpPr>
          <p:cNvPr id="89" name="Shape 87"/>
          <p:cNvSpPr/>
          <p:nvPr/>
        </p:nvSpPr>
        <p:spPr>
          <a:xfrm>
            <a:off x="609585" y="6137910"/>
            <a:ext cx="10972526" cy="0"/>
          </a:xfrm>
          <a:prstGeom prst="line">
            <a:avLst/>
          </a:prstGeom>
          <a:noFill/>
          <a:ln w="12700">
            <a:solidFill>
              <a:srgbClr val="1F2937"/>
            </a:solidFill>
            <a:prstDash val="solid"/>
          </a:ln>
        </p:spPr>
      </p:sp>
      <p:sp>
        <p:nvSpPr>
          <p:cNvPr id="90" name="Text 88"/>
          <p:cNvSpPr/>
          <p:nvPr/>
        </p:nvSpPr>
        <p:spPr>
          <a:xfrm>
            <a:off x="609585" y="6240780"/>
            <a:ext cx="9021854" cy="308610"/>
          </a:xfrm>
          <a:prstGeom prst="rect">
            <a:avLst/>
          </a:prstGeom>
          <a:noFill/>
          <a:ln/>
        </p:spPr>
        <p:txBody>
          <a:bodyPr wrap="square" lIns="0" tIns="0" rIns="0" bIns="0" rtlCol="0" anchor="ctr"/>
          <a:lstStyle/>
          <a:p>
            <a:pPr indent="0" marL="0">
              <a:buNone/>
            </a:pPr>
            <a:r>
              <a:rPr lang="en-US" sz="950" dirty="0">
                <a:solidFill>
                  <a:srgbClr val="94A3B8"/>
                </a:solidFill>
                <a:latin typeface="IBM Plex Mono" pitchFamily="34" charset="0"/>
                <a:ea typeface="IBM Plex Mono" pitchFamily="34" charset="-122"/>
                <a:cs typeface="IBM Plex Mono" pitchFamily="34" charset="-120"/>
              </a:rPr>
              <a:t>One binary  ·  four platforms  ·  offline  ·  loopback only    |    Watch the clock run: soldier hit → deadline predicted → aircraft tasked → payload in hands</a:t>
            </a:r>
            <a:endParaRPr lang="en-US" sz="950" dirty="0"/>
          </a:p>
        </p:txBody>
      </p:sp>
      <p:sp>
        <p:nvSpPr>
          <p:cNvPr id="91" name="Text 89"/>
          <p:cNvSpPr/>
          <p:nvPr/>
        </p:nvSpPr>
        <p:spPr>
          <a:xfrm>
            <a:off x="10362941" y="6240780"/>
            <a:ext cx="1219170" cy="308610"/>
          </a:xfrm>
          <a:prstGeom prst="rect">
            <a:avLst/>
          </a:prstGeom>
          <a:noFill/>
          <a:ln/>
        </p:spPr>
        <p:txBody>
          <a:bodyPr wrap="square" lIns="0" tIns="0" rIns="0" bIns="0" rtlCol="0" anchor="ctr"/>
          <a:lstStyle/>
          <a:p>
            <a:pPr algn="r" indent="0" marL="0">
              <a:buNone/>
            </a:pPr>
            <a:r>
              <a:rPr lang="en-US" sz="950" dirty="0">
                <a:solidFill>
                  <a:srgbClr val="94A3B8"/>
                </a:solidFill>
                <a:latin typeface="IBM Plex Mono" pitchFamily="34" charset="0"/>
                <a:ea typeface="IBM Plex Mono" pitchFamily="34" charset="-122"/>
                <a:cs typeface="IBM Plex Mono" pitchFamily="34" charset="-120"/>
              </a:rPr>
              <a:t>03 / 03</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2026-08-21T11:44:26Z</dcterms:created>
  <dcterms:modified xsi:type="dcterms:W3CDTF">2026-08-21T11:44:26Z</dcterms:modified>
</cp:coreProperties>
</file>