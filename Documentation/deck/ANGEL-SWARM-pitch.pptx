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idea. A wounded soldier’s own physiology tells you how long he has before his body can no longer compensate for the blood he has lost. Nothing between that soldier and the aircraft carrying his blood listens to it. Three facts set the problem: evacuation is three days away, blood resupply fails in two, and the vital sign everyone watches does not move in a third of these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Sense the reserve off the monitor he already wears, over the feed the force already carries. Predict the minutes he has left — and refuse to answer when the signal is bad. Task the aircraft against that deadline. Then prove it: run the same battle twice, once each way, and score it on one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Twenty-three against thirty-four. The only variable is what decides where the aircraft goes. Zero of two hundred replications came out worse. And the honest part, which I would rather you heard from me than found for yourself: buying more aircraft does not fix this — the fleet can triple and the toll does not move. Moving a launch point forward does. Ninety seconds and I will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3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38000"/>
          </a:blip>
          <a:stretch>
            <a:fillRect/>
          </a:stretch>
        </p:blipFill>
        <p:spPr>
          <a:xfrm>
            <a:off x="9098280" y="1170432"/>
            <a:ext cx="2395728" cy="2395728"/>
          </a:xfrm>
          <a:prstGeom prst="rect">
            <a:avLst/>
          </a:prstGeom>
        </p:spPr>
      </p:pic>
      <p:sp>
        <p:nvSpPr>
          <p:cNvPr id="3" name="Text 0"/>
          <p:cNvSpPr/>
          <p:nvPr/>
        </p:nvSpPr>
        <p:spPr>
          <a:xfrm>
            <a:off x="566928" y="475488"/>
            <a:ext cx="11055096" cy="274320"/>
          </a:xfrm>
          <a:prstGeom prst="rect">
            <a:avLst/>
          </a:prstGeom>
          <a:noFill/>
          <a:ln/>
        </p:spPr>
        <p:txBody>
          <a:bodyPr wrap="square" lIns="0" tIns="0" rIns="0" bIns="0" rtlCol="0" anchor="ctr"/>
          <a:lstStyle/>
          <a:p>
            <a:pPr indent="0" marL="0">
              <a:buNone/>
            </a:pPr>
            <a:r>
              <a:rPr lang="en-US" sz="1000" b="1" spc="160" kern="0" dirty="0">
                <a:solidFill>
                  <a:srgbClr val="F0B323"/>
                </a:solidFill>
                <a:latin typeface="Calibri" pitchFamily="34" charset="0"/>
                <a:ea typeface="Calibri" pitchFamily="34" charset="-122"/>
                <a:cs typeface="Calibri" pitchFamily="34" charset="-120"/>
              </a:rPr>
              <a:t>DEFENSE HEALTH AGENCY  •  PACOM  •  CLASS VIII MEDICAL SUSTAINMENT</a:t>
            </a:r>
            <a:endParaRPr lang="en-US" sz="1000" dirty="0"/>
          </a:p>
        </p:txBody>
      </p:sp>
      <p:sp>
        <p:nvSpPr>
          <p:cNvPr id="4" name="Text 1"/>
          <p:cNvSpPr/>
          <p:nvPr/>
        </p:nvSpPr>
        <p:spPr>
          <a:xfrm>
            <a:off x="566928" y="1207008"/>
            <a:ext cx="8412480" cy="932688"/>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ANGEL SWARM</a:t>
            </a:r>
            <a:endParaRPr lang="en-US" sz="4400" dirty="0"/>
          </a:p>
        </p:txBody>
      </p:sp>
      <p:sp>
        <p:nvSpPr>
          <p:cNvPr id="5" name="Text 2"/>
          <p:cNvSpPr/>
          <p:nvPr/>
        </p:nvSpPr>
        <p:spPr>
          <a:xfrm>
            <a:off x="566928" y="2212848"/>
            <a:ext cx="8229600" cy="1005840"/>
          </a:xfrm>
          <a:prstGeom prst="rect">
            <a:avLst/>
          </a:prstGeom>
          <a:noFill/>
          <a:ln/>
        </p:spPr>
        <p:txBody>
          <a:bodyPr wrap="square" lIns="0" tIns="0" rIns="0" bIns="0" rtlCol="0" anchor="t"/>
          <a:lstStyle/>
          <a:p>
            <a:pPr indent="0" marL="0">
              <a:lnSpc>
                <a:spcPts val="3100"/>
              </a:lnSpc>
              <a:buNone/>
            </a:pPr>
            <a:r>
              <a:rPr lang="en-US" sz="2100" b="1" dirty="0">
                <a:solidFill>
                  <a:srgbClr val="FFFFFF"/>
                </a:solidFill>
                <a:latin typeface="Cambria" pitchFamily="34" charset="0"/>
                <a:ea typeface="Cambria" pitchFamily="34" charset="-122"/>
                <a:cs typeface="Cambria" pitchFamily="34" charset="-120"/>
              </a:rPr>
              <a:t>A bleeding soldier’s own body says how long he has.</a:t>
            </a:r>
            <a:endParaRPr lang="en-US" sz="2100" dirty="0"/>
          </a:p>
          <a:p>
            <a:pPr indent="0" marL="0">
              <a:lnSpc>
                <a:spcPts val="3100"/>
              </a:lnSpc>
              <a:buNone/>
            </a:pPr>
            <a:r>
              <a:rPr lang="en-US" sz="2100" b="1" dirty="0">
                <a:solidFill>
                  <a:srgbClr val="F0B323"/>
                </a:solidFill>
                <a:latin typeface="Cambria" pitchFamily="34" charset="0"/>
                <a:ea typeface="Cambria" pitchFamily="34" charset="-122"/>
                <a:cs typeface="Cambria" pitchFamily="34" charset="-120"/>
              </a:rPr>
              <a:t>Nothing in the resupply chain listens to it.</a:t>
            </a:r>
            <a:endParaRPr lang="en-US" sz="2100" dirty="0"/>
          </a:p>
        </p:txBody>
      </p:sp>
      <p:sp>
        <p:nvSpPr>
          <p:cNvPr id="6" name="Shape 3"/>
          <p:cNvSpPr/>
          <p:nvPr/>
        </p:nvSpPr>
        <p:spPr>
          <a:xfrm>
            <a:off x="566928" y="3456432"/>
            <a:ext cx="8229600" cy="0"/>
          </a:xfrm>
          <a:prstGeom prst="line">
            <a:avLst/>
          </a:prstGeom>
          <a:noFill/>
          <a:ln w="12700">
            <a:solidFill>
              <a:srgbClr val="2B3648"/>
            </a:solidFill>
            <a:prstDash val="solid"/>
          </a:ln>
        </p:spPr>
      </p:sp>
      <p:sp>
        <p:nvSpPr>
          <p:cNvPr id="7" name="Text 4"/>
          <p:cNvSpPr/>
          <p:nvPr/>
        </p:nvSpPr>
        <p:spPr>
          <a:xfrm>
            <a:off x="566928" y="3602736"/>
            <a:ext cx="8229600" cy="256032"/>
          </a:xfrm>
          <a:prstGeom prst="rect">
            <a:avLst/>
          </a:prstGeom>
          <a:noFill/>
          <a:ln/>
        </p:spPr>
        <p:txBody>
          <a:bodyPr wrap="square" lIns="0" tIns="0" rIns="0" bIns="0" rtlCol="0" anchor="ctr"/>
          <a:lstStyle/>
          <a:p>
            <a:pPr indent="0" marL="0">
              <a:buNone/>
            </a:pPr>
            <a:r>
              <a:rPr lang="en-US" sz="1050" b="1" spc="120" kern="0" dirty="0">
                <a:solidFill>
                  <a:srgbClr val="9AA6B8"/>
                </a:solidFill>
                <a:latin typeface="Calibri" pitchFamily="34" charset="0"/>
                <a:ea typeface="Calibri" pitchFamily="34" charset="-122"/>
                <a:cs typeface="Calibri" pitchFamily="34" charset="-120"/>
              </a:rPr>
              <a:t>WHY THIS MATTERS NOW</a:t>
            </a:r>
            <a:endParaRPr lang="en-US" sz="1050" dirty="0"/>
          </a:p>
        </p:txBody>
      </p:sp>
      <p:sp>
        <p:nvSpPr>
          <p:cNvPr id="8" name="Text 5"/>
          <p:cNvSpPr/>
          <p:nvPr/>
        </p:nvSpPr>
        <p:spPr>
          <a:xfrm>
            <a:off x="566928" y="3986784"/>
            <a:ext cx="3529584" cy="548640"/>
          </a:xfrm>
          <a:prstGeom prst="rect">
            <a:avLst/>
          </a:prstGeom>
          <a:noFill/>
          <a:ln/>
        </p:spPr>
        <p:txBody>
          <a:bodyPr wrap="square" lIns="0" tIns="0" rIns="0" bIns="0" rtlCol="0" anchor="ctr"/>
          <a:lstStyle/>
          <a:p>
            <a:pPr indent="0" marL="0">
              <a:buNone/>
            </a:pPr>
            <a:r>
              <a:rPr lang="en-US" sz="3100" b="1" dirty="0">
                <a:solidFill>
                  <a:srgbClr val="F0B323"/>
                </a:solidFill>
                <a:latin typeface="Calibri" pitchFamily="34" charset="0"/>
                <a:ea typeface="Calibri" pitchFamily="34" charset="-122"/>
                <a:cs typeface="Calibri" pitchFamily="34" charset="-120"/>
              </a:rPr>
              <a:t>72+ hrs</a:t>
            </a:r>
            <a:endParaRPr lang="en-US" sz="3100" dirty="0"/>
          </a:p>
        </p:txBody>
      </p:sp>
      <p:sp>
        <p:nvSpPr>
          <p:cNvPr id="9" name="Text 6"/>
          <p:cNvSpPr/>
          <p:nvPr/>
        </p:nvSpPr>
        <p:spPr>
          <a:xfrm>
            <a:off x="566928" y="4535424"/>
            <a:ext cx="3529584" cy="2743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to strategic evacuation</a:t>
            </a:r>
            <a:endParaRPr lang="en-US" sz="1150" dirty="0"/>
          </a:p>
        </p:txBody>
      </p:sp>
      <p:sp>
        <p:nvSpPr>
          <p:cNvPr id="10" name="Text 7"/>
          <p:cNvSpPr/>
          <p:nvPr/>
        </p:nvSpPr>
        <p:spPr>
          <a:xfrm>
            <a:off x="566928" y="4846320"/>
            <a:ext cx="3529584" cy="1005840"/>
          </a:xfrm>
          <a:prstGeom prst="rect">
            <a:avLst/>
          </a:prstGeom>
          <a:noFill/>
          <a:ln/>
        </p:spPr>
        <p:txBody>
          <a:bodyPr wrap="square" lIns="0" tIns="0" rIns="0" bIns="0" rtlCol="0" anchor="t"/>
          <a:lstStyle/>
          <a:p>
            <a:pPr indent="0" marL="0">
              <a:lnSpc>
                <a:spcPts val="1400"/>
              </a:lnSpc>
              <a:buNone/>
            </a:pPr>
            <a:r>
              <a:rPr lang="en-US" sz="1050" dirty="0">
                <a:solidFill>
                  <a:srgbClr val="AEBDD2"/>
                </a:solidFill>
                <a:latin typeface="Calibri" pitchFamily="34" charset="0"/>
                <a:ea typeface="Calibri" pitchFamily="34" charset="-122"/>
                <a:cs typeface="Calibri" pitchFamily="34" charset="-120"/>
              </a:rPr>
              <a:t>No organic Role 3 forward in the first island chain. The Golden Hour is not late — it is gone.</a:t>
            </a:r>
            <a:endParaRPr lang="en-US" sz="1050" dirty="0"/>
          </a:p>
        </p:txBody>
      </p:sp>
      <p:sp>
        <p:nvSpPr>
          <p:cNvPr id="11" name="Text 8"/>
          <p:cNvSpPr/>
          <p:nvPr/>
        </p:nvSpPr>
        <p:spPr>
          <a:xfrm>
            <a:off x="4315968" y="3986784"/>
            <a:ext cx="3529584" cy="548640"/>
          </a:xfrm>
          <a:prstGeom prst="rect">
            <a:avLst/>
          </a:prstGeom>
          <a:noFill/>
          <a:ln/>
        </p:spPr>
        <p:txBody>
          <a:bodyPr wrap="square" lIns="0" tIns="0" rIns="0" bIns="0" rtlCol="0" anchor="ctr"/>
          <a:lstStyle/>
          <a:p>
            <a:pPr indent="0" marL="0">
              <a:buNone/>
            </a:pPr>
            <a:r>
              <a:rPr lang="en-US" sz="3100" b="1" dirty="0">
                <a:solidFill>
                  <a:srgbClr val="F0B323"/>
                </a:solidFill>
                <a:latin typeface="Calibri" pitchFamily="34" charset="0"/>
                <a:ea typeface="Calibri" pitchFamily="34" charset="-122"/>
                <a:cs typeface="Calibri" pitchFamily="34" charset="-120"/>
              </a:rPr>
              <a:t>2 days</a:t>
            </a:r>
            <a:endParaRPr lang="en-US" sz="3100" dirty="0"/>
          </a:p>
        </p:txBody>
      </p:sp>
      <p:sp>
        <p:nvSpPr>
          <p:cNvPr id="12" name="Text 9"/>
          <p:cNvSpPr/>
          <p:nvPr/>
        </p:nvSpPr>
        <p:spPr>
          <a:xfrm>
            <a:off x="4315968" y="4535424"/>
            <a:ext cx="3529584" cy="2743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until blood resupply fails</a:t>
            </a:r>
            <a:endParaRPr lang="en-US" sz="1150" dirty="0"/>
          </a:p>
        </p:txBody>
      </p:sp>
      <p:sp>
        <p:nvSpPr>
          <p:cNvPr id="13" name="Text 10"/>
          <p:cNvSpPr/>
          <p:nvPr/>
        </p:nvSpPr>
        <p:spPr>
          <a:xfrm>
            <a:off x="4315968" y="4846320"/>
            <a:ext cx="3529584" cy="1005840"/>
          </a:xfrm>
          <a:prstGeom prst="rect">
            <a:avLst/>
          </a:prstGeom>
          <a:noFill/>
          <a:ln/>
        </p:spPr>
        <p:txBody>
          <a:bodyPr wrap="square" lIns="0" tIns="0" rIns="0" bIns="0" rtlCol="0" anchor="t"/>
          <a:lstStyle/>
          <a:p>
            <a:pPr indent="0" marL="0">
              <a:lnSpc>
                <a:spcPts val="1400"/>
              </a:lnSpc>
              <a:buNone/>
            </a:pPr>
            <a:r>
              <a:rPr lang="en-US" sz="1050" dirty="0">
                <a:solidFill>
                  <a:srgbClr val="AEBDD2"/>
                </a:solidFill>
                <a:latin typeface="Calibri" pitchFamily="34" charset="0"/>
                <a:ea typeface="Calibri" pitchFamily="34" charset="-122"/>
                <a:cs typeface="Calibri" pitchFamily="34" charset="-120"/>
              </a:rPr>
              <a:t>Conventional resupply to a forward surgical team fails in a median of two days above thirty casualties a day.</a:t>
            </a:r>
            <a:endParaRPr lang="en-US" sz="1050" dirty="0"/>
          </a:p>
        </p:txBody>
      </p:sp>
      <p:sp>
        <p:nvSpPr>
          <p:cNvPr id="14" name="Text 11"/>
          <p:cNvSpPr/>
          <p:nvPr/>
        </p:nvSpPr>
        <p:spPr>
          <a:xfrm>
            <a:off x="8065008" y="3986784"/>
            <a:ext cx="3529584" cy="548640"/>
          </a:xfrm>
          <a:prstGeom prst="rect">
            <a:avLst/>
          </a:prstGeom>
          <a:noFill/>
          <a:ln/>
        </p:spPr>
        <p:txBody>
          <a:bodyPr wrap="square" lIns="0" tIns="0" rIns="0" bIns="0" rtlCol="0" anchor="ctr"/>
          <a:lstStyle/>
          <a:p>
            <a:pPr indent="0" marL="0">
              <a:buNone/>
            </a:pPr>
            <a:r>
              <a:rPr lang="en-US" sz="3100" b="1" dirty="0">
                <a:solidFill>
                  <a:srgbClr val="F0B323"/>
                </a:solidFill>
                <a:latin typeface="Calibri" pitchFamily="34" charset="0"/>
                <a:ea typeface="Calibri" pitchFamily="34" charset="-122"/>
                <a:cs typeface="Calibri" pitchFamily="34" charset="-120"/>
              </a:rPr>
              <a:t>35%</a:t>
            </a:r>
            <a:endParaRPr lang="en-US" sz="3100" dirty="0"/>
          </a:p>
        </p:txBody>
      </p:sp>
      <p:sp>
        <p:nvSpPr>
          <p:cNvPr id="15" name="Text 12"/>
          <p:cNvSpPr/>
          <p:nvPr/>
        </p:nvSpPr>
        <p:spPr>
          <a:xfrm>
            <a:off x="8065008" y="4535424"/>
            <a:ext cx="3529584" cy="2743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are not tachycardic</a:t>
            </a:r>
            <a:endParaRPr lang="en-US" sz="1150" dirty="0"/>
          </a:p>
        </p:txBody>
      </p:sp>
      <p:sp>
        <p:nvSpPr>
          <p:cNvPr id="16" name="Text 13"/>
          <p:cNvSpPr/>
          <p:nvPr/>
        </p:nvSpPr>
        <p:spPr>
          <a:xfrm>
            <a:off x="8065008" y="4846320"/>
            <a:ext cx="3529584" cy="1005840"/>
          </a:xfrm>
          <a:prstGeom prst="rect">
            <a:avLst/>
          </a:prstGeom>
          <a:noFill/>
          <a:ln/>
        </p:spPr>
        <p:txBody>
          <a:bodyPr wrap="square" lIns="0" tIns="0" rIns="0" bIns="0" rtlCol="0" anchor="t"/>
          <a:lstStyle/>
          <a:p>
            <a:pPr indent="0" marL="0">
              <a:lnSpc>
                <a:spcPts val="1400"/>
              </a:lnSpc>
              <a:buNone/>
            </a:pPr>
            <a:r>
              <a:rPr lang="en-US" sz="1050" dirty="0">
                <a:solidFill>
                  <a:srgbClr val="AEBDD2"/>
                </a:solidFill>
                <a:latin typeface="Calibri" pitchFamily="34" charset="0"/>
                <a:ea typeface="Calibri" pitchFamily="34" charset="-122"/>
                <a:cs typeface="Calibri" pitchFamily="34" charset="-120"/>
              </a:rPr>
              <a:t>Of hypotensive trauma patients under fifty. He looks fine, and then he is not — all at once.</a:t>
            </a:r>
            <a:endParaRPr lang="en-US" sz="1050" dirty="0"/>
          </a:p>
        </p:txBody>
      </p:sp>
      <p:sp>
        <p:nvSpPr>
          <p:cNvPr id="17" name="Text 14"/>
          <p:cNvSpPr/>
          <p:nvPr/>
        </p:nvSpPr>
        <p:spPr>
          <a:xfrm>
            <a:off x="566928" y="6364224"/>
            <a:ext cx="8778240" cy="274320"/>
          </a:xfrm>
          <a:prstGeom prst="rect">
            <a:avLst/>
          </a:prstGeom>
          <a:noFill/>
          <a:ln/>
        </p:spPr>
        <p:txBody>
          <a:bodyPr wrap="square" lIns="0" tIns="0" rIns="0" bIns="0" rtlCol="0" anchor="ctr"/>
          <a:lstStyle/>
          <a:p>
            <a:pPr indent="0" marL="0">
              <a:buNone/>
            </a:pPr>
            <a:r>
              <a:rPr lang="en-US" sz="900" dirty="0">
                <a:solidFill>
                  <a:srgbClr val="6E7C93"/>
                </a:solidFill>
                <a:latin typeface="Calibri" pitchFamily="34" charset="0"/>
                <a:ea typeface="Calibri" pitchFamily="34" charset="-122"/>
                <a:cs typeface="Calibri" pitchFamily="34" charset="-120"/>
              </a:rPr>
              <a:t>Junayd S. Park   ·   Team DHA RESCUE   ·   NDIA Hackathon 2026</a:t>
            </a:r>
            <a:endParaRPr lang="en-US" sz="900" dirty="0"/>
          </a:p>
        </p:txBody>
      </p:sp>
      <p:sp>
        <p:nvSpPr>
          <p:cNvPr id="18" name="Text 15"/>
          <p:cNvSpPr/>
          <p:nvPr/>
        </p:nvSpPr>
        <p:spPr>
          <a:xfrm>
            <a:off x="10707624" y="6364224"/>
            <a:ext cx="914400" cy="274320"/>
          </a:xfrm>
          <a:prstGeom prst="rect">
            <a:avLst/>
          </a:prstGeom>
          <a:noFill/>
          <a:ln/>
        </p:spPr>
        <p:txBody>
          <a:bodyPr wrap="square" lIns="0" tIns="0" rIns="0" bIns="0" rtlCol="0" anchor="ctr"/>
          <a:lstStyle/>
          <a:p>
            <a:pPr algn="r" indent="0" marL="0">
              <a:buNone/>
            </a:pPr>
            <a:r>
              <a:rPr lang="en-US" sz="900" dirty="0">
                <a:solidFill>
                  <a:srgbClr val="6E7C93"/>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1055096" cy="566928"/>
          </a:xfrm>
          <a:prstGeom prst="rect">
            <a:avLst/>
          </a:prstGeom>
          <a:noFill/>
          <a:ln/>
        </p:spPr>
        <p:txBody>
          <a:bodyPr wrap="square" lIns="0" tIns="0" rIns="0" bIns="0" rtlCol="0" anchor="ctr"/>
          <a:lstStyle/>
          <a:p>
            <a:pPr indent="0" marL="0">
              <a:buNone/>
            </a:pPr>
            <a:r>
              <a:rPr lang="en-US" sz="3300" b="1" dirty="0">
                <a:solidFill>
                  <a:srgbClr val="1B2A4A"/>
                </a:solidFill>
                <a:latin typeface="Cambria" pitchFamily="34" charset="0"/>
                <a:ea typeface="Cambria" pitchFamily="34" charset="-122"/>
                <a:cs typeface="Cambria" pitchFamily="34" charset="-120"/>
              </a:rPr>
              <a:t>What ANGEL SWARM Does</a:t>
            </a:r>
            <a:endParaRPr lang="en-US" sz="3300" dirty="0"/>
          </a:p>
        </p:txBody>
      </p:sp>
      <p:sp>
        <p:nvSpPr>
          <p:cNvPr id="3" name="Text 1"/>
          <p:cNvSpPr/>
          <p:nvPr/>
        </p:nvSpPr>
        <p:spPr>
          <a:xfrm>
            <a:off x="566928" y="950976"/>
            <a:ext cx="11055096" cy="457200"/>
          </a:xfrm>
          <a:prstGeom prst="rect">
            <a:avLst/>
          </a:prstGeom>
          <a:noFill/>
          <a:ln/>
        </p:spPr>
        <p:txBody>
          <a:bodyPr wrap="square" lIns="0" tIns="0" rIns="0" bIns="0" rtlCol="0" anchor="t"/>
          <a:lstStyle/>
          <a:p>
            <a:pPr indent="0" marL="0">
              <a:lnSpc>
                <a:spcPts val="1900"/>
              </a:lnSpc>
              <a:buNone/>
            </a:pPr>
            <a:r>
              <a:rPr lang="en-US" sz="1450" dirty="0">
                <a:solidFill>
                  <a:srgbClr val="5C6E8C"/>
                </a:solidFill>
                <a:latin typeface="Calibri" pitchFamily="34" charset="0"/>
                <a:ea typeface="Calibri" pitchFamily="34" charset="-122"/>
                <a:cs typeface="Calibri" pitchFamily="34" charset="-120"/>
              </a:rPr>
              <a:t>Four steps, one loop. A physiological deadline is estimated for every casualty, and the medical aircraft are tasked against that deadline instead of against a best guess.</a:t>
            </a:r>
            <a:endParaRPr lang="en-US" sz="1450" dirty="0"/>
          </a:p>
        </p:txBody>
      </p:sp>
      <p:sp>
        <p:nvSpPr>
          <p:cNvPr id="4" name="Shape 2"/>
          <p:cNvSpPr/>
          <p:nvPr/>
        </p:nvSpPr>
        <p:spPr>
          <a:xfrm>
            <a:off x="566928" y="1755648"/>
            <a:ext cx="2633472" cy="2212848"/>
          </a:xfrm>
          <a:prstGeom prst="rect">
            <a:avLst/>
          </a:prstGeom>
          <a:solidFill>
            <a:srgbClr val="EEF1F6"/>
          </a:solidFill>
          <a:ln w="12700">
            <a:solidFill>
              <a:srgbClr val="D5DEEB"/>
            </a:solidFill>
            <a:prstDash val="solid"/>
          </a:ln>
        </p:spPr>
      </p:sp>
      <p:sp>
        <p:nvSpPr>
          <p:cNvPr id="5" name="Text 3"/>
          <p:cNvSpPr/>
          <p:nvPr/>
        </p:nvSpPr>
        <p:spPr>
          <a:xfrm>
            <a:off x="768096" y="1883664"/>
            <a:ext cx="457200" cy="292608"/>
          </a:xfrm>
          <a:prstGeom prst="rect">
            <a:avLst/>
          </a:prstGeom>
          <a:noFill/>
          <a:ln/>
        </p:spPr>
        <p:txBody>
          <a:bodyPr wrap="square" lIns="0" tIns="0" rIns="0" bIns="0" rtlCol="0" anchor="ctr"/>
          <a:lstStyle/>
          <a:p>
            <a:pPr indent="0" marL="0">
              <a:buNone/>
            </a:pPr>
            <a:r>
              <a:rPr lang="en-US" sz="1250" b="1" dirty="0">
                <a:solidFill>
                  <a:srgbClr val="2E8B84"/>
                </a:solidFill>
                <a:latin typeface="Calibri" pitchFamily="34" charset="0"/>
                <a:ea typeface="Calibri" pitchFamily="34" charset="-122"/>
                <a:cs typeface="Calibri" pitchFamily="34" charset="-120"/>
              </a:rPr>
              <a:t>01</a:t>
            </a:r>
            <a:endParaRPr lang="en-US" sz="1250" dirty="0"/>
          </a:p>
        </p:txBody>
      </p:sp>
      <p:sp>
        <p:nvSpPr>
          <p:cNvPr id="6" name="Text 4"/>
          <p:cNvSpPr/>
          <p:nvPr/>
        </p:nvSpPr>
        <p:spPr>
          <a:xfrm>
            <a:off x="1170432" y="1883664"/>
            <a:ext cx="1828800" cy="292608"/>
          </a:xfrm>
          <a:prstGeom prst="rect">
            <a:avLst/>
          </a:prstGeom>
          <a:noFill/>
          <a:ln/>
        </p:spPr>
        <p:txBody>
          <a:bodyPr wrap="square" lIns="0" tIns="0" rIns="0" bIns="0" rtlCol="0" anchor="ctr"/>
          <a:lstStyle/>
          <a:p>
            <a:pPr indent="0" marL="0">
              <a:buNone/>
            </a:pPr>
            <a:r>
              <a:rPr lang="en-US" sz="1250" b="1" spc="160" kern="0" dirty="0">
                <a:solidFill>
                  <a:srgbClr val="2E8B84"/>
                </a:solidFill>
                <a:latin typeface="Calibri" pitchFamily="34" charset="0"/>
                <a:ea typeface="Calibri" pitchFamily="34" charset="-122"/>
                <a:cs typeface="Calibri" pitchFamily="34" charset="-120"/>
              </a:rPr>
              <a:t>SENSE</a:t>
            </a:r>
            <a:endParaRPr lang="en-US" sz="1250" dirty="0"/>
          </a:p>
        </p:txBody>
      </p:sp>
      <p:sp>
        <p:nvSpPr>
          <p:cNvPr id="7" name="Text 5"/>
          <p:cNvSpPr/>
          <p:nvPr/>
        </p:nvSpPr>
        <p:spPr>
          <a:xfrm>
            <a:off x="768096" y="2267712"/>
            <a:ext cx="2231136" cy="512064"/>
          </a:xfrm>
          <a:prstGeom prst="rect">
            <a:avLst/>
          </a:prstGeom>
          <a:noFill/>
          <a:ln/>
        </p:spPr>
        <p:txBody>
          <a:bodyPr wrap="square" lIns="0" tIns="0" rIns="0" bIns="0" rtlCol="0" anchor="t"/>
          <a:lstStyle/>
          <a:p>
            <a:pPr indent="0" marL="0">
              <a:lnSpc>
                <a:spcPts val="1800"/>
              </a:lnSpc>
              <a:buNone/>
            </a:pPr>
            <a:r>
              <a:rPr lang="en-US" sz="1400" b="1" dirty="0">
                <a:solidFill>
                  <a:srgbClr val="1B2A4A"/>
                </a:solidFill>
                <a:latin typeface="Cambria" pitchFamily="34" charset="0"/>
                <a:ea typeface="Cambria" pitchFamily="34" charset="-122"/>
                <a:cs typeface="Cambria" pitchFamily="34" charset="-120"/>
              </a:rPr>
              <a:t>The monitor already on him</a:t>
            </a:r>
            <a:endParaRPr lang="en-US" sz="1400" dirty="0"/>
          </a:p>
        </p:txBody>
      </p:sp>
      <p:sp>
        <p:nvSpPr>
          <p:cNvPr id="8" name="Text 6"/>
          <p:cNvSpPr/>
          <p:nvPr/>
        </p:nvSpPr>
        <p:spPr>
          <a:xfrm>
            <a:off x="768096" y="2798064"/>
            <a:ext cx="2231136" cy="1060704"/>
          </a:xfrm>
          <a:prstGeom prst="rect">
            <a:avLst/>
          </a:prstGeom>
          <a:noFill/>
          <a:ln/>
        </p:spPr>
        <p:txBody>
          <a:bodyPr wrap="square" lIns="0" tIns="0" rIns="0" bIns="0" rtlCol="0" anchor="t"/>
          <a:lstStyle/>
          <a:p>
            <a:pPr indent="0" marL="0">
              <a:lnSpc>
                <a:spcPts val="1350"/>
              </a:lnSpc>
              <a:buNone/>
            </a:pPr>
            <a:r>
              <a:rPr lang="en-US" sz="1050" dirty="0">
                <a:solidFill>
                  <a:srgbClr val="46536B"/>
                </a:solidFill>
                <a:latin typeface="Calibri" pitchFamily="34" charset="0"/>
                <a:ea typeface="Calibri" pitchFamily="34" charset="-122"/>
                <a:cs typeface="Calibri" pitchFamily="34" charset="-120"/>
              </a:rPr>
              <a:t>Compensatory reserve off a wearable, carried forward on Cursor on Target — the feed TAK and ATAK already move. No reachback required.</a:t>
            </a:r>
            <a:endParaRPr lang="en-US" sz="1050" dirty="0"/>
          </a:p>
        </p:txBody>
      </p:sp>
      <p:sp>
        <p:nvSpPr>
          <p:cNvPr id="9" name="Shape 7"/>
          <p:cNvSpPr/>
          <p:nvPr/>
        </p:nvSpPr>
        <p:spPr>
          <a:xfrm>
            <a:off x="3342132" y="1755648"/>
            <a:ext cx="2633472" cy="2212848"/>
          </a:xfrm>
          <a:prstGeom prst="rect">
            <a:avLst/>
          </a:prstGeom>
          <a:solidFill>
            <a:srgbClr val="EEF1F6"/>
          </a:solidFill>
          <a:ln w="12700">
            <a:solidFill>
              <a:srgbClr val="D5DEEB"/>
            </a:solidFill>
            <a:prstDash val="solid"/>
          </a:ln>
        </p:spPr>
      </p:sp>
      <p:sp>
        <p:nvSpPr>
          <p:cNvPr id="10" name="Text 8"/>
          <p:cNvSpPr/>
          <p:nvPr/>
        </p:nvSpPr>
        <p:spPr>
          <a:xfrm>
            <a:off x="3543300" y="1883664"/>
            <a:ext cx="457200" cy="292608"/>
          </a:xfrm>
          <a:prstGeom prst="rect">
            <a:avLst/>
          </a:prstGeom>
          <a:noFill/>
          <a:ln/>
        </p:spPr>
        <p:txBody>
          <a:bodyPr wrap="square" lIns="0" tIns="0" rIns="0" bIns="0" rtlCol="0" anchor="ctr"/>
          <a:lstStyle/>
          <a:p>
            <a:pPr indent="0" marL="0">
              <a:buNone/>
            </a:pPr>
            <a:r>
              <a:rPr lang="en-US" sz="1250" b="1" dirty="0">
                <a:solidFill>
                  <a:srgbClr val="C9A227"/>
                </a:solidFill>
                <a:latin typeface="Calibri" pitchFamily="34" charset="0"/>
                <a:ea typeface="Calibri" pitchFamily="34" charset="-122"/>
                <a:cs typeface="Calibri" pitchFamily="34" charset="-120"/>
              </a:rPr>
              <a:t>02</a:t>
            </a:r>
            <a:endParaRPr lang="en-US" sz="1250" dirty="0"/>
          </a:p>
        </p:txBody>
      </p:sp>
      <p:sp>
        <p:nvSpPr>
          <p:cNvPr id="11" name="Text 9"/>
          <p:cNvSpPr/>
          <p:nvPr/>
        </p:nvSpPr>
        <p:spPr>
          <a:xfrm>
            <a:off x="3945636" y="1883664"/>
            <a:ext cx="1828800" cy="292608"/>
          </a:xfrm>
          <a:prstGeom prst="rect">
            <a:avLst/>
          </a:prstGeom>
          <a:noFill/>
          <a:ln/>
        </p:spPr>
        <p:txBody>
          <a:bodyPr wrap="square" lIns="0" tIns="0" rIns="0" bIns="0" rtlCol="0" anchor="ctr"/>
          <a:lstStyle/>
          <a:p>
            <a:pPr indent="0" marL="0">
              <a:buNone/>
            </a:pPr>
            <a:r>
              <a:rPr lang="en-US" sz="1250" b="1" spc="160" kern="0" dirty="0">
                <a:solidFill>
                  <a:srgbClr val="C9A227"/>
                </a:solidFill>
                <a:latin typeface="Calibri" pitchFamily="34" charset="0"/>
                <a:ea typeface="Calibri" pitchFamily="34" charset="-122"/>
                <a:cs typeface="Calibri" pitchFamily="34" charset="-120"/>
              </a:rPr>
              <a:t>PREDICT</a:t>
            </a:r>
            <a:endParaRPr lang="en-US" sz="1250" dirty="0"/>
          </a:p>
        </p:txBody>
      </p:sp>
      <p:sp>
        <p:nvSpPr>
          <p:cNvPr id="12" name="Text 10"/>
          <p:cNvSpPr/>
          <p:nvPr/>
        </p:nvSpPr>
        <p:spPr>
          <a:xfrm>
            <a:off x="3543300" y="2267712"/>
            <a:ext cx="2231136" cy="512064"/>
          </a:xfrm>
          <a:prstGeom prst="rect">
            <a:avLst/>
          </a:prstGeom>
          <a:noFill/>
          <a:ln/>
        </p:spPr>
        <p:txBody>
          <a:bodyPr wrap="square" lIns="0" tIns="0" rIns="0" bIns="0" rtlCol="0" anchor="t"/>
          <a:lstStyle/>
          <a:p>
            <a:pPr indent="0" marL="0">
              <a:lnSpc>
                <a:spcPts val="1800"/>
              </a:lnSpc>
              <a:buNone/>
            </a:pPr>
            <a:r>
              <a:rPr lang="en-US" sz="1400" b="1" dirty="0">
                <a:solidFill>
                  <a:srgbClr val="1B2A4A"/>
                </a:solidFill>
                <a:latin typeface="Cambria" pitchFamily="34" charset="0"/>
                <a:ea typeface="Cambria" pitchFamily="34" charset="-122"/>
                <a:cs typeface="Cambria" pitchFamily="34" charset="-120"/>
              </a:rPr>
              <a:t>Minutes, not a category</a:t>
            </a:r>
            <a:endParaRPr lang="en-US" sz="1400" dirty="0"/>
          </a:p>
        </p:txBody>
      </p:sp>
      <p:sp>
        <p:nvSpPr>
          <p:cNvPr id="13" name="Text 11"/>
          <p:cNvSpPr/>
          <p:nvPr/>
        </p:nvSpPr>
        <p:spPr>
          <a:xfrm>
            <a:off x="3543300" y="2798064"/>
            <a:ext cx="2231136" cy="1060704"/>
          </a:xfrm>
          <a:prstGeom prst="rect">
            <a:avLst/>
          </a:prstGeom>
          <a:noFill/>
          <a:ln/>
        </p:spPr>
        <p:txBody>
          <a:bodyPr wrap="square" lIns="0" tIns="0" rIns="0" bIns="0" rtlCol="0" anchor="t"/>
          <a:lstStyle/>
          <a:p>
            <a:pPr indent="0" marL="0">
              <a:lnSpc>
                <a:spcPts val="1350"/>
              </a:lnSpc>
              <a:buNone/>
            </a:pPr>
            <a:r>
              <a:rPr lang="en-US" sz="1050" dirty="0">
                <a:solidFill>
                  <a:srgbClr val="46536B"/>
                </a:solidFill>
                <a:latin typeface="Calibri" pitchFamily="34" charset="0"/>
                <a:ea typeface="Calibri" pitchFamily="34" charset="-122"/>
                <a:cs typeface="Calibri" pitchFamily="34" charset="-120"/>
              </a:rPr>
              <a:t>A trained network estimates when his body can no longer compensate — and declines to answer when the signal is too poor to trust.</a:t>
            </a:r>
            <a:endParaRPr lang="en-US" sz="1050" dirty="0"/>
          </a:p>
        </p:txBody>
      </p:sp>
      <p:sp>
        <p:nvSpPr>
          <p:cNvPr id="14" name="Shape 12"/>
          <p:cNvSpPr/>
          <p:nvPr/>
        </p:nvSpPr>
        <p:spPr>
          <a:xfrm>
            <a:off x="6117336" y="1755648"/>
            <a:ext cx="2633472" cy="2212848"/>
          </a:xfrm>
          <a:prstGeom prst="rect">
            <a:avLst/>
          </a:prstGeom>
          <a:solidFill>
            <a:srgbClr val="EEF1F6"/>
          </a:solidFill>
          <a:ln w="12700">
            <a:solidFill>
              <a:srgbClr val="D5DEEB"/>
            </a:solidFill>
            <a:prstDash val="solid"/>
          </a:ln>
        </p:spPr>
      </p:sp>
      <p:sp>
        <p:nvSpPr>
          <p:cNvPr id="15" name="Text 13"/>
          <p:cNvSpPr/>
          <p:nvPr/>
        </p:nvSpPr>
        <p:spPr>
          <a:xfrm>
            <a:off x="6318504" y="1883664"/>
            <a:ext cx="457200" cy="292608"/>
          </a:xfrm>
          <a:prstGeom prst="rect">
            <a:avLst/>
          </a:prstGeom>
          <a:noFill/>
          <a:ln/>
        </p:spPr>
        <p:txBody>
          <a:bodyPr wrap="square" lIns="0" tIns="0" rIns="0" bIns="0" rtlCol="0" anchor="ctr"/>
          <a:lstStyle/>
          <a:p>
            <a:pPr indent="0" marL="0">
              <a:buNone/>
            </a:pPr>
            <a:r>
              <a:rPr lang="en-US" sz="1250" b="1" dirty="0">
                <a:solidFill>
                  <a:srgbClr val="2E8B84"/>
                </a:solidFill>
                <a:latin typeface="Calibri" pitchFamily="34" charset="0"/>
                <a:ea typeface="Calibri" pitchFamily="34" charset="-122"/>
                <a:cs typeface="Calibri" pitchFamily="34" charset="-120"/>
              </a:rPr>
              <a:t>03</a:t>
            </a:r>
            <a:endParaRPr lang="en-US" sz="1250" dirty="0"/>
          </a:p>
        </p:txBody>
      </p:sp>
      <p:sp>
        <p:nvSpPr>
          <p:cNvPr id="16" name="Text 14"/>
          <p:cNvSpPr/>
          <p:nvPr/>
        </p:nvSpPr>
        <p:spPr>
          <a:xfrm>
            <a:off x="6720840" y="1883664"/>
            <a:ext cx="1828800" cy="292608"/>
          </a:xfrm>
          <a:prstGeom prst="rect">
            <a:avLst/>
          </a:prstGeom>
          <a:noFill/>
          <a:ln/>
        </p:spPr>
        <p:txBody>
          <a:bodyPr wrap="square" lIns="0" tIns="0" rIns="0" bIns="0" rtlCol="0" anchor="ctr"/>
          <a:lstStyle/>
          <a:p>
            <a:pPr indent="0" marL="0">
              <a:buNone/>
            </a:pPr>
            <a:r>
              <a:rPr lang="en-US" sz="1250" b="1" spc="160" kern="0" dirty="0">
                <a:solidFill>
                  <a:srgbClr val="2E8B84"/>
                </a:solidFill>
                <a:latin typeface="Calibri" pitchFamily="34" charset="0"/>
                <a:ea typeface="Calibri" pitchFamily="34" charset="-122"/>
                <a:cs typeface="Calibri" pitchFamily="34" charset="-120"/>
              </a:rPr>
              <a:t>TASK</a:t>
            </a:r>
            <a:endParaRPr lang="en-US" sz="1250" dirty="0"/>
          </a:p>
        </p:txBody>
      </p:sp>
      <p:sp>
        <p:nvSpPr>
          <p:cNvPr id="17" name="Text 15"/>
          <p:cNvSpPr/>
          <p:nvPr/>
        </p:nvSpPr>
        <p:spPr>
          <a:xfrm>
            <a:off x="6318504" y="2267712"/>
            <a:ext cx="2231136" cy="512064"/>
          </a:xfrm>
          <a:prstGeom prst="rect">
            <a:avLst/>
          </a:prstGeom>
          <a:noFill/>
          <a:ln/>
        </p:spPr>
        <p:txBody>
          <a:bodyPr wrap="square" lIns="0" tIns="0" rIns="0" bIns="0" rtlCol="0" anchor="t"/>
          <a:lstStyle/>
          <a:p>
            <a:pPr indent="0" marL="0">
              <a:lnSpc>
                <a:spcPts val="1800"/>
              </a:lnSpc>
              <a:buNone/>
            </a:pPr>
            <a:r>
              <a:rPr lang="en-US" sz="1400" b="1" dirty="0">
                <a:solidFill>
                  <a:srgbClr val="1B2A4A"/>
                </a:solidFill>
                <a:latin typeface="Cambria" pitchFamily="34" charset="0"/>
                <a:ea typeface="Cambria" pitchFamily="34" charset="-122"/>
                <a:cs typeface="Cambria" pitchFamily="34" charset="-120"/>
              </a:rPr>
              <a:t>The deadline sets the order</a:t>
            </a:r>
            <a:endParaRPr lang="en-US" sz="1400" dirty="0"/>
          </a:p>
        </p:txBody>
      </p:sp>
      <p:sp>
        <p:nvSpPr>
          <p:cNvPr id="18" name="Text 16"/>
          <p:cNvSpPr/>
          <p:nvPr/>
        </p:nvSpPr>
        <p:spPr>
          <a:xfrm>
            <a:off x="6318504" y="2798064"/>
            <a:ext cx="2231136" cy="1060704"/>
          </a:xfrm>
          <a:prstGeom prst="rect">
            <a:avLst/>
          </a:prstGeom>
          <a:noFill/>
          <a:ln/>
        </p:spPr>
        <p:txBody>
          <a:bodyPr wrap="square" lIns="0" tIns="0" rIns="0" bIns="0" rtlCol="0" anchor="t"/>
          <a:lstStyle/>
          <a:p>
            <a:pPr indent="0" marL="0">
              <a:lnSpc>
                <a:spcPts val="1350"/>
              </a:lnSpc>
              <a:buNone/>
            </a:pPr>
            <a:r>
              <a:rPr lang="en-US" sz="1050" dirty="0">
                <a:solidFill>
                  <a:srgbClr val="46536B"/>
                </a:solidFill>
                <a:latin typeface="Calibri" pitchFamily="34" charset="0"/>
                <a:ea typeface="Calibri" pitchFamily="34" charset="-122"/>
                <a:cs typeface="Calibri" pitchFamily="34" charset="-120"/>
              </a:rPr>
              <a:t>Whoever runs out first is served first. Payload matched to the wound, cold chain enforced, a person asked only when the system is not confident.</a:t>
            </a:r>
            <a:endParaRPr lang="en-US" sz="1050" dirty="0"/>
          </a:p>
        </p:txBody>
      </p:sp>
      <p:sp>
        <p:nvSpPr>
          <p:cNvPr id="19" name="Shape 17"/>
          <p:cNvSpPr/>
          <p:nvPr/>
        </p:nvSpPr>
        <p:spPr>
          <a:xfrm>
            <a:off x="8892540" y="1755648"/>
            <a:ext cx="2633472" cy="2212848"/>
          </a:xfrm>
          <a:prstGeom prst="rect">
            <a:avLst/>
          </a:prstGeom>
          <a:solidFill>
            <a:srgbClr val="EEF1F6"/>
          </a:solidFill>
          <a:ln w="12700">
            <a:solidFill>
              <a:srgbClr val="D5DEEB"/>
            </a:solidFill>
            <a:prstDash val="solid"/>
          </a:ln>
        </p:spPr>
      </p:sp>
      <p:sp>
        <p:nvSpPr>
          <p:cNvPr id="20" name="Text 18"/>
          <p:cNvSpPr/>
          <p:nvPr/>
        </p:nvSpPr>
        <p:spPr>
          <a:xfrm>
            <a:off x="9093708" y="1883664"/>
            <a:ext cx="457200" cy="292608"/>
          </a:xfrm>
          <a:prstGeom prst="rect">
            <a:avLst/>
          </a:prstGeom>
          <a:noFill/>
          <a:ln/>
        </p:spPr>
        <p:txBody>
          <a:bodyPr wrap="square" lIns="0" tIns="0" rIns="0" bIns="0" rtlCol="0" anchor="ctr"/>
          <a:lstStyle/>
          <a:p>
            <a:pPr indent="0" marL="0">
              <a:buNone/>
            </a:pPr>
            <a:r>
              <a:rPr lang="en-US" sz="1250" b="1" dirty="0">
                <a:solidFill>
                  <a:srgbClr val="C9A227"/>
                </a:solidFill>
                <a:latin typeface="Calibri" pitchFamily="34" charset="0"/>
                <a:ea typeface="Calibri" pitchFamily="34" charset="-122"/>
                <a:cs typeface="Calibri" pitchFamily="34" charset="-120"/>
              </a:rPr>
              <a:t>04</a:t>
            </a:r>
            <a:endParaRPr lang="en-US" sz="1250" dirty="0"/>
          </a:p>
        </p:txBody>
      </p:sp>
      <p:sp>
        <p:nvSpPr>
          <p:cNvPr id="21" name="Text 19"/>
          <p:cNvSpPr/>
          <p:nvPr/>
        </p:nvSpPr>
        <p:spPr>
          <a:xfrm>
            <a:off x="9496044" y="1883664"/>
            <a:ext cx="1828800" cy="292608"/>
          </a:xfrm>
          <a:prstGeom prst="rect">
            <a:avLst/>
          </a:prstGeom>
          <a:noFill/>
          <a:ln/>
        </p:spPr>
        <p:txBody>
          <a:bodyPr wrap="square" lIns="0" tIns="0" rIns="0" bIns="0" rtlCol="0" anchor="ctr"/>
          <a:lstStyle/>
          <a:p>
            <a:pPr indent="0" marL="0">
              <a:buNone/>
            </a:pPr>
            <a:r>
              <a:rPr lang="en-US" sz="1250" b="1" spc="160" kern="0" dirty="0">
                <a:solidFill>
                  <a:srgbClr val="C9A227"/>
                </a:solidFill>
                <a:latin typeface="Calibri" pitchFamily="34" charset="0"/>
                <a:ea typeface="Calibri" pitchFamily="34" charset="-122"/>
                <a:cs typeface="Calibri" pitchFamily="34" charset="-120"/>
              </a:rPr>
              <a:t>PROVE</a:t>
            </a:r>
            <a:endParaRPr lang="en-US" sz="1250" dirty="0"/>
          </a:p>
        </p:txBody>
      </p:sp>
      <p:sp>
        <p:nvSpPr>
          <p:cNvPr id="22" name="Text 20"/>
          <p:cNvSpPr/>
          <p:nvPr/>
        </p:nvSpPr>
        <p:spPr>
          <a:xfrm>
            <a:off x="9093708" y="2267712"/>
            <a:ext cx="2231136" cy="512064"/>
          </a:xfrm>
          <a:prstGeom prst="rect">
            <a:avLst/>
          </a:prstGeom>
          <a:noFill/>
          <a:ln/>
        </p:spPr>
        <p:txBody>
          <a:bodyPr wrap="square" lIns="0" tIns="0" rIns="0" bIns="0" rtlCol="0" anchor="t"/>
          <a:lstStyle/>
          <a:p>
            <a:pPr indent="0" marL="0">
              <a:lnSpc>
                <a:spcPts val="1800"/>
              </a:lnSpc>
              <a:buNone/>
            </a:pPr>
            <a:r>
              <a:rPr lang="en-US" sz="1400" b="1" dirty="0">
                <a:solidFill>
                  <a:srgbClr val="1B2A4A"/>
                </a:solidFill>
                <a:latin typeface="Cambria" pitchFamily="34" charset="0"/>
                <a:ea typeface="Cambria" pitchFamily="34" charset="-122"/>
                <a:cs typeface="Cambria" pitchFamily="34" charset="-120"/>
              </a:rPr>
              <a:t>The same battle, fought twice</a:t>
            </a:r>
            <a:endParaRPr lang="en-US" sz="1400" dirty="0"/>
          </a:p>
        </p:txBody>
      </p:sp>
      <p:sp>
        <p:nvSpPr>
          <p:cNvPr id="23" name="Text 21"/>
          <p:cNvSpPr/>
          <p:nvPr/>
        </p:nvSpPr>
        <p:spPr>
          <a:xfrm>
            <a:off x="9093708" y="2798064"/>
            <a:ext cx="2231136" cy="1060704"/>
          </a:xfrm>
          <a:prstGeom prst="rect">
            <a:avLst/>
          </a:prstGeom>
          <a:noFill/>
          <a:ln/>
        </p:spPr>
        <p:txBody>
          <a:bodyPr wrap="square" lIns="0" tIns="0" rIns="0" bIns="0" rtlCol="0" anchor="t"/>
          <a:lstStyle/>
          <a:p>
            <a:pPr indent="0" marL="0">
              <a:lnSpc>
                <a:spcPts val="1350"/>
              </a:lnSpc>
              <a:buNone/>
            </a:pPr>
            <a:r>
              <a:rPr lang="en-US" sz="1050" dirty="0">
                <a:solidFill>
                  <a:srgbClr val="46536B"/>
                </a:solidFill>
                <a:latin typeface="Calibri" pitchFamily="34" charset="0"/>
                <a:ea typeface="Calibri" pitchFamily="34" charset="-122"/>
                <a:cs typeface="Calibri" pitchFamily="34" charset="-120"/>
              </a:rPr>
              <a:t>Once tasked this way, once the way it is done today — same casualties, same aircraft, same seed. Scored on one number.</a:t>
            </a:r>
            <a:endParaRPr lang="en-US" sz="1050" dirty="0"/>
          </a:p>
        </p:txBody>
      </p:sp>
      <p:sp>
        <p:nvSpPr>
          <p:cNvPr id="24" name="Text 22"/>
          <p:cNvSpPr/>
          <p:nvPr/>
        </p:nvSpPr>
        <p:spPr>
          <a:xfrm>
            <a:off x="566928" y="4169664"/>
            <a:ext cx="11055096" cy="256032"/>
          </a:xfrm>
          <a:prstGeom prst="rect">
            <a:avLst/>
          </a:prstGeom>
          <a:noFill/>
          <a:ln/>
        </p:spPr>
        <p:txBody>
          <a:bodyPr wrap="square" lIns="0" tIns="0" rIns="0" bIns="0" rtlCol="0" anchor="ctr"/>
          <a:lstStyle/>
          <a:p>
            <a:pPr indent="0" marL="0">
              <a:buNone/>
            </a:pPr>
            <a:r>
              <a:rPr lang="en-US" sz="1050" b="1" spc="120" kern="0" dirty="0">
                <a:solidFill>
                  <a:srgbClr val="5C6E8C"/>
                </a:solidFill>
                <a:latin typeface="Calibri" pitchFamily="34" charset="0"/>
                <a:ea typeface="Calibri" pitchFamily="34" charset="-122"/>
                <a:cs typeface="Calibri" pitchFamily="34" charset="-120"/>
              </a:rPr>
              <a:t>WHAT IS ACTUALLY IN THE BOX</a:t>
            </a:r>
            <a:endParaRPr lang="en-US" sz="1050" dirty="0"/>
          </a:p>
        </p:txBody>
      </p:sp>
      <p:sp>
        <p:nvSpPr>
          <p:cNvPr id="25" name="Text 23"/>
          <p:cNvSpPr/>
          <p:nvPr/>
        </p:nvSpPr>
        <p:spPr>
          <a:xfrm>
            <a:off x="566928" y="4517136"/>
            <a:ext cx="2633472" cy="365760"/>
          </a:xfrm>
          <a:prstGeom prst="rect">
            <a:avLst/>
          </a:prstGeom>
          <a:noFill/>
          <a:ln/>
        </p:spPr>
        <p:txBody>
          <a:bodyPr wrap="square" lIns="0" tIns="0" rIns="0" bIns="0" rtlCol="0" anchor="ctr"/>
          <a:lstStyle/>
          <a:p>
            <a:pPr indent="0" marL="0">
              <a:buNone/>
            </a:pPr>
            <a:r>
              <a:rPr lang="en-US" sz="1700" b="1" dirty="0">
                <a:solidFill>
                  <a:srgbClr val="1B2A4A"/>
                </a:solidFill>
                <a:latin typeface="Calibri" pitchFamily="34" charset="0"/>
                <a:ea typeface="Calibri" pitchFamily="34" charset="-122"/>
                <a:cs typeface="Calibri" pitchFamily="34" charset="-120"/>
              </a:rPr>
              <a:t>CRI-Net</a:t>
            </a:r>
            <a:endParaRPr lang="en-US" sz="1700" dirty="0"/>
          </a:p>
        </p:txBody>
      </p:sp>
      <p:sp>
        <p:nvSpPr>
          <p:cNvPr id="26" name="Text 24"/>
          <p:cNvSpPr/>
          <p:nvPr/>
        </p:nvSpPr>
        <p:spPr>
          <a:xfrm>
            <a:off x="566928" y="4864608"/>
            <a:ext cx="2633472" cy="384048"/>
          </a:xfrm>
          <a:prstGeom prst="rect">
            <a:avLst/>
          </a:prstGeom>
          <a:noFill/>
          <a:ln/>
        </p:spPr>
        <p:txBody>
          <a:bodyPr wrap="square" lIns="0" tIns="0" rIns="0" bIns="0" rtlCol="0" anchor="t"/>
          <a:lstStyle/>
          <a:p>
            <a:pPr indent="0" marL="0">
              <a:lnSpc>
                <a:spcPts val="1300"/>
              </a:lnSpc>
              <a:buNone/>
            </a:pPr>
            <a:r>
              <a:rPr lang="en-US" sz="1050" dirty="0">
                <a:solidFill>
                  <a:srgbClr val="5C6E8C"/>
                </a:solidFill>
                <a:latin typeface="Calibri" pitchFamily="34" charset="0"/>
                <a:ea typeface="Calibri" pitchFamily="34" charset="-122"/>
                <a:cs typeface="Calibri" pitchFamily="34" charset="-120"/>
              </a:rPr>
              <a:t>104,162 parameters, trained from scratch</a:t>
            </a:r>
            <a:endParaRPr lang="en-US" sz="1050" dirty="0"/>
          </a:p>
        </p:txBody>
      </p:sp>
      <p:sp>
        <p:nvSpPr>
          <p:cNvPr id="27" name="Text 25"/>
          <p:cNvSpPr/>
          <p:nvPr/>
        </p:nvSpPr>
        <p:spPr>
          <a:xfrm>
            <a:off x="3342132" y="4517136"/>
            <a:ext cx="2633472" cy="365760"/>
          </a:xfrm>
          <a:prstGeom prst="rect">
            <a:avLst/>
          </a:prstGeom>
          <a:noFill/>
          <a:ln/>
        </p:spPr>
        <p:txBody>
          <a:bodyPr wrap="square" lIns="0" tIns="0" rIns="0" bIns="0" rtlCol="0" anchor="ctr"/>
          <a:lstStyle/>
          <a:p>
            <a:pPr indent="0" marL="0">
              <a:buNone/>
            </a:pPr>
            <a:r>
              <a:rPr lang="en-US" sz="1700" b="1" dirty="0">
                <a:solidFill>
                  <a:srgbClr val="1B2A4A"/>
                </a:solidFill>
                <a:latin typeface="Calibri" pitchFamily="34" charset="0"/>
                <a:ea typeface="Calibri" pitchFamily="34" charset="-122"/>
                <a:cs typeface="Calibri" pitchFamily="34" charset="-120"/>
              </a:rPr>
              <a:t>0.069 vs 0.159</a:t>
            </a:r>
            <a:endParaRPr lang="en-US" sz="1700" dirty="0"/>
          </a:p>
        </p:txBody>
      </p:sp>
      <p:sp>
        <p:nvSpPr>
          <p:cNvPr id="28" name="Text 26"/>
          <p:cNvSpPr/>
          <p:nvPr/>
        </p:nvSpPr>
        <p:spPr>
          <a:xfrm>
            <a:off x="3342132" y="4864608"/>
            <a:ext cx="2633472" cy="384048"/>
          </a:xfrm>
          <a:prstGeom prst="rect">
            <a:avLst/>
          </a:prstGeom>
          <a:noFill/>
          <a:ln/>
        </p:spPr>
        <p:txBody>
          <a:bodyPr wrap="square" lIns="0" tIns="0" rIns="0" bIns="0" rtlCol="0" anchor="t"/>
          <a:lstStyle/>
          <a:p>
            <a:pPr indent="0" marL="0">
              <a:lnSpc>
                <a:spcPts val="1300"/>
              </a:lnSpc>
              <a:buNone/>
            </a:pPr>
            <a:r>
              <a:rPr lang="en-US" sz="1050" dirty="0">
                <a:solidFill>
                  <a:srgbClr val="5C6E8C"/>
                </a:solidFill>
                <a:latin typeface="Calibri" pitchFamily="34" charset="0"/>
                <a:ea typeface="Calibri" pitchFamily="34" charset="-122"/>
                <a:cs typeface="Calibri" pitchFamily="34" charset="-120"/>
              </a:rPr>
              <a:t>estimation error against heart rate alone</a:t>
            </a:r>
            <a:endParaRPr lang="en-US" sz="1050" dirty="0"/>
          </a:p>
        </p:txBody>
      </p:sp>
      <p:sp>
        <p:nvSpPr>
          <p:cNvPr id="29" name="Text 27"/>
          <p:cNvSpPr/>
          <p:nvPr/>
        </p:nvSpPr>
        <p:spPr>
          <a:xfrm>
            <a:off x="6117336" y="4517136"/>
            <a:ext cx="2633472" cy="365760"/>
          </a:xfrm>
          <a:prstGeom prst="rect">
            <a:avLst/>
          </a:prstGeom>
          <a:noFill/>
          <a:ln/>
        </p:spPr>
        <p:txBody>
          <a:bodyPr wrap="square" lIns="0" tIns="0" rIns="0" bIns="0" rtlCol="0" anchor="ctr"/>
          <a:lstStyle/>
          <a:p>
            <a:pPr indent="0" marL="0">
              <a:buNone/>
            </a:pPr>
            <a:r>
              <a:rPr lang="en-US" sz="1700" b="1" dirty="0">
                <a:solidFill>
                  <a:srgbClr val="1B2A4A"/>
                </a:solidFill>
                <a:latin typeface="Calibri" pitchFamily="34" charset="0"/>
                <a:ea typeface="Calibri" pitchFamily="34" charset="-122"/>
                <a:cs typeface="Calibri" pitchFamily="34" charset="-120"/>
              </a:rPr>
              <a:t>125 devices</a:t>
            </a:r>
            <a:endParaRPr lang="en-US" sz="1700" dirty="0"/>
          </a:p>
        </p:txBody>
      </p:sp>
      <p:sp>
        <p:nvSpPr>
          <p:cNvPr id="30" name="Text 28"/>
          <p:cNvSpPr/>
          <p:nvPr/>
        </p:nvSpPr>
        <p:spPr>
          <a:xfrm>
            <a:off x="6117336" y="4864608"/>
            <a:ext cx="2633472" cy="384048"/>
          </a:xfrm>
          <a:prstGeom prst="rect">
            <a:avLst/>
          </a:prstGeom>
          <a:noFill/>
          <a:ln/>
        </p:spPr>
        <p:txBody>
          <a:bodyPr wrap="square" lIns="0" tIns="0" rIns="0" bIns="0" rtlCol="0" anchor="t"/>
          <a:lstStyle/>
          <a:p>
            <a:pPr indent="0" marL="0">
              <a:lnSpc>
                <a:spcPts val="1300"/>
              </a:lnSpc>
              <a:buNone/>
            </a:pPr>
            <a:r>
              <a:rPr lang="en-US" sz="1050" dirty="0">
                <a:solidFill>
                  <a:srgbClr val="5C6E8C"/>
                </a:solidFill>
                <a:latin typeface="Calibri" pitchFamily="34" charset="0"/>
                <a:ea typeface="Calibri" pitchFamily="34" charset="-122"/>
                <a:cs typeface="Calibri" pitchFamily="34" charset="-120"/>
              </a:rPr>
              <a:t>live telemetry, 62 msg/s, none dropped</a:t>
            </a:r>
            <a:endParaRPr lang="en-US" sz="1050" dirty="0"/>
          </a:p>
        </p:txBody>
      </p:sp>
      <p:sp>
        <p:nvSpPr>
          <p:cNvPr id="31" name="Text 29"/>
          <p:cNvSpPr/>
          <p:nvPr/>
        </p:nvSpPr>
        <p:spPr>
          <a:xfrm>
            <a:off x="8892540" y="4517136"/>
            <a:ext cx="2633472" cy="365760"/>
          </a:xfrm>
          <a:prstGeom prst="rect">
            <a:avLst/>
          </a:prstGeom>
          <a:noFill/>
          <a:ln/>
        </p:spPr>
        <p:txBody>
          <a:bodyPr wrap="square" lIns="0" tIns="0" rIns="0" bIns="0" rtlCol="0" anchor="ctr"/>
          <a:lstStyle/>
          <a:p>
            <a:pPr indent="0" marL="0">
              <a:buNone/>
            </a:pPr>
            <a:r>
              <a:rPr lang="en-US" sz="1700" b="1" dirty="0">
                <a:solidFill>
                  <a:srgbClr val="1B2A4A"/>
                </a:solidFill>
                <a:latin typeface="Calibri" pitchFamily="34" charset="0"/>
                <a:ea typeface="Calibri" pitchFamily="34" charset="-122"/>
                <a:cs typeface="Calibri" pitchFamily="34" charset="-120"/>
              </a:rPr>
              <a:t>One binary</a:t>
            </a:r>
            <a:endParaRPr lang="en-US" sz="1700" dirty="0"/>
          </a:p>
        </p:txBody>
      </p:sp>
      <p:sp>
        <p:nvSpPr>
          <p:cNvPr id="32" name="Text 30"/>
          <p:cNvSpPr/>
          <p:nvPr/>
        </p:nvSpPr>
        <p:spPr>
          <a:xfrm>
            <a:off x="8892540" y="4864608"/>
            <a:ext cx="2633472" cy="384048"/>
          </a:xfrm>
          <a:prstGeom prst="rect">
            <a:avLst/>
          </a:prstGeom>
          <a:noFill/>
          <a:ln/>
        </p:spPr>
        <p:txBody>
          <a:bodyPr wrap="square" lIns="0" tIns="0" rIns="0" bIns="0" rtlCol="0" anchor="t"/>
          <a:lstStyle/>
          <a:p>
            <a:pPr indent="0" marL="0">
              <a:lnSpc>
                <a:spcPts val="1300"/>
              </a:lnSpc>
              <a:buNone/>
            </a:pPr>
            <a:r>
              <a:rPr lang="en-US" sz="1050" dirty="0">
                <a:solidFill>
                  <a:srgbClr val="5C6E8C"/>
                </a:solidFill>
                <a:latin typeface="Calibri" pitchFamily="34" charset="0"/>
                <a:ea typeface="Calibri" pitchFamily="34" charset="-122"/>
                <a:cs typeface="Calibri" pitchFamily="34" charset="-120"/>
              </a:rPr>
              <a:t>four platforms, offline, no install</a:t>
            </a:r>
            <a:endParaRPr lang="en-US" sz="1050" dirty="0"/>
          </a:p>
        </p:txBody>
      </p:sp>
      <p:sp>
        <p:nvSpPr>
          <p:cNvPr id="33" name="Shape 31"/>
          <p:cNvSpPr/>
          <p:nvPr/>
        </p:nvSpPr>
        <p:spPr>
          <a:xfrm>
            <a:off x="896112" y="5285232"/>
            <a:ext cx="10396728" cy="749808"/>
          </a:xfrm>
          <a:prstGeom prst="rect">
            <a:avLst/>
          </a:prstGeom>
          <a:solidFill>
            <a:srgbClr val="1B2A4A"/>
          </a:solidFill>
          <a:ln/>
        </p:spPr>
      </p:sp>
      <p:sp>
        <p:nvSpPr>
          <p:cNvPr id="34" name="Text 32"/>
          <p:cNvSpPr/>
          <p:nvPr/>
        </p:nvSpPr>
        <p:spPr>
          <a:xfrm>
            <a:off x="1170432" y="5285232"/>
            <a:ext cx="9848088" cy="749808"/>
          </a:xfrm>
          <a:prstGeom prst="rect">
            <a:avLst/>
          </a:prstGeom>
          <a:noFill/>
          <a:ln/>
        </p:spPr>
        <p:txBody>
          <a:bodyPr wrap="square" lIns="0" tIns="0" rIns="0" bIns="0" rtlCol="0" anchor="ctr"/>
          <a:lstStyle/>
          <a:p>
            <a:pPr indent="0" marL="0">
              <a:lnSpc>
                <a:spcPts val="1700"/>
              </a:lnSpc>
              <a:buNone/>
            </a:pPr>
            <a:r>
              <a:rPr lang="en-US" sz="1350" b="1" dirty="0">
                <a:solidFill>
                  <a:srgbClr val="F0B323"/>
                </a:solidFill>
                <a:latin typeface="Calibri" pitchFamily="34" charset="0"/>
                <a:ea typeface="Calibri" pitchFamily="34" charset="-122"/>
                <a:cs typeface="Calibri" pitchFamily="34" charset="-120"/>
              </a:rPr>
              <a:t>Human in the loop, not in the way.  </a:t>
            </a:r>
            <a:pPr indent="0" marL="0">
              <a:lnSpc>
                <a:spcPts val="1700"/>
              </a:lnSpc>
              <a:buNone/>
            </a:pPr>
            <a:r>
              <a:rPr lang="en-US" sz="1350" dirty="0">
                <a:solidFill>
                  <a:srgbClr val="D5DEEB"/>
                </a:solidFill>
                <a:latin typeface="Calibri" pitchFamily="34" charset="0"/>
                <a:ea typeface="Calibri" pitchFamily="34" charset="-122"/>
                <a:cs typeface="Calibri" pitchFamily="34" charset="-120"/>
              </a:rPr>
              <a:t>A person is asked before a sortie launches whenever the system is not confident. Everything else launches under standing authority — and every decision is written down.</a:t>
            </a:r>
            <a:endParaRPr lang="en-US" sz="1350" dirty="0"/>
          </a:p>
        </p:txBody>
      </p:sp>
      <p:sp>
        <p:nvSpPr>
          <p:cNvPr id="35" name="Shape 33"/>
          <p:cNvSpPr/>
          <p:nvPr/>
        </p:nvSpPr>
        <p:spPr>
          <a:xfrm>
            <a:off x="566928" y="6236208"/>
            <a:ext cx="11055096" cy="0"/>
          </a:xfrm>
          <a:prstGeom prst="line">
            <a:avLst/>
          </a:prstGeom>
          <a:noFill/>
          <a:ln w="12700">
            <a:solidFill>
              <a:srgbClr val="D5DEEB"/>
            </a:solidFill>
            <a:prstDash val="solid"/>
          </a:ln>
        </p:spPr>
      </p:sp>
      <p:sp>
        <p:nvSpPr>
          <p:cNvPr id="36" name="Text 34"/>
          <p:cNvSpPr/>
          <p:nvPr/>
        </p:nvSpPr>
        <p:spPr>
          <a:xfrm>
            <a:off x="566928" y="6364224"/>
            <a:ext cx="8778240" cy="274320"/>
          </a:xfrm>
          <a:prstGeom prst="rect">
            <a:avLst/>
          </a:prstGeom>
          <a:noFill/>
          <a:ln/>
        </p:spPr>
        <p:txBody>
          <a:bodyPr wrap="square" lIns="0" tIns="0" rIns="0" bIns="0" rtlCol="0" anchor="ctr"/>
          <a:lstStyle/>
          <a:p>
            <a:pPr indent="0" marL="0">
              <a:buNone/>
            </a:pPr>
            <a:r>
              <a:rPr lang="en-US" sz="900" dirty="0">
                <a:solidFill>
                  <a:srgbClr val="6E7C93"/>
                </a:solidFill>
                <a:latin typeface="Calibri" pitchFamily="34" charset="0"/>
                <a:ea typeface="Calibri" pitchFamily="34" charset="-122"/>
                <a:cs typeface="Calibri" pitchFamily="34" charset="-120"/>
              </a:rPr>
              <a:t>DHA  ·  Data Sciences &amp; AI  ·  Application Prototyping &amp; Integration   •   ANGEL SWARM  —  NDIA Hackathon 2026</a:t>
            </a:r>
            <a:endParaRPr lang="en-US" sz="900" dirty="0"/>
          </a:p>
        </p:txBody>
      </p:sp>
      <p:sp>
        <p:nvSpPr>
          <p:cNvPr id="37" name="Text 35"/>
          <p:cNvSpPr/>
          <p:nvPr/>
        </p:nvSpPr>
        <p:spPr>
          <a:xfrm>
            <a:off x="10707624" y="6364224"/>
            <a:ext cx="914400" cy="274320"/>
          </a:xfrm>
          <a:prstGeom prst="rect">
            <a:avLst/>
          </a:prstGeom>
          <a:noFill/>
          <a:ln/>
        </p:spPr>
        <p:txBody>
          <a:bodyPr wrap="square" lIns="0" tIns="0" rIns="0" bIns="0" rtlCol="0" anchor="ctr"/>
          <a:lstStyle/>
          <a:p>
            <a:pPr algn="r" indent="0" marL="0">
              <a:buNone/>
            </a:pPr>
            <a:r>
              <a:rPr lang="en-US" sz="900" dirty="0">
                <a:solidFill>
                  <a:srgbClr val="6E7C9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203A"/>
        </a:solidFill>
      </p:bgPr>
    </p:bg>
    <p:spTree>
      <p:nvGrpSpPr>
        <p:cNvPr id="1" name=""/>
        <p:cNvGrpSpPr/>
        <p:nvPr/>
      </p:nvGrpSpPr>
      <p:grpSpPr>
        <a:xfrm>
          <a:off x="0" y="0"/>
          <a:ext cx="0" cy="0"/>
          <a:chOff x="0" y="0"/>
          <a:chExt cx="0" cy="0"/>
        </a:xfrm>
      </p:grpSpPr>
      <p:sp>
        <p:nvSpPr>
          <p:cNvPr id="2" name="Text 0"/>
          <p:cNvSpPr/>
          <p:nvPr/>
        </p:nvSpPr>
        <p:spPr>
          <a:xfrm>
            <a:off x="566928" y="384048"/>
            <a:ext cx="11055096" cy="256032"/>
          </a:xfrm>
          <a:prstGeom prst="rect">
            <a:avLst/>
          </a:prstGeom>
          <a:noFill/>
          <a:ln/>
        </p:spPr>
        <p:txBody>
          <a:bodyPr wrap="square" lIns="0" tIns="0" rIns="0" bIns="0" rtlCol="0" anchor="ctr"/>
          <a:lstStyle/>
          <a:p>
            <a:pPr indent="0" marL="0">
              <a:buNone/>
            </a:pPr>
            <a:r>
              <a:rPr lang="en-US" sz="1050" b="1" spc="160" kern="0" dirty="0">
                <a:solidFill>
                  <a:srgbClr val="F0B323"/>
                </a:solidFill>
                <a:latin typeface="Calibri" pitchFamily="34" charset="0"/>
                <a:ea typeface="Calibri" pitchFamily="34" charset="-122"/>
                <a:cs typeface="Calibri" pitchFamily="34" charset="-120"/>
              </a:rPr>
              <a:t>THE RESULT</a:t>
            </a:r>
            <a:endParaRPr lang="en-US" sz="1050" dirty="0"/>
          </a:p>
        </p:txBody>
      </p:sp>
      <p:sp>
        <p:nvSpPr>
          <p:cNvPr id="3" name="Text 1"/>
          <p:cNvSpPr/>
          <p:nvPr/>
        </p:nvSpPr>
        <p:spPr>
          <a:xfrm>
            <a:off x="566928" y="694944"/>
            <a:ext cx="11055096" cy="64008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Eleven fewer dead of survivable wounds.</a:t>
            </a:r>
            <a:endParaRPr lang="en-US" sz="3100" dirty="0"/>
          </a:p>
        </p:txBody>
      </p:sp>
      <p:sp>
        <p:nvSpPr>
          <p:cNvPr id="4" name="Text 2"/>
          <p:cNvSpPr/>
          <p:nvPr/>
        </p:nvSpPr>
        <p:spPr>
          <a:xfrm>
            <a:off x="566928" y="1371600"/>
            <a:ext cx="10607040" cy="329184"/>
          </a:xfrm>
          <a:prstGeom prst="rect">
            <a:avLst/>
          </a:prstGeom>
          <a:noFill/>
          <a:ln/>
        </p:spPr>
        <p:txBody>
          <a:bodyPr wrap="square" lIns="0" tIns="0" rIns="0" bIns="0" rtlCol="0" anchor="t"/>
          <a:lstStyle/>
          <a:p>
            <a:pPr indent="0" marL="0">
              <a:buNone/>
            </a:pPr>
            <a:r>
              <a:rPr lang="en-US" sz="1300" dirty="0">
                <a:solidFill>
                  <a:srgbClr val="AEBDD2"/>
                </a:solidFill>
                <a:latin typeface="Calibri" pitchFamily="34" charset="0"/>
                <a:ea typeface="Calibri" pitchFamily="34" charset="-122"/>
                <a:cs typeface="Calibri" pitchFamily="34" charset="-120"/>
              </a:rPr>
              <a:t>Same battle · same aircraft · same launch points · same casualties · same seed. The only difference is what decides where the aircraft goes.</a:t>
            </a:r>
            <a:endParaRPr lang="en-US" sz="1300" dirty="0"/>
          </a:p>
        </p:txBody>
      </p:sp>
      <p:sp>
        <p:nvSpPr>
          <p:cNvPr id="5" name="Shape 3"/>
          <p:cNvSpPr/>
          <p:nvPr/>
        </p:nvSpPr>
        <p:spPr>
          <a:xfrm>
            <a:off x="566928" y="1883664"/>
            <a:ext cx="4572000" cy="1755648"/>
          </a:xfrm>
          <a:prstGeom prst="rect">
            <a:avLst/>
          </a:prstGeom>
          <a:solidFill>
            <a:srgbClr val="1B2A4A"/>
          </a:solidFill>
          <a:ln/>
        </p:spPr>
      </p:sp>
      <p:sp>
        <p:nvSpPr>
          <p:cNvPr id="6" name="Text 4"/>
          <p:cNvSpPr/>
          <p:nvPr/>
        </p:nvSpPr>
        <p:spPr>
          <a:xfrm>
            <a:off x="804672" y="2011680"/>
            <a:ext cx="1426464" cy="1133856"/>
          </a:xfrm>
          <a:prstGeom prst="rect">
            <a:avLst/>
          </a:prstGeom>
          <a:noFill/>
          <a:ln/>
        </p:spPr>
        <p:txBody>
          <a:bodyPr wrap="square" lIns="0" tIns="0" rIns="0" bIns="0" rtlCol="0" anchor="ctr"/>
          <a:lstStyle/>
          <a:p>
            <a:pPr algn="r" indent="0" marL="0">
              <a:buNone/>
            </a:pPr>
            <a:r>
              <a:rPr lang="en-US" sz="5000" b="1" dirty="0">
                <a:solidFill>
                  <a:srgbClr val="FFFFFF"/>
                </a:solidFill>
                <a:latin typeface="Calibri" pitchFamily="34" charset="0"/>
                <a:ea typeface="Calibri" pitchFamily="34" charset="-122"/>
                <a:cs typeface="Calibri" pitchFamily="34" charset="-120"/>
              </a:rPr>
              <a:t>23</a:t>
            </a:r>
            <a:endParaRPr lang="en-US" sz="5000" dirty="0"/>
          </a:p>
        </p:txBody>
      </p:sp>
      <p:sp>
        <p:nvSpPr>
          <p:cNvPr id="7" name="Text 5"/>
          <p:cNvSpPr/>
          <p:nvPr/>
        </p:nvSpPr>
        <p:spPr>
          <a:xfrm>
            <a:off x="2286000" y="2011680"/>
            <a:ext cx="384048" cy="1133856"/>
          </a:xfrm>
          <a:prstGeom prst="rect">
            <a:avLst/>
          </a:prstGeom>
          <a:noFill/>
          <a:ln/>
        </p:spPr>
        <p:txBody>
          <a:bodyPr wrap="square" lIns="0" tIns="0" rIns="0" bIns="0" rtlCol="0" anchor="ctr"/>
          <a:lstStyle/>
          <a:p>
            <a:pPr algn="ctr" indent="0" marL="0">
              <a:buNone/>
            </a:pPr>
            <a:r>
              <a:rPr lang="en-US" sz="1500" dirty="0">
                <a:solidFill>
                  <a:srgbClr val="9AA6B8"/>
                </a:solidFill>
                <a:latin typeface="Calibri" pitchFamily="34" charset="0"/>
                <a:ea typeface="Calibri" pitchFamily="34" charset="-122"/>
                <a:cs typeface="Calibri" pitchFamily="34" charset="-120"/>
              </a:rPr>
              <a:t>v</a:t>
            </a:r>
            <a:endParaRPr lang="en-US" sz="1500" dirty="0"/>
          </a:p>
        </p:txBody>
      </p:sp>
      <p:sp>
        <p:nvSpPr>
          <p:cNvPr id="8" name="Text 6"/>
          <p:cNvSpPr/>
          <p:nvPr/>
        </p:nvSpPr>
        <p:spPr>
          <a:xfrm>
            <a:off x="2706624" y="2011680"/>
            <a:ext cx="1426464" cy="1133856"/>
          </a:xfrm>
          <a:prstGeom prst="rect">
            <a:avLst/>
          </a:prstGeom>
          <a:noFill/>
          <a:ln/>
        </p:spPr>
        <p:txBody>
          <a:bodyPr wrap="square" lIns="0" tIns="0" rIns="0" bIns="0" rtlCol="0" anchor="ctr"/>
          <a:lstStyle/>
          <a:p>
            <a:pPr algn="l" indent="0" marL="0">
              <a:buNone/>
            </a:pPr>
            <a:r>
              <a:rPr lang="en-US" sz="5000" b="1" dirty="0">
                <a:solidFill>
                  <a:srgbClr val="F0B323"/>
                </a:solidFill>
                <a:latin typeface="Calibri" pitchFamily="34" charset="0"/>
                <a:ea typeface="Calibri" pitchFamily="34" charset="-122"/>
                <a:cs typeface="Calibri" pitchFamily="34" charset="-120"/>
              </a:rPr>
              <a:t>34</a:t>
            </a:r>
            <a:endParaRPr lang="en-US" sz="5000" dirty="0"/>
          </a:p>
        </p:txBody>
      </p:sp>
      <p:sp>
        <p:nvSpPr>
          <p:cNvPr id="9" name="Text 7"/>
          <p:cNvSpPr/>
          <p:nvPr/>
        </p:nvSpPr>
        <p:spPr>
          <a:xfrm>
            <a:off x="4242816" y="2011680"/>
            <a:ext cx="786384" cy="1133856"/>
          </a:xfrm>
          <a:prstGeom prst="rect">
            <a:avLst/>
          </a:prstGeom>
          <a:noFill/>
          <a:ln/>
        </p:spPr>
        <p:txBody>
          <a:bodyPr wrap="square" lIns="0" tIns="0" rIns="0" bIns="0" rtlCol="0" anchor="ctr"/>
          <a:lstStyle/>
          <a:p>
            <a:pPr indent="0" marL="0">
              <a:lnSpc>
                <a:spcPts val="1100"/>
              </a:lnSpc>
              <a:buNone/>
            </a:pPr>
            <a:r>
              <a:rPr lang="en-US" sz="900" b="1" spc="50" kern="0" dirty="0">
                <a:solidFill>
                  <a:srgbClr val="FFFFFF"/>
                </a:solidFill>
                <a:latin typeface="Calibri" pitchFamily="34" charset="0"/>
                <a:ea typeface="Calibri" pitchFamily="34" charset="-122"/>
                <a:cs typeface="Calibri" pitchFamily="34" charset="-120"/>
              </a:rPr>
              <a:t>ANGEL</a:t>
            </a:r>
            <a:endParaRPr lang="en-US" sz="900" dirty="0"/>
          </a:p>
          <a:p>
            <a:pPr indent="0" marL="0">
              <a:lnSpc>
                <a:spcPts val="1100"/>
              </a:lnSpc>
              <a:buNone/>
            </a:pPr>
            <a:r>
              <a:rPr lang="en-US" sz="900" b="1" spc="50" kern="0" dirty="0">
                <a:solidFill>
                  <a:srgbClr val="FFFFFF"/>
                </a:solidFill>
                <a:latin typeface="Calibri" pitchFamily="34" charset="0"/>
                <a:ea typeface="Calibri" pitchFamily="34" charset="-122"/>
                <a:cs typeface="Calibri" pitchFamily="34" charset="-120"/>
              </a:rPr>
              <a:t>SWARM</a:t>
            </a:r>
            <a:endParaRPr lang="en-US" sz="900" dirty="0"/>
          </a:p>
          <a:p>
            <a:pPr indent="0" marL="0">
              <a:lnSpc>
                <a:spcPts val="1100"/>
              </a:lnSpc>
              <a:buNone/>
            </a:pPr>
            <a:r>
              <a:rPr lang="en-US" sz="900" b="1" spc="50" kern="0" dirty="0">
                <a:solidFill>
                  <a:srgbClr val="F0B323"/>
                </a:solidFill>
                <a:latin typeface="Calibri" pitchFamily="34" charset="0"/>
                <a:ea typeface="Calibri" pitchFamily="34" charset="-122"/>
                <a:cs typeface="Calibri" pitchFamily="34" charset="-120"/>
              </a:rPr>
              <a:t>CLASS VIII</a:t>
            </a:r>
            <a:endParaRPr lang="en-US" sz="900" dirty="0"/>
          </a:p>
          <a:p>
            <a:pPr indent="0" marL="0">
              <a:lnSpc>
                <a:spcPts val="1100"/>
              </a:lnSpc>
              <a:buNone/>
            </a:pPr>
            <a:r>
              <a:rPr lang="en-US" sz="900" b="1" spc="50" kern="0" dirty="0">
                <a:solidFill>
                  <a:srgbClr val="F0B323"/>
                </a:solidFill>
                <a:latin typeface="Calibri" pitchFamily="34" charset="0"/>
                <a:ea typeface="Calibri" pitchFamily="34" charset="-122"/>
                <a:cs typeface="Calibri" pitchFamily="34" charset="-120"/>
              </a:rPr>
              <a:t>PUSH</a:t>
            </a:r>
            <a:endParaRPr lang="en-US" sz="900" dirty="0"/>
          </a:p>
        </p:txBody>
      </p:sp>
      <p:sp>
        <p:nvSpPr>
          <p:cNvPr id="10" name="Text 8"/>
          <p:cNvSpPr/>
          <p:nvPr/>
        </p:nvSpPr>
        <p:spPr>
          <a:xfrm>
            <a:off x="566928" y="3712464"/>
            <a:ext cx="4572000" cy="512064"/>
          </a:xfrm>
          <a:prstGeom prst="rect">
            <a:avLst/>
          </a:prstGeom>
          <a:noFill/>
          <a:ln/>
        </p:spPr>
        <p:txBody>
          <a:bodyPr wrap="square" lIns="0" tIns="0" rIns="0" bIns="0" rtlCol="0" anchor="t"/>
          <a:lstStyle/>
          <a:p>
            <a:pPr indent="0" marL="0">
              <a:lnSpc>
                <a:spcPts val="1350"/>
              </a:lnSpc>
              <a:buNone/>
            </a:pPr>
            <a:r>
              <a:rPr lang="en-US" sz="1050" dirty="0">
                <a:solidFill>
                  <a:srgbClr val="AEBDD2"/>
                </a:solidFill>
                <a:latin typeface="Calibri" pitchFamily="34" charset="0"/>
                <a:ea typeface="Calibri" pitchFamily="34" charset="-122"/>
                <a:cs typeface="Calibri" pitchFamily="34" charset="-120"/>
              </a:rPr>
              <a:t>Dead of survivable wounds in one three-hour fight. Every number is a person. The target is zero.</a:t>
            </a:r>
            <a:endParaRPr lang="en-US" sz="1050" dirty="0"/>
          </a:p>
        </p:txBody>
      </p:sp>
      <p:sp>
        <p:nvSpPr>
          <p:cNvPr id="11" name="Text 9"/>
          <p:cNvSpPr/>
          <p:nvPr/>
        </p:nvSpPr>
        <p:spPr>
          <a:xfrm>
            <a:off x="5358384" y="1883664"/>
            <a:ext cx="2990088" cy="512064"/>
          </a:xfrm>
          <a:prstGeom prst="rect">
            <a:avLst/>
          </a:prstGeom>
          <a:noFill/>
          <a:ln/>
        </p:spPr>
        <p:txBody>
          <a:bodyPr wrap="square" lIns="0" tIns="0" rIns="0" bIns="0" rtlCol="0" anchor="ctr"/>
          <a:lstStyle/>
          <a:p>
            <a:pPr indent="0" marL="0">
              <a:buNone/>
            </a:pPr>
            <a:r>
              <a:rPr lang="en-US" sz="2700" b="1" dirty="0">
                <a:solidFill>
                  <a:srgbClr val="F0B323"/>
                </a:solidFill>
                <a:latin typeface="Calibri" pitchFamily="34" charset="0"/>
                <a:ea typeface="Calibri" pitchFamily="34" charset="-122"/>
                <a:cs typeface="Calibri" pitchFamily="34" charset="-120"/>
              </a:rPr>
              <a:t>0 of 200</a:t>
            </a:r>
            <a:endParaRPr lang="en-US" sz="2700" dirty="0"/>
          </a:p>
        </p:txBody>
      </p:sp>
      <p:sp>
        <p:nvSpPr>
          <p:cNvPr id="12" name="Text 10"/>
          <p:cNvSpPr/>
          <p:nvPr/>
        </p:nvSpPr>
        <p:spPr>
          <a:xfrm>
            <a:off x="5358384" y="2414016"/>
            <a:ext cx="2990088" cy="310896"/>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replications came out worse</a:t>
            </a:r>
            <a:endParaRPr lang="en-US" sz="1100" dirty="0"/>
          </a:p>
        </p:txBody>
      </p:sp>
      <p:sp>
        <p:nvSpPr>
          <p:cNvPr id="13" name="Text 11"/>
          <p:cNvSpPr/>
          <p:nvPr/>
        </p:nvSpPr>
        <p:spPr>
          <a:xfrm>
            <a:off x="5358384" y="2761488"/>
            <a:ext cx="2990088" cy="1371600"/>
          </a:xfrm>
          <a:prstGeom prst="rect">
            <a:avLst/>
          </a:prstGeom>
          <a:noFill/>
          <a:ln/>
        </p:spPr>
        <p:txBody>
          <a:bodyPr wrap="square" lIns="0" tIns="0" rIns="0" bIns="0" rtlCol="0" anchor="t"/>
          <a:lstStyle/>
          <a:p>
            <a:pPr indent="0" marL="0">
              <a:lnSpc>
                <a:spcPts val="1400"/>
              </a:lnSpc>
              <a:buNone/>
            </a:pPr>
            <a:r>
              <a:rPr lang="en-US" sz="1050" dirty="0">
                <a:solidFill>
                  <a:srgbClr val="AEBDD2"/>
                </a:solidFill>
                <a:latin typeface="Calibri" pitchFamily="34" charset="0"/>
                <a:ea typeface="Calibri" pitchFamily="34" charset="-122"/>
                <a:cs typeface="Calibri" pitchFamily="34" charset="-120"/>
              </a:rPr>
              <a:t>Paired trials on fresh seeds with common random numbers. Mean 4.7 fewer dead; interval 4.4 to 5.0.</a:t>
            </a:r>
            <a:endParaRPr lang="en-US" sz="1050" dirty="0"/>
          </a:p>
        </p:txBody>
      </p:sp>
      <p:sp>
        <p:nvSpPr>
          <p:cNvPr id="14" name="Text 12"/>
          <p:cNvSpPr/>
          <p:nvPr/>
        </p:nvSpPr>
        <p:spPr>
          <a:xfrm>
            <a:off x="8631936" y="1883664"/>
            <a:ext cx="2990088" cy="512064"/>
          </a:xfrm>
          <a:prstGeom prst="rect">
            <a:avLst/>
          </a:prstGeom>
          <a:noFill/>
          <a:ln/>
        </p:spPr>
        <p:txBody>
          <a:bodyPr wrap="square" lIns="0" tIns="0" rIns="0" bIns="0" rtlCol="0" anchor="ctr"/>
          <a:lstStyle/>
          <a:p>
            <a:pPr indent="0" marL="0">
              <a:buNone/>
            </a:pPr>
            <a:r>
              <a:rPr lang="en-US" sz="2700" b="1" dirty="0">
                <a:solidFill>
                  <a:srgbClr val="F0B323"/>
                </a:solidFill>
                <a:latin typeface="Calibri" pitchFamily="34" charset="0"/>
                <a:ea typeface="Calibri" pitchFamily="34" charset="-122"/>
                <a:cs typeface="Calibri" pitchFamily="34" charset="-120"/>
              </a:rPr>
              <a:t>7 → 23</a:t>
            </a:r>
            <a:endParaRPr lang="en-US" sz="2700" dirty="0"/>
          </a:p>
        </p:txBody>
      </p:sp>
      <p:sp>
        <p:nvSpPr>
          <p:cNvPr id="15" name="Text 13"/>
          <p:cNvSpPr/>
          <p:nvPr/>
        </p:nvSpPr>
        <p:spPr>
          <a:xfrm>
            <a:off x="8631936" y="2414016"/>
            <a:ext cx="2990088" cy="310896"/>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aircraft changes nothing</a:t>
            </a:r>
            <a:endParaRPr lang="en-US" sz="1100" dirty="0"/>
          </a:p>
        </p:txBody>
      </p:sp>
      <p:sp>
        <p:nvSpPr>
          <p:cNvPr id="16" name="Text 14"/>
          <p:cNvSpPr/>
          <p:nvPr/>
        </p:nvSpPr>
        <p:spPr>
          <a:xfrm>
            <a:off x="8631936" y="2761488"/>
            <a:ext cx="2990088" cy="1371600"/>
          </a:xfrm>
          <a:prstGeom prst="rect">
            <a:avLst/>
          </a:prstGeom>
          <a:noFill/>
          <a:ln/>
        </p:spPr>
        <p:txBody>
          <a:bodyPr wrap="square" lIns="0" tIns="0" rIns="0" bIns="0" rtlCol="0" anchor="t"/>
          <a:lstStyle/>
          <a:p>
            <a:pPr indent="0" marL="0">
              <a:lnSpc>
                <a:spcPts val="1400"/>
              </a:lnSpc>
              <a:buNone/>
            </a:pPr>
            <a:r>
              <a:rPr lang="en-US" sz="1050" dirty="0">
                <a:solidFill>
                  <a:srgbClr val="AEBDD2"/>
                </a:solidFill>
                <a:latin typeface="Calibri" pitchFamily="34" charset="0"/>
                <a:ea typeface="Calibri" pitchFamily="34" charset="-122"/>
                <a:cs typeface="Calibri" pitchFamily="34" charset="-120"/>
              </a:rPr>
              <a:t>Tripling the fleet does not move this toll. Where the launch points sit is the constraint — and it is the cheaper buy.</a:t>
            </a:r>
            <a:endParaRPr lang="en-US" sz="1050" dirty="0"/>
          </a:p>
        </p:txBody>
      </p:sp>
      <p:sp>
        <p:nvSpPr>
          <p:cNvPr id="17" name="Shape 15"/>
          <p:cNvSpPr/>
          <p:nvPr/>
        </p:nvSpPr>
        <p:spPr>
          <a:xfrm>
            <a:off x="566928" y="4443984"/>
            <a:ext cx="11055096" cy="0"/>
          </a:xfrm>
          <a:prstGeom prst="line">
            <a:avLst/>
          </a:prstGeom>
          <a:noFill/>
          <a:ln w="12700">
            <a:solidFill>
              <a:srgbClr val="2B3648"/>
            </a:solidFill>
            <a:prstDash val="solid"/>
          </a:ln>
        </p:spPr>
      </p:sp>
      <p:sp>
        <p:nvSpPr>
          <p:cNvPr id="18" name="Text 16"/>
          <p:cNvSpPr/>
          <p:nvPr/>
        </p:nvSpPr>
        <p:spPr>
          <a:xfrm>
            <a:off x="566928" y="4590288"/>
            <a:ext cx="11055096" cy="256032"/>
          </a:xfrm>
          <a:prstGeom prst="rect">
            <a:avLst/>
          </a:prstGeom>
          <a:noFill/>
          <a:ln/>
        </p:spPr>
        <p:txBody>
          <a:bodyPr wrap="square" lIns="0" tIns="0" rIns="0" bIns="0" rtlCol="0" anchor="ctr"/>
          <a:lstStyle/>
          <a:p>
            <a:pPr indent="0" marL="0">
              <a:buNone/>
            </a:pPr>
            <a:r>
              <a:rPr lang="en-US" sz="1050" b="1" spc="120" kern="0" dirty="0">
                <a:solidFill>
                  <a:srgbClr val="9AA6B8"/>
                </a:solidFill>
                <a:latin typeface="Calibri" pitchFamily="34" charset="0"/>
                <a:ea typeface="Calibri" pitchFamily="34" charset="-122"/>
                <a:cs typeface="Calibri" pitchFamily="34" charset="-120"/>
              </a:rPr>
              <a:t>WHAT I AM ASKING FOR</a:t>
            </a:r>
            <a:endParaRPr lang="en-US" sz="1050" dirty="0"/>
          </a:p>
        </p:txBody>
      </p:sp>
      <p:sp>
        <p:nvSpPr>
          <p:cNvPr id="19" name="Text 17"/>
          <p:cNvSpPr/>
          <p:nvPr/>
        </p:nvSpPr>
        <p:spPr>
          <a:xfrm>
            <a:off x="566928" y="4919472"/>
            <a:ext cx="3529584" cy="329184"/>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Ninety seconds</a:t>
            </a:r>
            <a:endParaRPr lang="en-US" sz="1500" dirty="0"/>
          </a:p>
        </p:txBody>
      </p:sp>
      <p:sp>
        <p:nvSpPr>
          <p:cNvPr id="20" name="Text 18"/>
          <p:cNvSpPr/>
          <p:nvPr/>
        </p:nvSpPr>
        <p:spPr>
          <a:xfrm>
            <a:off x="566928" y="5266944"/>
            <a:ext cx="3529584" cy="731520"/>
          </a:xfrm>
          <a:prstGeom prst="rect">
            <a:avLst/>
          </a:prstGeom>
          <a:noFill/>
          <a:ln/>
        </p:spPr>
        <p:txBody>
          <a:bodyPr wrap="square" lIns="0" tIns="0" rIns="0" bIns="0" rtlCol="0" anchor="t"/>
          <a:lstStyle/>
          <a:p>
            <a:pPr indent="0" marL="0">
              <a:lnSpc>
                <a:spcPts val="1400"/>
              </a:lnSpc>
              <a:buNone/>
            </a:pPr>
            <a:r>
              <a:rPr lang="en-US" sz="1050" dirty="0">
                <a:solidFill>
                  <a:srgbClr val="AEBDD2"/>
                </a:solidFill>
                <a:latin typeface="Calibri" pitchFamily="34" charset="0"/>
                <a:ea typeface="Calibri" pitchFamily="34" charset="-122"/>
                <a:cs typeface="Calibri" pitchFamily="34" charset="-120"/>
              </a:rPr>
              <a:t>to show it running — on this machine, with the network unplugged.</a:t>
            </a:r>
            <a:endParaRPr lang="en-US" sz="1050" dirty="0"/>
          </a:p>
        </p:txBody>
      </p:sp>
      <p:sp>
        <p:nvSpPr>
          <p:cNvPr id="21" name="Text 19"/>
          <p:cNvSpPr/>
          <p:nvPr/>
        </p:nvSpPr>
        <p:spPr>
          <a:xfrm>
            <a:off x="4315968" y="4919472"/>
            <a:ext cx="3529584" cy="329184"/>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One theatre</a:t>
            </a:r>
            <a:endParaRPr lang="en-US" sz="1500" dirty="0"/>
          </a:p>
        </p:txBody>
      </p:sp>
      <p:sp>
        <p:nvSpPr>
          <p:cNvPr id="22" name="Text 20"/>
          <p:cNvSpPr/>
          <p:nvPr/>
        </p:nvSpPr>
        <p:spPr>
          <a:xfrm>
            <a:off x="4315968" y="5266944"/>
            <a:ext cx="3529584" cy="731520"/>
          </a:xfrm>
          <a:prstGeom prst="rect">
            <a:avLst/>
          </a:prstGeom>
          <a:noFill/>
          <a:ln/>
        </p:spPr>
        <p:txBody>
          <a:bodyPr wrap="square" lIns="0" tIns="0" rIns="0" bIns="0" rtlCol="0" anchor="t"/>
          <a:lstStyle/>
          <a:p>
            <a:pPr indent="0" marL="0">
              <a:lnSpc>
                <a:spcPts val="1400"/>
              </a:lnSpc>
              <a:buNone/>
            </a:pPr>
            <a:r>
              <a:rPr lang="en-US" sz="1050" dirty="0">
                <a:solidFill>
                  <a:srgbClr val="AEBDD2"/>
                </a:solidFill>
                <a:latin typeface="Calibri" pitchFamily="34" charset="0"/>
                <a:ea typeface="Calibri" pitchFamily="34" charset="-122"/>
                <a:cs typeface="Calibri" pitchFamily="34" charset="-120"/>
              </a:rPr>
              <a:t>of your choosing. Pick the fight; the answer does not depend on which.</a:t>
            </a:r>
            <a:endParaRPr lang="en-US" sz="1050" dirty="0"/>
          </a:p>
        </p:txBody>
      </p:sp>
      <p:sp>
        <p:nvSpPr>
          <p:cNvPr id="23" name="Text 21"/>
          <p:cNvSpPr/>
          <p:nvPr/>
        </p:nvSpPr>
        <p:spPr>
          <a:xfrm>
            <a:off x="8065008" y="4919472"/>
            <a:ext cx="3529584" cy="329184"/>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One question</a:t>
            </a:r>
            <a:endParaRPr lang="en-US" sz="1500" dirty="0"/>
          </a:p>
        </p:txBody>
      </p:sp>
      <p:sp>
        <p:nvSpPr>
          <p:cNvPr id="24" name="Text 22"/>
          <p:cNvSpPr/>
          <p:nvPr/>
        </p:nvSpPr>
        <p:spPr>
          <a:xfrm>
            <a:off x="8065008" y="5266944"/>
            <a:ext cx="3529584" cy="731520"/>
          </a:xfrm>
          <a:prstGeom prst="rect">
            <a:avLst/>
          </a:prstGeom>
          <a:noFill/>
          <a:ln/>
        </p:spPr>
        <p:txBody>
          <a:bodyPr wrap="square" lIns="0" tIns="0" rIns="0" bIns="0" rtlCol="0" anchor="t"/>
          <a:lstStyle/>
          <a:p>
            <a:pPr indent="0" marL="0">
              <a:lnSpc>
                <a:spcPts val="1400"/>
              </a:lnSpc>
              <a:buNone/>
            </a:pPr>
            <a:r>
              <a:rPr lang="en-US" sz="1050" dirty="0">
                <a:solidFill>
                  <a:srgbClr val="AEBDD2"/>
                </a:solidFill>
                <a:latin typeface="Calibri" pitchFamily="34" charset="0"/>
                <a:ea typeface="Calibri" pitchFamily="34" charset="-122"/>
                <a:cs typeface="Calibri" pitchFamily="34" charset="-120"/>
              </a:rPr>
              <a:t>answered honestly: is a physiological deadline the right thing to task against?</a:t>
            </a:r>
            <a:endParaRPr lang="en-US" sz="1050" dirty="0"/>
          </a:p>
        </p:txBody>
      </p:sp>
      <p:sp>
        <p:nvSpPr>
          <p:cNvPr id="25" name="Shape 23"/>
          <p:cNvSpPr/>
          <p:nvPr/>
        </p:nvSpPr>
        <p:spPr>
          <a:xfrm>
            <a:off x="566928" y="6236208"/>
            <a:ext cx="11055096" cy="0"/>
          </a:xfrm>
          <a:prstGeom prst="line">
            <a:avLst/>
          </a:prstGeom>
          <a:noFill/>
          <a:ln w="12700">
            <a:solidFill>
              <a:srgbClr val="2B3648"/>
            </a:solidFill>
            <a:prstDash val="solid"/>
          </a:ln>
        </p:spPr>
      </p:sp>
      <p:sp>
        <p:nvSpPr>
          <p:cNvPr id="26" name="Text 24"/>
          <p:cNvSpPr/>
          <p:nvPr/>
        </p:nvSpPr>
        <p:spPr>
          <a:xfrm>
            <a:off x="566928" y="6364224"/>
            <a:ext cx="8778240" cy="274320"/>
          </a:xfrm>
          <a:prstGeom prst="rect">
            <a:avLst/>
          </a:prstGeom>
          <a:noFill/>
          <a:ln/>
        </p:spPr>
        <p:txBody>
          <a:bodyPr wrap="square" lIns="0" tIns="0" rIns="0" bIns="0" rtlCol="0" anchor="ctr"/>
          <a:lstStyle/>
          <a:p>
            <a:pPr indent="0" marL="0">
              <a:buNone/>
            </a:pPr>
            <a:r>
              <a:rPr lang="en-US" sz="900" dirty="0">
                <a:solidFill>
                  <a:srgbClr val="6E7C93"/>
                </a:solidFill>
                <a:latin typeface="Calibri" pitchFamily="34" charset="0"/>
                <a:ea typeface="Calibri" pitchFamily="34" charset="-122"/>
                <a:cs typeface="Calibri" pitchFamily="34" charset="-120"/>
              </a:rPr>
              <a:t>DHA  ·  Data Sciences &amp; AI  ·  Application Prototyping &amp; Integration   •   ANGEL SWARM  —  NDIA Hackathon 2026</a:t>
            </a:r>
            <a:endParaRPr lang="en-US" sz="900" dirty="0"/>
          </a:p>
        </p:txBody>
      </p:sp>
      <p:sp>
        <p:nvSpPr>
          <p:cNvPr id="27" name="Text 25"/>
          <p:cNvSpPr/>
          <p:nvPr/>
        </p:nvSpPr>
        <p:spPr>
          <a:xfrm>
            <a:off x="10707624" y="6364224"/>
            <a:ext cx="914400" cy="274320"/>
          </a:xfrm>
          <a:prstGeom prst="rect">
            <a:avLst/>
          </a:prstGeom>
          <a:noFill/>
          <a:ln/>
        </p:spPr>
        <p:txBody>
          <a:bodyPr wrap="square" lIns="0" tIns="0" rIns="0" bIns="0" rtlCol="0" anchor="ctr"/>
          <a:lstStyle/>
          <a:p>
            <a:pPr algn="r" indent="0" marL="0">
              <a:buNone/>
            </a:pPr>
            <a:r>
              <a:rPr lang="en-US" sz="900" dirty="0">
                <a:solidFill>
                  <a:srgbClr val="6E7C9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2026-08-21T11:50:46Z</dcterms:created>
  <dcterms:modified xsi:type="dcterms:W3CDTF">2026-08-21T11:50:46Z</dcterms:modified>
</cp:coreProperties>
</file>